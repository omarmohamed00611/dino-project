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slides/slide10.xml" ContentType="application/vnd.openxmlformats-officedocument.presentationml.slide+xml"/>
  <Override PartName="/ppt/slides/slide11.xml" ContentType="application/vnd.openxmlformats-officedocument.presentationml.slide+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6" r:id="rId17"/>
    <p:sldId id="265" r:id="rId16"/>
    <p:sldId id="262" r:id="rId8"/>
    <p:sldId id="263" r:id="rId9"/>
    <p:sldId id="264" r:id="rId10"/>
  </p:sldIdLst>
  <p:notesMasterIdLst>
    <p:notesMasterId r:id="rId11"/>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notesMaster" Target="notesMasters/notesMaster1.xml"/><Relationship Id="rId12" Type="http://schemas.openxmlformats.org/officeDocument/2006/relationships/presProps" Target="presProps.xml"/><Relationship Id="rId13" Type="http://schemas.openxmlformats.org/officeDocument/2006/relationships/viewProps" Target="viewProps.xml"/><Relationship Id="rId14" Type="http://schemas.openxmlformats.org/officeDocument/2006/relationships/theme" Target="theme/theme1.xml"/><Relationship Id="rId15" Type="http://schemas.openxmlformats.org/officeDocument/2006/relationships/tableStyles" Target="tableStyles.xml"/>  <Relationship Id="rId16" Type="http://schemas.openxmlformats.org/officeDocument/2006/relationships/slide" Target="slides/slide10.xml"/>
  <Relationship Id="rId17" Type="http://schemas.openxmlformats.org/officeDocument/2006/relationships/slide" Target="slides/slide11.xml"/>
</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day everyone. Today I'm presenting our project: a complete recreation of the famous Chrome Dinosaur game, built from scratch on an ATmega32 microcontroller using bare-metal C, with no operating system or external game engine involved.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core objective was never just to program a game — it was a hands-on application of embedded systems engineering. We wrote the microcontroller drivers completely from scratch to control the LCD, read inputs, generate audio signals, and manage timing precisely enough to animate graphics smoothly.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codebase follows a layered architecture to keep it organized and reusable. The MCAL layer programs the DIO registers for direct hardware control. Above it, the HAL layer contains the LCD driver. At the top, the Application layer holds the game logic and physics.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the hardware design, we used a 16x2 LCD. To save microcontroller pins, the display runs in 4-bit mode. One engineering challenge we faced: Port C pins PC2 to PC5 are reserved by default for the JTAG interface on the ATmega32. To avoid any data conflict without modifying the fuse bits, we engineered the connection in software and moved the Enable pin to PC7, which gave the display complete stability.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game runs on an infinite super-loop with a millisecond timer, avoiding blocking delay functions that would freeze the processor. Each cycle the MCU reads the button, updates the obstacle coordinates, and checks for a collision by comparing the dinosaur's coordinates against the obstacle's.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character LCD cannot display images directly, so we used its internal CGRAM to create custom 5x8-pixel characters. The dinosaur was split into two body parts, with two separate leg positions to create a running animation, alongside custom sprites for the cactus and the bird.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add real challenge, we applied an acceleration principle: as the score increases, the interval between obstacle movements shrinks. For realistic physics, we also made the jump timer dynamic — the dinosaur stays airborne for a duration proportional to the obstacle's speed, ensuring it clears the cactus every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a live simulation of the project. As you can see, the acceleration works smoothly, button response is instant thanks to fast polling, and a collision triggers a clean reset of the counters to start a new round.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conclusion, this project was a comprehensive application connecting embedded C concepts with hardware engineering to deliver a complete interactive product. Thank you very much for your time and attention — we're ready to answer any questions or discuss any part of the source code.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jp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41935"/>
        </a:solidFill>
      </p:bgPr>
    </p:bg>
    <p:spTree>
      <p:nvGrpSpPr>
        <p:cNvPr id="1" name=""/>
        <p:cNvGrpSpPr/>
        <p:nvPr/>
      </p:nvGrpSpPr>
      <p:grpSpPr>
        <a:xfrm>
          <a:off x="0" y="0"/>
          <a:ext cx="0" cy="0"/>
          <a:chOff x="0" y="0"/>
          <a:chExt cx="0" cy="0"/>
        </a:xfrm>
      </p:grpSpPr>
      <p:sp>
        <p:nvSpPr>
          <p:cNvPr id="2" name="Shape 0"/>
          <p:cNvSpPr/>
          <p:nvPr/>
        </p:nvSpPr>
        <p:spPr>
          <a:xfrm>
            <a:off x="0" y="1280160"/>
            <a:ext cx="12188952" cy="0"/>
          </a:xfrm>
          <a:prstGeom prst="line">
            <a:avLst/>
          </a:prstGeom>
          <a:noFill/>
          <a:ln w="12700">
            <a:solidFill>
              <a:srgbClr val="1E2761"/>
            </a:solidFill>
            <a:prstDash val="solid"/>
          </a:ln>
        </p:spPr>
      </p:sp>
      <p:sp>
        <p:nvSpPr>
          <p:cNvPr id="3" name="Shape 1"/>
          <p:cNvSpPr/>
          <p:nvPr/>
        </p:nvSpPr>
        <p:spPr>
          <a:xfrm>
            <a:off x="0" y="2743200"/>
            <a:ext cx="12188952" cy="0"/>
          </a:xfrm>
          <a:prstGeom prst="line">
            <a:avLst/>
          </a:prstGeom>
          <a:noFill/>
          <a:ln w="12700">
            <a:solidFill>
              <a:srgbClr val="1E2761"/>
            </a:solidFill>
            <a:prstDash val="solid"/>
          </a:ln>
        </p:spPr>
      </p:sp>
      <p:sp>
        <p:nvSpPr>
          <p:cNvPr id="4" name="Shape 2"/>
          <p:cNvSpPr/>
          <p:nvPr/>
        </p:nvSpPr>
        <p:spPr>
          <a:xfrm>
            <a:off x="0" y="4206240"/>
            <a:ext cx="12188952" cy="0"/>
          </a:xfrm>
          <a:prstGeom prst="line">
            <a:avLst/>
          </a:prstGeom>
          <a:noFill/>
          <a:ln w="12700">
            <a:solidFill>
              <a:srgbClr val="1E2761"/>
            </a:solidFill>
            <a:prstDash val="solid"/>
          </a:ln>
        </p:spPr>
      </p:sp>
      <p:sp>
        <p:nvSpPr>
          <p:cNvPr id="5" name="Shape 3"/>
          <p:cNvSpPr/>
          <p:nvPr/>
        </p:nvSpPr>
        <p:spPr>
          <a:xfrm>
            <a:off x="0" y="5669280"/>
            <a:ext cx="12188952" cy="0"/>
          </a:xfrm>
          <a:prstGeom prst="line">
            <a:avLst/>
          </a:prstGeom>
          <a:noFill/>
          <a:ln w="12700">
            <a:solidFill>
              <a:srgbClr val="1E2761"/>
            </a:solidFill>
            <a:prstDash val="solid"/>
          </a:ln>
        </p:spPr>
      </p:sp>
      <p:sp>
        <p:nvSpPr>
          <p:cNvPr id="6" name="Shape 4"/>
          <p:cNvSpPr/>
          <p:nvPr/>
        </p:nvSpPr>
        <p:spPr>
          <a:xfrm>
            <a:off x="10076688" y="4160520"/>
            <a:ext cx="146304" cy="146304"/>
          </a:xfrm>
          <a:prstGeom prst="rect">
            <a:avLst/>
          </a:prstGeom>
          <a:solidFill>
            <a:srgbClr val="5CE79A"/>
          </a:solidFill>
          <a:ln/>
        </p:spPr>
      </p:sp>
      <p:sp>
        <p:nvSpPr>
          <p:cNvPr id="7" name="Shape 5"/>
          <p:cNvSpPr/>
          <p:nvPr/>
        </p:nvSpPr>
        <p:spPr>
          <a:xfrm>
            <a:off x="10222992" y="4160520"/>
            <a:ext cx="146304" cy="146304"/>
          </a:xfrm>
          <a:prstGeom prst="rect">
            <a:avLst/>
          </a:prstGeom>
          <a:solidFill>
            <a:srgbClr val="5CE79A"/>
          </a:solidFill>
          <a:ln/>
        </p:spPr>
      </p:sp>
      <p:sp>
        <p:nvSpPr>
          <p:cNvPr id="8" name="Shape 6"/>
          <p:cNvSpPr/>
          <p:nvPr/>
        </p:nvSpPr>
        <p:spPr>
          <a:xfrm>
            <a:off x="10076688" y="4306824"/>
            <a:ext cx="146304" cy="146304"/>
          </a:xfrm>
          <a:prstGeom prst="rect">
            <a:avLst/>
          </a:prstGeom>
          <a:solidFill>
            <a:srgbClr val="5CE79A"/>
          </a:solidFill>
          <a:ln/>
        </p:spPr>
      </p:sp>
      <p:sp>
        <p:nvSpPr>
          <p:cNvPr id="9" name="Shape 7"/>
          <p:cNvSpPr/>
          <p:nvPr/>
        </p:nvSpPr>
        <p:spPr>
          <a:xfrm>
            <a:off x="10222992" y="4306824"/>
            <a:ext cx="146304" cy="146304"/>
          </a:xfrm>
          <a:prstGeom prst="rect">
            <a:avLst/>
          </a:prstGeom>
          <a:solidFill>
            <a:srgbClr val="5CE79A"/>
          </a:solidFill>
          <a:ln/>
        </p:spPr>
      </p:sp>
      <p:sp>
        <p:nvSpPr>
          <p:cNvPr id="10" name="Shape 8"/>
          <p:cNvSpPr/>
          <p:nvPr/>
        </p:nvSpPr>
        <p:spPr>
          <a:xfrm>
            <a:off x="10369296" y="4306824"/>
            <a:ext cx="146304" cy="146304"/>
          </a:xfrm>
          <a:prstGeom prst="rect">
            <a:avLst/>
          </a:prstGeom>
          <a:solidFill>
            <a:srgbClr val="5CE79A"/>
          </a:solidFill>
          <a:ln/>
        </p:spPr>
      </p:sp>
      <p:sp>
        <p:nvSpPr>
          <p:cNvPr id="11" name="Shape 9"/>
          <p:cNvSpPr/>
          <p:nvPr/>
        </p:nvSpPr>
        <p:spPr>
          <a:xfrm>
            <a:off x="9930384" y="4453128"/>
            <a:ext cx="146304" cy="146304"/>
          </a:xfrm>
          <a:prstGeom prst="rect">
            <a:avLst/>
          </a:prstGeom>
          <a:solidFill>
            <a:srgbClr val="5CE79A"/>
          </a:solidFill>
          <a:ln/>
        </p:spPr>
      </p:sp>
      <p:sp>
        <p:nvSpPr>
          <p:cNvPr id="12" name="Shape 10"/>
          <p:cNvSpPr/>
          <p:nvPr/>
        </p:nvSpPr>
        <p:spPr>
          <a:xfrm>
            <a:off x="10076688" y="4453128"/>
            <a:ext cx="146304" cy="146304"/>
          </a:xfrm>
          <a:prstGeom prst="rect">
            <a:avLst/>
          </a:prstGeom>
          <a:solidFill>
            <a:srgbClr val="5CE79A"/>
          </a:solidFill>
          <a:ln/>
        </p:spPr>
      </p:sp>
      <p:sp>
        <p:nvSpPr>
          <p:cNvPr id="13" name="Shape 11"/>
          <p:cNvSpPr/>
          <p:nvPr/>
        </p:nvSpPr>
        <p:spPr>
          <a:xfrm>
            <a:off x="10222992" y="4453128"/>
            <a:ext cx="146304" cy="146304"/>
          </a:xfrm>
          <a:prstGeom prst="rect">
            <a:avLst/>
          </a:prstGeom>
          <a:solidFill>
            <a:srgbClr val="5CE79A"/>
          </a:solidFill>
          <a:ln/>
        </p:spPr>
      </p:sp>
      <p:sp>
        <p:nvSpPr>
          <p:cNvPr id="14" name="Shape 12"/>
          <p:cNvSpPr/>
          <p:nvPr/>
        </p:nvSpPr>
        <p:spPr>
          <a:xfrm>
            <a:off x="10369296" y="4453128"/>
            <a:ext cx="146304" cy="146304"/>
          </a:xfrm>
          <a:prstGeom prst="rect">
            <a:avLst/>
          </a:prstGeom>
          <a:solidFill>
            <a:srgbClr val="5CE79A"/>
          </a:solidFill>
          <a:ln/>
        </p:spPr>
      </p:sp>
      <p:sp>
        <p:nvSpPr>
          <p:cNvPr id="15" name="Shape 13"/>
          <p:cNvSpPr/>
          <p:nvPr/>
        </p:nvSpPr>
        <p:spPr>
          <a:xfrm>
            <a:off x="9930384" y="4599432"/>
            <a:ext cx="146304" cy="146304"/>
          </a:xfrm>
          <a:prstGeom prst="rect">
            <a:avLst/>
          </a:prstGeom>
          <a:solidFill>
            <a:srgbClr val="5CE79A"/>
          </a:solidFill>
          <a:ln/>
        </p:spPr>
      </p:sp>
      <p:sp>
        <p:nvSpPr>
          <p:cNvPr id="16" name="Shape 14"/>
          <p:cNvSpPr/>
          <p:nvPr/>
        </p:nvSpPr>
        <p:spPr>
          <a:xfrm>
            <a:off x="10076688" y="4599432"/>
            <a:ext cx="146304" cy="146304"/>
          </a:xfrm>
          <a:prstGeom prst="rect">
            <a:avLst/>
          </a:prstGeom>
          <a:solidFill>
            <a:srgbClr val="5CE79A"/>
          </a:solidFill>
          <a:ln/>
        </p:spPr>
      </p:sp>
      <p:sp>
        <p:nvSpPr>
          <p:cNvPr id="17" name="Shape 15"/>
          <p:cNvSpPr/>
          <p:nvPr/>
        </p:nvSpPr>
        <p:spPr>
          <a:xfrm>
            <a:off x="10222992" y="4599432"/>
            <a:ext cx="146304" cy="146304"/>
          </a:xfrm>
          <a:prstGeom prst="rect">
            <a:avLst/>
          </a:prstGeom>
          <a:solidFill>
            <a:srgbClr val="5CE79A"/>
          </a:solidFill>
          <a:ln/>
        </p:spPr>
      </p:sp>
      <p:sp>
        <p:nvSpPr>
          <p:cNvPr id="18" name="Shape 16"/>
          <p:cNvSpPr/>
          <p:nvPr/>
        </p:nvSpPr>
        <p:spPr>
          <a:xfrm>
            <a:off x="10369296" y="4599432"/>
            <a:ext cx="146304" cy="146304"/>
          </a:xfrm>
          <a:prstGeom prst="rect">
            <a:avLst/>
          </a:prstGeom>
          <a:solidFill>
            <a:srgbClr val="5CE79A"/>
          </a:solidFill>
          <a:ln/>
        </p:spPr>
      </p:sp>
      <p:sp>
        <p:nvSpPr>
          <p:cNvPr id="19" name="Shape 17"/>
          <p:cNvSpPr/>
          <p:nvPr/>
        </p:nvSpPr>
        <p:spPr>
          <a:xfrm>
            <a:off x="10515600" y="4599432"/>
            <a:ext cx="146304" cy="146304"/>
          </a:xfrm>
          <a:prstGeom prst="rect">
            <a:avLst/>
          </a:prstGeom>
          <a:solidFill>
            <a:srgbClr val="5CE79A"/>
          </a:solidFill>
          <a:ln/>
        </p:spPr>
      </p:sp>
      <p:sp>
        <p:nvSpPr>
          <p:cNvPr id="20" name="Shape 18"/>
          <p:cNvSpPr/>
          <p:nvPr/>
        </p:nvSpPr>
        <p:spPr>
          <a:xfrm>
            <a:off x="9784080" y="4745736"/>
            <a:ext cx="146304" cy="146304"/>
          </a:xfrm>
          <a:prstGeom prst="rect">
            <a:avLst/>
          </a:prstGeom>
          <a:solidFill>
            <a:srgbClr val="5CE79A"/>
          </a:solidFill>
          <a:ln/>
        </p:spPr>
      </p:sp>
      <p:sp>
        <p:nvSpPr>
          <p:cNvPr id="21" name="Shape 19"/>
          <p:cNvSpPr/>
          <p:nvPr/>
        </p:nvSpPr>
        <p:spPr>
          <a:xfrm>
            <a:off x="9930384" y="4745736"/>
            <a:ext cx="146304" cy="146304"/>
          </a:xfrm>
          <a:prstGeom prst="rect">
            <a:avLst/>
          </a:prstGeom>
          <a:solidFill>
            <a:srgbClr val="5CE79A"/>
          </a:solidFill>
          <a:ln/>
        </p:spPr>
      </p:sp>
      <p:sp>
        <p:nvSpPr>
          <p:cNvPr id="22" name="Shape 20"/>
          <p:cNvSpPr/>
          <p:nvPr/>
        </p:nvSpPr>
        <p:spPr>
          <a:xfrm>
            <a:off x="10076688" y="4745736"/>
            <a:ext cx="146304" cy="146304"/>
          </a:xfrm>
          <a:prstGeom prst="rect">
            <a:avLst/>
          </a:prstGeom>
          <a:solidFill>
            <a:srgbClr val="5CE79A"/>
          </a:solidFill>
          <a:ln/>
        </p:spPr>
      </p:sp>
      <p:sp>
        <p:nvSpPr>
          <p:cNvPr id="23" name="Shape 21"/>
          <p:cNvSpPr/>
          <p:nvPr/>
        </p:nvSpPr>
        <p:spPr>
          <a:xfrm>
            <a:off x="10222992" y="4745736"/>
            <a:ext cx="146304" cy="146304"/>
          </a:xfrm>
          <a:prstGeom prst="rect">
            <a:avLst/>
          </a:prstGeom>
          <a:solidFill>
            <a:srgbClr val="5CE79A"/>
          </a:solidFill>
          <a:ln/>
        </p:spPr>
      </p:sp>
      <p:sp>
        <p:nvSpPr>
          <p:cNvPr id="24" name="Shape 22"/>
          <p:cNvSpPr/>
          <p:nvPr/>
        </p:nvSpPr>
        <p:spPr>
          <a:xfrm>
            <a:off x="10369296" y="4745736"/>
            <a:ext cx="146304" cy="146304"/>
          </a:xfrm>
          <a:prstGeom prst="rect">
            <a:avLst/>
          </a:prstGeom>
          <a:solidFill>
            <a:srgbClr val="5CE79A"/>
          </a:solidFill>
          <a:ln/>
        </p:spPr>
      </p:sp>
      <p:sp>
        <p:nvSpPr>
          <p:cNvPr id="25" name="Shape 23"/>
          <p:cNvSpPr/>
          <p:nvPr/>
        </p:nvSpPr>
        <p:spPr>
          <a:xfrm>
            <a:off x="9930384" y="4892040"/>
            <a:ext cx="146304" cy="146304"/>
          </a:xfrm>
          <a:prstGeom prst="rect">
            <a:avLst/>
          </a:prstGeom>
          <a:solidFill>
            <a:srgbClr val="5CE79A"/>
          </a:solidFill>
          <a:ln/>
        </p:spPr>
      </p:sp>
      <p:sp>
        <p:nvSpPr>
          <p:cNvPr id="26" name="Shape 24"/>
          <p:cNvSpPr/>
          <p:nvPr/>
        </p:nvSpPr>
        <p:spPr>
          <a:xfrm>
            <a:off x="10076688" y="4892040"/>
            <a:ext cx="146304" cy="146304"/>
          </a:xfrm>
          <a:prstGeom prst="rect">
            <a:avLst/>
          </a:prstGeom>
          <a:solidFill>
            <a:srgbClr val="5CE79A"/>
          </a:solidFill>
          <a:ln/>
        </p:spPr>
      </p:sp>
      <p:sp>
        <p:nvSpPr>
          <p:cNvPr id="27" name="Shape 25"/>
          <p:cNvSpPr/>
          <p:nvPr/>
        </p:nvSpPr>
        <p:spPr>
          <a:xfrm>
            <a:off x="10222992" y="4892040"/>
            <a:ext cx="146304" cy="146304"/>
          </a:xfrm>
          <a:prstGeom prst="rect">
            <a:avLst/>
          </a:prstGeom>
          <a:solidFill>
            <a:srgbClr val="5CE79A"/>
          </a:solidFill>
          <a:ln/>
        </p:spPr>
      </p:sp>
      <p:sp>
        <p:nvSpPr>
          <p:cNvPr id="28" name="Shape 26"/>
          <p:cNvSpPr/>
          <p:nvPr/>
        </p:nvSpPr>
        <p:spPr>
          <a:xfrm>
            <a:off x="9930384" y="5038344"/>
            <a:ext cx="146304" cy="146304"/>
          </a:xfrm>
          <a:prstGeom prst="rect">
            <a:avLst/>
          </a:prstGeom>
          <a:solidFill>
            <a:srgbClr val="5CE79A"/>
          </a:solidFill>
          <a:ln/>
        </p:spPr>
      </p:sp>
      <p:sp>
        <p:nvSpPr>
          <p:cNvPr id="29" name="Shape 27"/>
          <p:cNvSpPr/>
          <p:nvPr/>
        </p:nvSpPr>
        <p:spPr>
          <a:xfrm>
            <a:off x="10222992" y="5038344"/>
            <a:ext cx="146304" cy="146304"/>
          </a:xfrm>
          <a:prstGeom prst="rect">
            <a:avLst/>
          </a:prstGeom>
          <a:solidFill>
            <a:srgbClr val="5CE79A"/>
          </a:solidFill>
          <a:ln/>
        </p:spPr>
      </p:sp>
      <p:sp>
        <p:nvSpPr>
          <p:cNvPr id="30" name="Text 28"/>
          <p:cNvSpPr/>
          <p:nvPr/>
        </p:nvSpPr>
        <p:spPr>
          <a:xfrm>
            <a:off x="822960" y="1554480"/>
            <a:ext cx="7315200" cy="365760"/>
          </a:xfrm>
          <a:prstGeom prst="rect">
            <a:avLst/>
          </a:prstGeom>
          <a:noFill/>
          <a:ln/>
        </p:spPr>
        <p:txBody>
          <a:bodyPr wrap="square" lIns="0" tIns="0" rIns="0" bIns="0" rtlCol="0" anchor="ctr"/>
          <a:lstStyle/>
          <a:p>
            <a:pPr indent="0" marL="0">
              <a:buNone/>
            </a:pPr>
            <a:r>
              <a:rPr lang="en-US" sz="1400" b="1" spc="300" kern="0" dirty="0">
                <a:solidFill>
                  <a:srgbClr val="5CE79A"/>
                </a:solidFill>
                <a:latin typeface="Calibri" pitchFamily="34" charset="0"/>
                <a:ea typeface="Calibri" pitchFamily="34" charset="-122"/>
                <a:cs typeface="Calibri" pitchFamily="34" charset="-120"/>
              </a:rPr>
              <a:t>EMBEDDED SYSTEMS PROJECT</a:t>
            </a:r>
            <a:endParaRPr lang="en-US" sz="1400" dirty="0"/>
          </a:p>
        </p:txBody>
      </p:sp>
      <p:sp>
        <p:nvSpPr>
          <p:cNvPr id="31" name="Text 29"/>
          <p:cNvSpPr/>
          <p:nvPr/>
        </p:nvSpPr>
        <p:spPr>
          <a:xfrm>
            <a:off x="822960" y="1965960"/>
            <a:ext cx="8961120" cy="1828800"/>
          </a:xfrm>
          <a:prstGeom prst="rect">
            <a:avLst/>
          </a:prstGeom>
          <a:noFill/>
          <a:ln/>
        </p:spPr>
        <p:txBody>
          <a:bodyPr wrap="square" lIns="0" tIns="0" rIns="0" bIns="0" rtlCol="0" anchor="ctr"/>
          <a:lstStyle/>
          <a:p>
            <a:pPr indent="0" marL="0">
              <a:lnSpc>
                <a:spcPct val="105000"/>
              </a:lnSpc>
              <a:buNone/>
            </a:pPr>
            <a:r>
              <a:rPr lang="en-US" sz="4400" b="1" dirty="0">
                <a:solidFill>
                  <a:srgbClr val="FFFFFF"/>
                </a:solidFill>
                <a:latin typeface="Cambria" pitchFamily="34" charset="0"/>
                <a:ea typeface="Cambria" pitchFamily="34" charset="-122"/>
                <a:cs typeface="Cambria" pitchFamily="34" charset="-120"/>
              </a:rPr>
              <a:t>Chrome Dinosaur Game</a:t>
            </a:r>
            <a:endParaRPr lang="en-US" sz="4400" dirty="0"/>
          </a:p>
          <a:p>
            <a:pPr indent="0" marL="0">
              <a:lnSpc>
                <a:spcPct val="105000"/>
              </a:lnSpc>
              <a:buNone/>
            </a:pPr>
            <a:r>
              <a:rPr lang="en-US" sz="4400" b="1" dirty="0">
                <a:solidFill>
                  <a:srgbClr val="FFFFFF"/>
                </a:solidFill>
                <a:latin typeface="Cambria" pitchFamily="34" charset="0"/>
                <a:ea typeface="Cambria" pitchFamily="34" charset="-122"/>
                <a:cs typeface="Cambria" pitchFamily="34" charset="-120"/>
              </a:rPr>
              <a:t>on ATmega32</a:t>
            </a:r>
            <a:endParaRPr lang="en-US" sz="4400" dirty="0"/>
          </a:p>
        </p:txBody>
      </p:sp>
      <p:sp>
        <p:nvSpPr>
          <p:cNvPr id="32" name="Text 30"/>
          <p:cNvSpPr/>
          <p:nvPr/>
        </p:nvSpPr>
        <p:spPr>
          <a:xfrm>
            <a:off x="822960" y="3703320"/>
            <a:ext cx="8229600" cy="457200"/>
          </a:xfrm>
          <a:prstGeom prst="rect">
            <a:avLst/>
          </a:prstGeom>
          <a:noFill/>
          <a:ln/>
        </p:spPr>
        <p:txBody>
          <a:bodyPr wrap="square" lIns="0" tIns="0" rIns="0" bIns="0" rtlCol="0" anchor="ctr"/>
          <a:lstStyle/>
          <a:p>
            <a:pPr indent="0" marL="0">
              <a:buNone/>
            </a:pPr>
            <a:r>
              <a:rPr lang="en-US" sz="1800" i="1" dirty="0">
                <a:solidFill>
                  <a:srgbClr val="EAF0FF"/>
                </a:solidFill>
                <a:latin typeface="Calibri" pitchFamily="34" charset="0"/>
                <a:ea typeface="Calibri" pitchFamily="34" charset="-122"/>
                <a:cs typeface="Calibri" pitchFamily="34" charset="-120"/>
              </a:rPr>
              <a:t>Bare-Metal Programming &amp; Custom Driver Development</a:t>
            </a:r>
            <a:endParaRPr lang="en-US" sz="1800" dirty="0"/>
          </a:p>
        </p:txBody>
      </p:sp>
      <p:sp>
        <p:nvSpPr>
          <p:cNvPr id="33" name="Shape 31"/>
          <p:cNvSpPr/>
          <p:nvPr/>
        </p:nvSpPr>
        <p:spPr>
          <a:xfrm>
            <a:off x="822960" y="5074920"/>
            <a:ext cx="914400" cy="0"/>
          </a:xfrm>
          <a:prstGeom prst="line">
            <a:avLst/>
          </a:prstGeom>
          <a:noFill/>
          <a:ln w="38100">
            <a:solidFill>
              <a:srgbClr val="5CE79A"/>
            </a:solidFill>
            <a:prstDash val="solid"/>
          </a:ln>
        </p:spPr>
      </p:sp>
      <p:sp>
        <p:nvSpPr>
          <p:cNvPr id="34" name="Text 32"/>
          <p:cNvSpPr/>
          <p:nvPr/>
        </p:nvSpPr>
        <p:spPr>
          <a:xfrm>
            <a:off x="822960" y="5257800"/>
            <a:ext cx="3657600" cy="274320"/>
          </a:xfrm>
          <a:prstGeom prst="rect">
            <a:avLst/>
          </a:prstGeom>
          <a:noFill/>
          <a:ln/>
        </p:spPr>
        <p:txBody>
          <a:bodyPr wrap="square" lIns="0" tIns="0" rIns="0" bIns="0" rtlCol="0" anchor="ctr"/>
          <a:lstStyle/>
          <a:p>
            <a:pPr indent="0" marL="0">
              <a:buNone/>
            </a:pPr>
            <a:r>
              <a:rPr lang="en-US" sz="1200" dirty="0">
                <a:solidFill>
                  <a:srgbClr val="8A90A6"/>
                </a:solidFill>
                <a:latin typeface="Calibri" pitchFamily="34" charset="0"/>
                <a:ea typeface="Calibri" pitchFamily="34" charset="-122"/>
                <a:cs typeface="Calibri" pitchFamily="34" charset="-120"/>
              </a:rPr>
              <a:t>Presented by</a:t>
            </a:r>
            <a:endParaRPr lang="en-US" sz="1200" dirty="0"/>
          </a:p>
        </p:txBody>
      </p:sp>
      <p:sp>
        <p:nvSpPr>
          <p:cNvPr id="35" name="Text 33"/>
          <p:cNvSpPr/>
          <p:nvPr/>
        </p:nvSpPr>
        <p:spPr>
          <a:xfrm>
            <a:off x="822960" y="5504688"/>
            <a:ext cx="5486400" cy="457200"/>
          </a:xfrm>
          <a:prstGeom prst="rect">
            <a:avLst/>
          </a:prstGeom>
          <a:noFill/>
          <a:ln/>
        </p:spPr>
        <p:txBody>
          <a:bodyPr wrap="square" lIns="0" tIns="0" rIns="0" bIns="0" rtlCol="0" anchor="ctr"/>
          <a:lstStyle/>
          <a:p>
            <a:pPr indent="0" marL="0">
              <a:buNone/>
            </a:pPr>
            <a:r>
              <a:rPr lang="en-US" sz="2200" b="1" dirty="0">
                <a:solidFill>
                  <a:srgbClr val="FFFFFF"/>
                </a:solidFill>
                <a:latin typeface="Cambria" pitchFamily="34" charset="0"/>
                <a:ea typeface="Cambria" pitchFamily="34" charset="-122"/>
                <a:cs typeface="Cambria" pitchFamily="34" charset="-120"/>
              </a:rPr>
              <a:t>Team 1</a:t>
            </a:r>
            <a:endParaRPr lang="en-US" sz="2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7F8FC"/>
        </a:solidFill>
      </p:bgPr>
    </p:bg>
    <p:spTree>
      <p:nvGrpSpPr>
        <p:cNvPr id="1" name=""/>
        <p:cNvGrpSpPr/>
        <p:nvPr/>
      </p:nvGrpSpPr>
      <p:grpSpPr>
        <a:xfrm>
          <a:off x="0" y="0"/>
          <a:ext cx="0" cy="0"/>
          <a:chOff x="0" y="0"/>
          <a:chExt cx="0" cy="0"/>
        </a:xfrm>
      </p:grpSpPr>
      <p:sp>
        <p:nvSpPr>
          <p:cNvPr id="2" name="Text 0"/>
          <p:cNvSpPr/>
          <p:nvPr/>
        </p:nvSpPr>
        <p:spPr>
          <a:xfrm>
            <a:off x="640080" y="502920"/>
            <a:ext cx="7315200" cy="548640"/>
          </a:xfrm>
          <a:prstGeom prst="rect">
            <a:avLst/>
          </a:prstGeom>
          <a:noFill/>
          <a:ln/>
        </p:spPr>
        <p:txBody>
          <a:bodyPr wrap="square" lIns="0" tIns="0" rIns="0" bIns="0" rtlCol="0" anchor="ctr"/>
          <a:lstStyle/>
          <a:p>
            <a:pPr indent="0" marL="0">
              <a:buNone/>
            </a:pPr>
            <a:r>
              <a:rPr lang="en-US" sz="3400" b="1" dirty="0">
                <a:solidFill>
                  <a:srgbClr val="141935"/>
                </a:solidFill>
                <a:latin typeface="Cambria" pitchFamily="34" charset="0"/>
                <a:ea typeface="Cambria" pitchFamily="34" charset="-122"/>
                <a:cs typeface="Cambria" pitchFamily="34" charset="-120"/>
              </a:rPr>
              <a:t>Project Objective</a:t>
            </a:r>
            <a:endParaRPr lang="en-US" sz="3400" dirty="0"/>
          </a:p>
        </p:txBody>
      </p:sp>
      <p:sp>
        <p:nvSpPr>
          <p:cNvPr id="3" name="Text 1"/>
          <p:cNvSpPr/>
          <p:nvPr/>
        </p:nvSpPr>
        <p:spPr>
          <a:xfrm>
            <a:off x="640080" y="1051560"/>
            <a:ext cx="7315200" cy="365760"/>
          </a:xfrm>
          <a:prstGeom prst="rect">
            <a:avLst/>
          </a:prstGeom>
          <a:noFill/>
          <a:ln/>
        </p:spPr>
        <p:txBody>
          <a:bodyPr wrap="square" lIns="0" tIns="0" rIns="0" bIns="0" rtlCol="0" anchor="ctr"/>
          <a:lstStyle/>
          <a:p>
            <a:pPr indent="0" marL="0">
              <a:buNone/>
            </a:pPr>
            <a:r>
              <a:rPr lang="en-US" sz="1400" i="1" dirty="0">
                <a:solidFill>
                  <a:srgbClr val="3A3F5C"/>
                </a:solidFill>
                <a:latin typeface="Calibri" pitchFamily="34" charset="0"/>
                <a:ea typeface="Calibri" pitchFamily="34" charset="-122"/>
                <a:cs typeface="Calibri" pitchFamily="34" charset="-120"/>
              </a:rPr>
              <a:t>Why we built more than just a game</a:t>
            </a:r>
            <a:endParaRPr lang="en-US" sz="1400" dirty="0"/>
          </a:p>
        </p:txBody>
      </p:sp>
      <p:sp>
        <p:nvSpPr>
          <p:cNvPr id="4" name="Shape 2"/>
          <p:cNvSpPr/>
          <p:nvPr/>
        </p:nvSpPr>
        <p:spPr>
          <a:xfrm>
            <a:off x="731520" y="1965960"/>
            <a:ext cx="822960" cy="822960"/>
          </a:xfrm>
          <a:prstGeom prst="ellipse">
            <a:avLst/>
          </a:prstGeom>
          <a:solidFill>
            <a:srgbClr val="1E2761"/>
          </a:solidFill>
          <a:ln/>
        </p:spPr>
      </p:sp>
      <p:sp>
        <p:nvSpPr>
          <p:cNvPr id="5" name="Shape 3"/>
          <p:cNvSpPr/>
          <p:nvPr/>
        </p:nvSpPr>
        <p:spPr>
          <a:xfrm>
            <a:off x="868680" y="2103120"/>
            <a:ext cx="548640" cy="548640"/>
          </a:xfrm>
          <a:prstGeom prst="rect">
            <a:avLst/>
          </a:prstGeom>
          <a:ln w="25400">
            <a:solidFill>
              <a:srgbClr val="5CE79A"/>
            </a:solidFill>
            <a:prstDash val="solid"/>
          </a:ln>
        </p:spPr>
      </p:sp>
      <p:sp>
        <p:nvSpPr>
          <p:cNvPr id="6" name="Shape 4"/>
          <p:cNvSpPr/>
          <p:nvPr/>
        </p:nvSpPr>
        <p:spPr>
          <a:xfrm>
            <a:off x="1024128" y="2258568"/>
            <a:ext cx="237744" cy="237744"/>
          </a:xfrm>
          <a:prstGeom prst="rect">
            <a:avLst/>
          </a:prstGeom>
          <a:solidFill>
            <a:srgbClr val="5CE79A"/>
          </a:solidFill>
          <a:ln/>
        </p:spPr>
      </p:sp>
      <p:sp>
        <p:nvSpPr>
          <p:cNvPr id="7" name="Text 5"/>
          <p:cNvSpPr/>
          <p:nvPr/>
        </p:nvSpPr>
        <p:spPr>
          <a:xfrm>
            <a:off x="1737360" y="1947672"/>
            <a:ext cx="8961120" cy="365760"/>
          </a:xfrm>
          <a:prstGeom prst="rect">
            <a:avLst/>
          </a:prstGeom>
          <a:noFill/>
          <a:ln/>
        </p:spPr>
        <p:txBody>
          <a:bodyPr wrap="square" lIns="0" tIns="0" rIns="0" bIns="0" rtlCol="0" anchor="ctr"/>
          <a:lstStyle/>
          <a:p>
            <a:pPr indent="0" marL="0">
              <a:buNone/>
            </a:pPr>
            <a:r>
              <a:rPr lang="en-US" sz="1800" b="1" dirty="0">
                <a:solidFill>
                  <a:srgbClr val="141935"/>
                </a:solidFill>
                <a:latin typeface="Cambria" pitchFamily="34" charset="0"/>
                <a:ea typeface="Cambria" pitchFamily="34" charset="-122"/>
                <a:cs typeface="Cambria" pitchFamily="34" charset="-120"/>
              </a:rPr>
              <a:t>Full Embedded System Design</a:t>
            </a:r>
            <a:endParaRPr lang="en-US" sz="1800" dirty="0"/>
          </a:p>
        </p:txBody>
      </p:sp>
      <p:sp>
        <p:nvSpPr>
          <p:cNvPr id="8" name="Text 6"/>
          <p:cNvSpPr/>
          <p:nvPr/>
        </p:nvSpPr>
        <p:spPr>
          <a:xfrm>
            <a:off x="1737360" y="2350008"/>
            <a:ext cx="8961120" cy="640080"/>
          </a:xfrm>
          <a:prstGeom prst="rect">
            <a:avLst/>
          </a:prstGeom>
          <a:noFill/>
          <a:ln/>
        </p:spPr>
        <p:txBody>
          <a:bodyPr wrap="square" lIns="0" tIns="0" rIns="0" bIns="0" rtlCol="0" anchor="ctr"/>
          <a:lstStyle/>
          <a:p>
            <a:pPr indent="0" marL="0">
              <a:lnSpc>
                <a:spcPct val="115000"/>
              </a:lnSpc>
              <a:buNone/>
            </a:pPr>
            <a:r>
              <a:rPr lang="en-US" sz="1350" dirty="0">
                <a:solidFill>
                  <a:srgbClr val="3A3F5C"/>
                </a:solidFill>
                <a:latin typeface="Calibri" pitchFamily="34" charset="0"/>
                <a:ea typeface="Calibri" pitchFamily="34" charset="-122"/>
                <a:cs typeface="Calibri" pitchFamily="34" charset="-120"/>
              </a:rPr>
              <a:t>Design a complete, self-contained embedded system built entirely from first principles.</a:t>
            </a:r>
            <a:endParaRPr lang="en-US" sz="1350" dirty="0"/>
          </a:p>
        </p:txBody>
      </p:sp>
      <p:sp>
        <p:nvSpPr>
          <p:cNvPr id="9" name="Shape 7"/>
          <p:cNvSpPr/>
          <p:nvPr/>
        </p:nvSpPr>
        <p:spPr>
          <a:xfrm>
            <a:off x="731520" y="3383280"/>
            <a:ext cx="822960" cy="822960"/>
          </a:xfrm>
          <a:prstGeom prst="ellipse">
            <a:avLst/>
          </a:prstGeom>
          <a:solidFill>
            <a:srgbClr val="1E2761"/>
          </a:solidFill>
          <a:ln/>
        </p:spPr>
      </p:sp>
      <p:sp>
        <p:nvSpPr>
          <p:cNvPr id="10" name="Shape 8"/>
          <p:cNvSpPr/>
          <p:nvPr/>
        </p:nvSpPr>
        <p:spPr>
          <a:xfrm>
            <a:off x="868680" y="3566160"/>
            <a:ext cx="548640" cy="365760"/>
          </a:xfrm>
          <a:prstGeom prst="rect">
            <a:avLst>
              <a:gd name="adj" fmla="val 12500"/>
            </a:avLst>
          </a:prstGeom>
          <a:ln w="25400">
            <a:solidFill>
              <a:srgbClr val="5CE79A"/>
            </a:solidFill>
            <a:prstDash val="solid"/>
          </a:ln>
        </p:spPr>
      </p:sp>
      <p:sp>
        <p:nvSpPr>
          <p:cNvPr id="11" name="Shape 9"/>
          <p:cNvSpPr/>
          <p:nvPr/>
        </p:nvSpPr>
        <p:spPr>
          <a:xfrm>
            <a:off x="1033272" y="3950208"/>
            <a:ext cx="256032" cy="0"/>
          </a:xfrm>
          <a:prstGeom prst="line">
            <a:avLst/>
          </a:prstGeom>
          <a:noFill/>
          <a:ln w="25400">
            <a:solidFill>
              <a:srgbClr val="5CE79A"/>
            </a:solidFill>
            <a:prstDash val="solid"/>
          </a:ln>
        </p:spPr>
      </p:sp>
      <p:sp>
        <p:nvSpPr>
          <p:cNvPr id="12" name="Text 10"/>
          <p:cNvSpPr/>
          <p:nvPr/>
        </p:nvSpPr>
        <p:spPr>
          <a:xfrm>
            <a:off x="1737360" y="3364992"/>
            <a:ext cx="8961120" cy="365760"/>
          </a:xfrm>
          <a:prstGeom prst="rect">
            <a:avLst/>
          </a:prstGeom>
          <a:noFill/>
          <a:ln/>
        </p:spPr>
        <p:txBody>
          <a:bodyPr wrap="square" lIns="0" tIns="0" rIns="0" bIns="0" rtlCol="0" anchor="ctr"/>
          <a:lstStyle/>
          <a:p>
            <a:pPr indent="0" marL="0">
              <a:buNone/>
            </a:pPr>
            <a:r>
              <a:rPr lang="en-US" sz="1800" b="1" dirty="0">
                <a:solidFill>
                  <a:srgbClr val="141935"/>
                </a:solidFill>
                <a:latin typeface="Cambria" pitchFamily="34" charset="0"/>
                <a:ea typeface="Cambria" pitchFamily="34" charset="-122"/>
                <a:cs typeface="Cambria" pitchFamily="34" charset="-120"/>
              </a:rPr>
              <a:t>Drivers Written From Scratch</a:t>
            </a:r>
            <a:endParaRPr lang="en-US" sz="1800" dirty="0"/>
          </a:p>
        </p:txBody>
      </p:sp>
      <p:sp>
        <p:nvSpPr>
          <p:cNvPr id="13" name="Text 11"/>
          <p:cNvSpPr/>
          <p:nvPr/>
        </p:nvSpPr>
        <p:spPr>
          <a:xfrm>
            <a:off x="1737360" y="3767328"/>
            <a:ext cx="8961120" cy="640080"/>
          </a:xfrm>
          <a:prstGeom prst="rect">
            <a:avLst/>
          </a:prstGeom>
          <a:noFill/>
          <a:ln/>
        </p:spPr>
        <p:txBody>
          <a:bodyPr wrap="square" lIns="0" tIns="0" rIns="0" bIns="0" rtlCol="0" anchor="ctr"/>
          <a:lstStyle/>
          <a:p>
            <a:pPr indent="0" marL="0">
              <a:lnSpc>
                <a:spcPct val="115000"/>
              </a:lnSpc>
              <a:buNone/>
            </a:pPr>
            <a:r>
              <a:rPr lang="en-US" sz="1350" dirty="0">
                <a:solidFill>
                  <a:srgbClr val="3A3F5C"/>
                </a:solidFill>
                <a:latin typeface="Calibri" pitchFamily="34" charset="0"/>
                <a:ea typeface="Calibri" pitchFamily="34" charset="-122"/>
                <a:cs typeface="Calibri" pitchFamily="34" charset="-120"/>
              </a:rPr>
              <a:t>Implement every microcontroller driver in-house, with no vendor libraries or HAL shortcuts.</a:t>
            </a:r>
            <a:endParaRPr lang="en-US" sz="1350" dirty="0"/>
          </a:p>
        </p:txBody>
      </p:sp>
      <p:sp>
        <p:nvSpPr>
          <p:cNvPr id="14" name="Shape 12"/>
          <p:cNvSpPr/>
          <p:nvPr/>
        </p:nvSpPr>
        <p:spPr>
          <a:xfrm>
            <a:off x="731520" y="4800600"/>
            <a:ext cx="822960" cy="822960"/>
          </a:xfrm>
          <a:prstGeom prst="ellipse">
            <a:avLst/>
          </a:prstGeom>
          <a:solidFill>
            <a:srgbClr val="1E2761"/>
          </a:solidFill>
          <a:ln/>
        </p:spPr>
      </p:sp>
      <p:sp>
        <p:nvSpPr>
          <p:cNvPr id="15" name="Shape 13"/>
          <p:cNvSpPr/>
          <p:nvPr/>
        </p:nvSpPr>
        <p:spPr>
          <a:xfrm>
            <a:off x="914400" y="4983480"/>
            <a:ext cx="146304" cy="146304"/>
          </a:xfrm>
          <a:prstGeom prst="rect">
            <a:avLst/>
          </a:prstGeom>
          <a:solidFill>
            <a:srgbClr val="5CE79A"/>
          </a:solidFill>
          <a:ln/>
        </p:spPr>
      </p:sp>
      <p:sp>
        <p:nvSpPr>
          <p:cNvPr id="16" name="Shape 14"/>
          <p:cNvSpPr/>
          <p:nvPr/>
        </p:nvSpPr>
        <p:spPr>
          <a:xfrm>
            <a:off x="1115568" y="4983480"/>
            <a:ext cx="146304" cy="146304"/>
          </a:xfrm>
          <a:prstGeom prst="rect">
            <a:avLst/>
          </a:prstGeom>
          <a:solidFill>
            <a:srgbClr val="5CE79A"/>
          </a:solidFill>
          <a:ln/>
        </p:spPr>
      </p:sp>
      <p:sp>
        <p:nvSpPr>
          <p:cNvPr id="17" name="Shape 15"/>
          <p:cNvSpPr/>
          <p:nvPr/>
        </p:nvSpPr>
        <p:spPr>
          <a:xfrm>
            <a:off x="914400" y="5184648"/>
            <a:ext cx="146304" cy="146304"/>
          </a:xfrm>
          <a:prstGeom prst="rect">
            <a:avLst/>
          </a:prstGeom>
          <a:solidFill>
            <a:srgbClr val="5CE79A"/>
          </a:solidFill>
          <a:ln/>
        </p:spPr>
      </p:sp>
      <p:sp>
        <p:nvSpPr>
          <p:cNvPr id="18" name="Shape 16"/>
          <p:cNvSpPr/>
          <p:nvPr/>
        </p:nvSpPr>
        <p:spPr>
          <a:xfrm>
            <a:off x="1115568" y="5184648"/>
            <a:ext cx="146304" cy="146304"/>
          </a:xfrm>
          <a:prstGeom prst="rect">
            <a:avLst/>
          </a:prstGeom>
          <a:solidFill>
            <a:srgbClr val="5CE79A"/>
          </a:solidFill>
          <a:ln/>
        </p:spPr>
      </p:sp>
      <p:sp>
        <p:nvSpPr>
          <p:cNvPr id="19" name="Text 17"/>
          <p:cNvSpPr/>
          <p:nvPr/>
        </p:nvSpPr>
        <p:spPr>
          <a:xfrm>
            <a:off x="1737360" y="4782312"/>
            <a:ext cx="8961120" cy="365760"/>
          </a:xfrm>
          <a:prstGeom prst="rect">
            <a:avLst/>
          </a:prstGeom>
          <a:noFill/>
          <a:ln/>
        </p:spPr>
        <p:txBody>
          <a:bodyPr wrap="square" lIns="0" tIns="0" rIns="0" bIns="0" rtlCol="0" anchor="ctr"/>
          <a:lstStyle/>
          <a:p>
            <a:pPr indent="0" marL="0">
              <a:buNone/>
            </a:pPr>
            <a:r>
              <a:rPr lang="en-US" sz="1800" b="1" dirty="0">
                <a:solidFill>
                  <a:srgbClr val="141935"/>
                </a:solidFill>
                <a:latin typeface="Cambria" pitchFamily="34" charset="0"/>
                <a:ea typeface="Cambria" pitchFamily="34" charset="-122"/>
                <a:cs typeface="Cambria" pitchFamily="34" charset="-120"/>
              </a:rPr>
              <a:t>Custom LCD Graphics</a:t>
            </a:r>
            <a:endParaRPr lang="en-US" sz="1800" dirty="0"/>
          </a:p>
        </p:txBody>
      </p:sp>
      <p:sp>
        <p:nvSpPr>
          <p:cNvPr id="20" name="Text 18"/>
          <p:cNvSpPr/>
          <p:nvPr/>
        </p:nvSpPr>
        <p:spPr>
          <a:xfrm>
            <a:off x="1737360" y="5184648"/>
            <a:ext cx="8961120" cy="640080"/>
          </a:xfrm>
          <a:prstGeom prst="rect">
            <a:avLst/>
          </a:prstGeom>
          <a:noFill/>
          <a:ln/>
        </p:spPr>
        <p:txBody>
          <a:bodyPr wrap="square" lIns="0" tIns="0" rIns="0" bIns="0" rtlCol="0" anchor="ctr"/>
          <a:lstStyle/>
          <a:p>
            <a:pPr indent="0" marL="0">
              <a:lnSpc>
                <a:spcPct val="115000"/>
              </a:lnSpc>
              <a:buNone/>
            </a:pPr>
            <a:r>
              <a:rPr lang="en-US" sz="1350" dirty="0">
                <a:solidFill>
                  <a:srgbClr val="3A3F5C"/>
                </a:solidFill>
                <a:latin typeface="Calibri" pitchFamily="34" charset="0"/>
                <a:ea typeface="Calibri" pitchFamily="34" charset="-122"/>
                <a:cs typeface="Calibri" pitchFamily="34" charset="-120"/>
              </a:rPr>
              <a:t>Apply custom-character (CGRAM) techniques to render game graphics on a simple character LCD.</a:t>
            </a:r>
            <a:endParaRPr lang="en-US" sz="1350" dirty="0"/>
          </a:p>
        </p:txBody>
      </p:sp>
      <p:sp>
        <p:nvSpPr>
          <p:cNvPr id="21" name="Text 19"/>
          <p:cNvSpPr/>
          <p:nvPr/>
        </p:nvSpPr>
        <p:spPr>
          <a:xfrm>
            <a:off x="457200" y="6537960"/>
            <a:ext cx="7315200" cy="274320"/>
          </a:xfrm>
          <a:prstGeom prst="rect">
            <a:avLst/>
          </a:prstGeom>
          <a:noFill/>
          <a:ln/>
        </p:spPr>
        <p:txBody>
          <a:bodyPr wrap="square" lIns="0" tIns="0" rIns="0" bIns="0" rtlCol="0" anchor="ctr"/>
          <a:lstStyle/>
          <a:p>
            <a:pPr algn="l" indent="0" marL="0">
              <a:buNone/>
            </a:pPr>
            <a:r>
              <a:rPr lang="en-US" sz="900" dirty="0">
                <a:solidFill>
                  <a:srgbClr val="A9AEC4"/>
                </a:solidFill>
                <a:latin typeface="Calibri" pitchFamily="34" charset="0"/>
                <a:ea typeface="Calibri" pitchFamily="34" charset="-122"/>
                <a:cs typeface="Calibri" pitchFamily="34" charset="-120"/>
              </a:rPr>
              <a:t>Chrome Dinosaur Game on ATmega32  |  Team 1</a:t>
            </a:r>
            <a:endParaRPr lang="en-US" sz="900" dirty="0"/>
          </a:p>
        </p:txBody>
      </p:sp>
      <p:sp>
        <p:nvSpPr>
          <p:cNvPr id="22" name="Text 20"/>
          <p:cNvSpPr/>
          <p:nvPr/>
        </p:nvSpPr>
        <p:spPr>
          <a:xfrm>
            <a:off x="11430000" y="6537960"/>
            <a:ext cx="365760" cy="274320"/>
          </a:xfrm>
          <a:prstGeom prst="rect">
            <a:avLst/>
          </a:prstGeom>
          <a:noFill/>
          <a:ln/>
        </p:spPr>
        <p:txBody>
          <a:bodyPr wrap="square" lIns="0" tIns="0" rIns="0" bIns="0" rtlCol="0" anchor="ctr"/>
          <a:lstStyle/>
          <a:p>
            <a:pPr algn="r" indent="0" marL="0">
              <a:buNone/>
            </a:pPr>
            <a:r>
              <a:rPr lang="en-US" sz="900" dirty="0">
                <a:solidFill>
                  <a:srgbClr val="A9AEC4"/>
                </a:solidFill>
                <a:latin typeface="Calibri" pitchFamily="34" charset="0"/>
                <a:ea typeface="Calibri" pitchFamily="34" charset="-122"/>
                <a:cs typeface="Calibri" pitchFamily="34" charset="-120"/>
              </a:rPr>
              <a:t>2</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7F8FC"/>
        </a:solidFill>
      </p:bgPr>
    </p:bg>
    <p:spTree>
      <p:nvGrpSpPr>
        <p:cNvPr id="1" name=""/>
        <p:cNvGrpSpPr/>
        <p:nvPr/>
      </p:nvGrpSpPr>
      <p:grpSpPr>
        <a:xfrm>
          <a:off x="0" y="0"/>
          <a:ext cx="0" cy="0"/>
          <a:chOff x="0" y="0"/>
          <a:chExt cx="0" cy="0"/>
        </a:xfrm>
      </p:grpSpPr>
      <p:sp>
        <p:nvSpPr>
          <p:cNvPr id="2" name="Text 0"/>
          <p:cNvSpPr/>
          <p:nvPr/>
        </p:nvSpPr>
        <p:spPr>
          <a:xfrm>
            <a:off x="640080" y="502920"/>
            <a:ext cx="9144000" cy="548640"/>
          </a:xfrm>
          <a:prstGeom prst="rect">
            <a:avLst/>
          </a:prstGeom>
          <a:noFill/>
          <a:ln/>
        </p:spPr>
        <p:txBody>
          <a:bodyPr wrap="square" lIns="0" tIns="0" rIns="0" bIns="0" rtlCol="0" anchor="ctr"/>
          <a:lstStyle/>
          <a:p>
            <a:pPr indent="0" marL="0">
              <a:buNone/>
            </a:pPr>
            <a:r>
              <a:rPr lang="en-US" sz="3400" b="1" dirty="0">
                <a:solidFill>
                  <a:srgbClr val="141935"/>
                </a:solidFill>
                <a:latin typeface="Cambria" pitchFamily="34" charset="0"/>
                <a:ea typeface="Cambria" pitchFamily="34" charset="-122"/>
                <a:cs typeface="Cambria" pitchFamily="34" charset="-120"/>
              </a:rPr>
              <a:t>Layered Software Architecture</a:t>
            </a:r>
            <a:endParaRPr lang="en-US" sz="3400" dirty="0"/>
          </a:p>
        </p:txBody>
      </p:sp>
      <p:sp>
        <p:nvSpPr>
          <p:cNvPr id="3" name="Text 1"/>
          <p:cNvSpPr/>
          <p:nvPr/>
        </p:nvSpPr>
        <p:spPr>
          <a:xfrm>
            <a:off x="640080" y="1051560"/>
            <a:ext cx="9144000" cy="365760"/>
          </a:xfrm>
          <a:prstGeom prst="rect">
            <a:avLst/>
          </a:prstGeom>
          <a:noFill/>
          <a:ln/>
        </p:spPr>
        <p:txBody>
          <a:bodyPr wrap="square" lIns="0" tIns="0" rIns="0" bIns="0" rtlCol="0" anchor="ctr"/>
          <a:lstStyle/>
          <a:p>
            <a:pPr indent="0" marL="0">
              <a:buNone/>
            </a:pPr>
            <a:r>
              <a:rPr lang="en-US" sz="1400" i="1" dirty="0">
                <a:solidFill>
                  <a:srgbClr val="3A3F5C"/>
                </a:solidFill>
                <a:latin typeface="Calibri" pitchFamily="34" charset="0"/>
                <a:ea typeface="Calibri" pitchFamily="34" charset="-122"/>
                <a:cs typeface="Calibri" pitchFamily="34" charset="-120"/>
              </a:rPr>
              <a:t>A clean separation between application logic and hardware access</a:t>
            </a:r>
            <a:endParaRPr lang="en-US" sz="1400" dirty="0"/>
          </a:p>
        </p:txBody>
      </p:sp>
      <p:sp>
        <p:nvSpPr>
          <p:cNvPr id="4" name="Shape 2"/>
          <p:cNvSpPr/>
          <p:nvPr/>
        </p:nvSpPr>
        <p:spPr>
          <a:xfrm>
            <a:off x="2194560" y="1965960"/>
            <a:ext cx="7772400" cy="914400"/>
          </a:xfrm>
          <a:prstGeom prst="rect">
            <a:avLst>
              <a:gd name="adj" fmla="val 6000"/>
            </a:avLst>
          </a:prstGeom>
          <a:solidFill>
            <a:srgbClr val="5B8DEF"/>
          </a:solidFill>
          <a:ln/>
          <a:effectLst>
            <a:outerShdw sx="100000" sy="100000" kx="0" ky="0" algn="bl" rotWithShape="0" blurRad="76200" dist="25400" dir="5400000">
              <a:srgbClr val="1B1F3B">
                <a:alpha val="25000"/>
              </a:srgbClr>
            </a:outerShdw>
          </a:effectLst>
        </p:spPr>
      </p:sp>
      <p:sp>
        <p:nvSpPr>
          <p:cNvPr id="5" name="Text 3"/>
          <p:cNvSpPr/>
          <p:nvPr/>
        </p:nvSpPr>
        <p:spPr>
          <a:xfrm>
            <a:off x="2468880" y="2057400"/>
            <a:ext cx="7223760" cy="365760"/>
          </a:xfrm>
          <a:prstGeom prst="rect">
            <a:avLst/>
          </a:prstGeom>
          <a:noFill/>
          <a:ln/>
        </p:spPr>
        <p:txBody>
          <a:bodyPr wrap="square" lIns="0" tIns="0" rIns="0" bIns="0" rtlCol="0" anchor="ctr"/>
          <a:lstStyle/>
          <a:p>
            <a:pPr indent="0" marL="0">
              <a:buNone/>
            </a:pPr>
            <a:r>
              <a:rPr lang="en-US" sz="1300" b="1" spc="100" kern="0" dirty="0">
                <a:solidFill>
                  <a:srgbClr val="FFFFFF"/>
                </a:solidFill>
                <a:latin typeface="Calibri" pitchFamily="34" charset="0"/>
                <a:ea typeface="Calibri" pitchFamily="34" charset="-122"/>
                <a:cs typeface="Calibri" pitchFamily="34" charset="-120"/>
              </a:rPr>
              <a:t>APPLICATION LAYER</a:t>
            </a:r>
            <a:endParaRPr lang="en-US" sz="1300" dirty="0"/>
          </a:p>
        </p:txBody>
      </p:sp>
      <p:sp>
        <p:nvSpPr>
          <p:cNvPr id="6" name="Text 4"/>
          <p:cNvSpPr/>
          <p:nvPr/>
        </p:nvSpPr>
        <p:spPr>
          <a:xfrm>
            <a:off x="2468880" y="2404872"/>
            <a:ext cx="7223760" cy="365760"/>
          </a:xfrm>
          <a:prstGeom prst="rect">
            <a:avLst/>
          </a:prstGeom>
          <a:noFill/>
          <a:ln/>
        </p:spPr>
        <p:txBody>
          <a:bodyPr wrap="square" lIns="0" tIns="0" rIns="0" bIns="0" rtlCol="0" anchor="ctr"/>
          <a:lstStyle/>
          <a:p>
            <a:pPr indent="0" marL="0">
              <a:buNone/>
            </a:pPr>
            <a:r>
              <a:rPr lang="en-US" sz="1600" dirty="0">
                <a:solidFill>
                  <a:srgbClr val="FFFFFF"/>
                </a:solidFill>
                <a:latin typeface="Cambria" pitchFamily="34" charset="0"/>
                <a:ea typeface="Cambria" pitchFamily="34" charset="-122"/>
                <a:cs typeface="Cambria" pitchFamily="34" charset="-120"/>
              </a:rPr>
              <a:t>Dino Game Logic — main.c</a:t>
            </a:r>
            <a:endParaRPr lang="en-US" sz="1600" dirty="0"/>
          </a:p>
        </p:txBody>
      </p:sp>
      <p:sp>
        <p:nvSpPr>
          <p:cNvPr id="7" name="Shape 5"/>
          <p:cNvSpPr/>
          <p:nvPr/>
        </p:nvSpPr>
        <p:spPr>
          <a:xfrm rot="10800000">
            <a:off x="5998464" y="2898648"/>
            <a:ext cx="164592" cy="128016"/>
          </a:xfrm>
          <a:prstGeom prst="triangle">
            <a:avLst/>
          </a:prstGeom>
          <a:solidFill>
            <a:srgbClr val="3A3F5C"/>
          </a:solidFill>
          <a:ln/>
        </p:spPr>
      </p:sp>
      <p:sp>
        <p:nvSpPr>
          <p:cNvPr id="8" name="Shape 6"/>
          <p:cNvSpPr/>
          <p:nvPr/>
        </p:nvSpPr>
        <p:spPr>
          <a:xfrm>
            <a:off x="2194560" y="3044952"/>
            <a:ext cx="7772400" cy="914400"/>
          </a:xfrm>
          <a:prstGeom prst="rect">
            <a:avLst>
              <a:gd name="adj" fmla="val 6000"/>
            </a:avLst>
          </a:prstGeom>
          <a:solidFill>
            <a:srgbClr val="5CE79A"/>
          </a:solidFill>
          <a:ln/>
          <a:effectLst>
            <a:outerShdw sx="100000" sy="100000" kx="0" ky="0" algn="bl" rotWithShape="0" blurRad="76200" dist="25400" dir="5400000">
              <a:srgbClr val="1B1F3B">
                <a:alpha val="25000"/>
              </a:srgbClr>
            </a:outerShdw>
          </a:effectLst>
        </p:spPr>
      </p:sp>
      <p:sp>
        <p:nvSpPr>
          <p:cNvPr id="9" name="Text 7"/>
          <p:cNvSpPr/>
          <p:nvPr/>
        </p:nvSpPr>
        <p:spPr>
          <a:xfrm>
            <a:off x="2468880" y="3136392"/>
            <a:ext cx="7223760" cy="365760"/>
          </a:xfrm>
          <a:prstGeom prst="rect">
            <a:avLst/>
          </a:prstGeom>
          <a:noFill/>
          <a:ln/>
        </p:spPr>
        <p:txBody>
          <a:bodyPr wrap="square" lIns="0" tIns="0" rIns="0" bIns="0" rtlCol="0" anchor="ctr"/>
          <a:lstStyle/>
          <a:p>
            <a:pPr indent="0" marL="0">
              <a:buNone/>
            </a:pPr>
            <a:r>
              <a:rPr lang="en-US" sz="1300" b="1" spc="100" kern="0" dirty="0">
                <a:solidFill>
                  <a:srgbClr val="FFFFFF"/>
                </a:solidFill>
                <a:latin typeface="Calibri" pitchFamily="34" charset="0"/>
                <a:ea typeface="Calibri" pitchFamily="34" charset="-122"/>
                <a:cs typeface="Calibri" pitchFamily="34" charset="-120"/>
              </a:rPr>
              <a:t>HAL — HARDWARE ABSTRACTION</a:t>
            </a:r>
            <a:endParaRPr lang="en-US" sz="1300" dirty="0"/>
          </a:p>
        </p:txBody>
      </p:sp>
      <p:sp>
        <p:nvSpPr>
          <p:cNvPr id="10" name="Text 8"/>
          <p:cNvSpPr/>
          <p:nvPr/>
        </p:nvSpPr>
        <p:spPr>
          <a:xfrm>
            <a:off x="2468880" y="3483864"/>
            <a:ext cx="7223760" cy="365760"/>
          </a:xfrm>
          <a:prstGeom prst="rect">
            <a:avLst/>
          </a:prstGeom>
          <a:noFill/>
          <a:ln/>
        </p:spPr>
        <p:txBody>
          <a:bodyPr wrap="square" lIns="0" tIns="0" rIns="0" bIns="0" rtlCol="0" anchor="ctr"/>
          <a:lstStyle/>
          <a:p>
            <a:pPr indent="0" marL="0">
              <a:buNone/>
            </a:pPr>
            <a:r>
              <a:rPr lang="en-US" sz="1600" dirty="0">
                <a:solidFill>
                  <a:srgbClr val="FFFFFF"/>
                </a:solidFill>
                <a:latin typeface="Cambria" pitchFamily="34" charset="0"/>
                <a:ea typeface="Cambria" pitchFamily="34" charset="-122"/>
                <a:cs typeface="Cambria" pitchFamily="34" charset="-120"/>
              </a:rPr>
              <a:t>LCD Driver</a:t>
            </a:r>
            <a:endParaRPr lang="en-US" sz="1600" dirty="0"/>
          </a:p>
        </p:txBody>
      </p:sp>
      <p:sp>
        <p:nvSpPr>
          <p:cNvPr id="11" name="Shape 9"/>
          <p:cNvSpPr/>
          <p:nvPr/>
        </p:nvSpPr>
        <p:spPr>
          <a:xfrm rot="10800000">
            <a:off x="5998464" y="3977640"/>
            <a:ext cx="164592" cy="128016"/>
          </a:xfrm>
          <a:prstGeom prst="triangle">
            <a:avLst/>
          </a:prstGeom>
          <a:solidFill>
            <a:srgbClr val="3A3F5C"/>
          </a:solidFill>
          <a:ln/>
        </p:spPr>
      </p:sp>
      <p:sp>
        <p:nvSpPr>
          <p:cNvPr id="12" name="Shape 10"/>
          <p:cNvSpPr/>
          <p:nvPr/>
        </p:nvSpPr>
        <p:spPr>
          <a:xfrm>
            <a:off x="2194560" y="4123944"/>
            <a:ext cx="7772400" cy="914400"/>
          </a:xfrm>
          <a:prstGeom prst="rect">
            <a:avLst>
              <a:gd name="adj" fmla="val 6000"/>
            </a:avLst>
          </a:prstGeom>
          <a:solidFill>
            <a:srgbClr val="F2A65A"/>
          </a:solidFill>
          <a:ln/>
          <a:effectLst>
            <a:outerShdw sx="100000" sy="100000" kx="0" ky="0" algn="bl" rotWithShape="0" blurRad="76200" dist="25400" dir="5400000">
              <a:srgbClr val="1B1F3B">
                <a:alpha val="25000"/>
              </a:srgbClr>
            </a:outerShdw>
          </a:effectLst>
        </p:spPr>
      </p:sp>
      <p:sp>
        <p:nvSpPr>
          <p:cNvPr id="13" name="Text 11"/>
          <p:cNvSpPr/>
          <p:nvPr/>
        </p:nvSpPr>
        <p:spPr>
          <a:xfrm>
            <a:off x="2468880" y="4215384"/>
            <a:ext cx="7223760" cy="365760"/>
          </a:xfrm>
          <a:prstGeom prst="rect">
            <a:avLst/>
          </a:prstGeom>
          <a:noFill/>
          <a:ln/>
        </p:spPr>
        <p:txBody>
          <a:bodyPr wrap="square" lIns="0" tIns="0" rIns="0" bIns="0" rtlCol="0" anchor="ctr"/>
          <a:lstStyle/>
          <a:p>
            <a:pPr indent="0" marL="0">
              <a:buNone/>
            </a:pPr>
            <a:r>
              <a:rPr lang="en-US" sz="1300" b="1" spc="100" kern="0" dirty="0">
                <a:solidFill>
                  <a:srgbClr val="FFFFFF"/>
                </a:solidFill>
                <a:latin typeface="Calibri" pitchFamily="34" charset="0"/>
                <a:ea typeface="Calibri" pitchFamily="34" charset="-122"/>
                <a:cs typeface="Calibri" pitchFamily="34" charset="-120"/>
              </a:rPr>
              <a:t>MCAL — MICROCONTROLLER ABSTRACTION</a:t>
            </a:r>
            <a:endParaRPr lang="en-US" sz="1300" dirty="0"/>
          </a:p>
        </p:txBody>
      </p:sp>
      <p:sp>
        <p:nvSpPr>
          <p:cNvPr id="14" name="Text 12"/>
          <p:cNvSpPr/>
          <p:nvPr/>
        </p:nvSpPr>
        <p:spPr>
          <a:xfrm>
            <a:off x="2468880" y="4562856"/>
            <a:ext cx="7223760" cy="365760"/>
          </a:xfrm>
          <a:prstGeom prst="rect">
            <a:avLst/>
          </a:prstGeom>
          <a:noFill/>
          <a:ln/>
        </p:spPr>
        <p:txBody>
          <a:bodyPr wrap="square" lIns="0" tIns="0" rIns="0" bIns="0" rtlCol="0" anchor="ctr"/>
          <a:lstStyle/>
          <a:p>
            <a:pPr indent="0" marL="0">
              <a:buNone/>
            </a:pPr>
            <a:r>
              <a:rPr lang="en-US" sz="1600" dirty="0">
                <a:solidFill>
                  <a:srgbClr val="FFFFFF"/>
                </a:solidFill>
                <a:latin typeface="Cambria" pitchFamily="34" charset="0"/>
                <a:ea typeface="Cambria" pitchFamily="34" charset="-122"/>
                <a:cs typeface="Cambria" pitchFamily="34" charset="-120"/>
              </a:rPr>
              <a:t>DIO Driver</a:t>
            </a:r>
            <a:endParaRPr lang="en-US" sz="1600" dirty="0"/>
          </a:p>
        </p:txBody>
      </p:sp>
      <p:sp>
        <p:nvSpPr>
          <p:cNvPr id="15" name="Shape 13"/>
          <p:cNvSpPr/>
          <p:nvPr/>
        </p:nvSpPr>
        <p:spPr>
          <a:xfrm rot="10800000">
            <a:off x="5998464" y="5056632"/>
            <a:ext cx="164592" cy="128016"/>
          </a:xfrm>
          <a:prstGeom prst="triangle">
            <a:avLst/>
          </a:prstGeom>
          <a:solidFill>
            <a:srgbClr val="3A3F5C"/>
          </a:solidFill>
          <a:ln/>
        </p:spPr>
      </p:sp>
      <p:sp>
        <p:nvSpPr>
          <p:cNvPr id="16" name="Shape 14"/>
          <p:cNvSpPr/>
          <p:nvPr/>
        </p:nvSpPr>
        <p:spPr>
          <a:xfrm>
            <a:off x="2194560" y="5202936"/>
            <a:ext cx="7772400" cy="914400"/>
          </a:xfrm>
          <a:prstGeom prst="rect">
            <a:avLst>
              <a:gd name="adj" fmla="val 6000"/>
            </a:avLst>
          </a:prstGeom>
          <a:solidFill>
            <a:srgbClr val="8A90A6"/>
          </a:solidFill>
          <a:ln/>
          <a:effectLst>
            <a:outerShdw sx="100000" sy="100000" kx="0" ky="0" algn="bl" rotWithShape="0" blurRad="76200" dist="25400" dir="5400000">
              <a:srgbClr val="1B1F3B">
                <a:alpha val="25000"/>
              </a:srgbClr>
            </a:outerShdw>
          </a:effectLst>
        </p:spPr>
      </p:sp>
      <p:sp>
        <p:nvSpPr>
          <p:cNvPr id="17" name="Text 15"/>
          <p:cNvSpPr/>
          <p:nvPr/>
        </p:nvSpPr>
        <p:spPr>
          <a:xfrm>
            <a:off x="2468880" y="5294376"/>
            <a:ext cx="7223760" cy="365760"/>
          </a:xfrm>
          <a:prstGeom prst="rect">
            <a:avLst/>
          </a:prstGeom>
          <a:noFill/>
          <a:ln/>
        </p:spPr>
        <p:txBody>
          <a:bodyPr wrap="square" lIns="0" tIns="0" rIns="0" bIns="0" rtlCol="0" anchor="ctr"/>
          <a:lstStyle/>
          <a:p>
            <a:pPr indent="0" marL="0">
              <a:buNone/>
            </a:pPr>
            <a:r>
              <a:rPr lang="en-US" sz="1300" b="1" spc="100" kern="0" dirty="0">
                <a:solidFill>
                  <a:srgbClr val="FFFFFF"/>
                </a:solidFill>
                <a:latin typeface="Calibri" pitchFamily="34" charset="0"/>
                <a:ea typeface="Calibri" pitchFamily="34" charset="-122"/>
                <a:cs typeface="Calibri" pitchFamily="34" charset="-120"/>
              </a:rPr>
              <a:t>HARDWARE</a:t>
            </a:r>
            <a:endParaRPr lang="en-US" sz="1300" dirty="0"/>
          </a:p>
        </p:txBody>
      </p:sp>
      <p:sp>
        <p:nvSpPr>
          <p:cNvPr id="18" name="Text 16"/>
          <p:cNvSpPr/>
          <p:nvPr/>
        </p:nvSpPr>
        <p:spPr>
          <a:xfrm>
            <a:off x="2468880" y="5641848"/>
            <a:ext cx="7223760" cy="365760"/>
          </a:xfrm>
          <a:prstGeom prst="rect">
            <a:avLst/>
          </a:prstGeom>
          <a:noFill/>
          <a:ln/>
        </p:spPr>
        <p:txBody>
          <a:bodyPr wrap="square" lIns="0" tIns="0" rIns="0" bIns="0" rtlCol="0" anchor="ctr"/>
          <a:lstStyle/>
          <a:p>
            <a:pPr indent="0" marL="0">
              <a:buNone/>
            </a:pPr>
            <a:r>
              <a:rPr lang="en-US" sz="1600" dirty="0">
                <a:solidFill>
                  <a:srgbClr val="FFFFFF"/>
                </a:solidFill>
                <a:latin typeface="Cambria" pitchFamily="34" charset="0"/>
                <a:ea typeface="Cambria" pitchFamily="34" charset="-122"/>
                <a:cs typeface="Cambria" pitchFamily="34" charset="-120"/>
              </a:rPr>
              <a:t>ATmega32</a:t>
            </a:r>
            <a:endParaRPr lang="en-US" sz="1600" dirty="0"/>
          </a:p>
        </p:txBody>
      </p:sp>
      <p:sp>
        <p:nvSpPr>
          <p:cNvPr id="19" name="Text 17"/>
          <p:cNvSpPr/>
          <p:nvPr/>
        </p:nvSpPr>
        <p:spPr>
          <a:xfrm>
            <a:off x="457200" y="6537960"/>
            <a:ext cx="7315200" cy="274320"/>
          </a:xfrm>
          <a:prstGeom prst="rect">
            <a:avLst/>
          </a:prstGeom>
          <a:noFill/>
          <a:ln/>
        </p:spPr>
        <p:txBody>
          <a:bodyPr wrap="square" lIns="0" tIns="0" rIns="0" bIns="0" rtlCol="0" anchor="ctr"/>
          <a:lstStyle/>
          <a:p>
            <a:pPr algn="l" indent="0" marL="0">
              <a:buNone/>
            </a:pPr>
            <a:r>
              <a:rPr lang="en-US" sz="900" dirty="0">
                <a:solidFill>
                  <a:srgbClr val="A9AEC4"/>
                </a:solidFill>
                <a:latin typeface="Calibri" pitchFamily="34" charset="0"/>
                <a:ea typeface="Calibri" pitchFamily="34" charset="-122"/>
                <a:cs typeface="Calibri" pitchFamily="34" charset="-120"/>
              </a:rPr>
              <a:t>Chrome Dinosaur Game on ATmega32  |  Team 1</a:t>
            </a:r>
            <a:endParaRPr lang="en-US" sz="900" dirty="0"/>
          </a:p>
        </p:txBody>
      </p:sp>
      <p:sp>
        <p:nvSpPr>
          <p:cNvPr id="20" name="Text 18"/>
          <p:cNvSpPr/>
          <p:nvPr/>
        </p:nvSpPr>
        <p:spPr>
          <a:xfrm>
            <a:off x="11430000" y="6537960"/>
            <a:ext cx="365760" cy="274320"/>
          </a:xfrm>
          <a:prstGeom prst="rect">
            <a:avLst/>
          </a:prstGeom>
          <a:noFill/>
          <a:ln/>
        </p:spPr>
        <p:txBody>
          <a:bodyPr wrap="square" lIns="0" tIns="0" rIns="0" bIns="0" rtlCol="0" anchor="ctr"/>
          <a:lstStyle/>
          <a:p>
            <a:pPr algn="r" indent="0" marL="0">
              <a:buNone/>
            </a:pPr>
            <a:r>
              <a:rPr lang="en-US" sz="900" dirty="0">
                <a:solidFill>
                  <a:srgbClr val="A9AEC4"/>
                </a:solidFill>
                <a:latin typeface="Calibri" pitchFamily="34" charset="0"/>
                <a:ea typeface="Calibri" pitchFamily="34" charset="-122"/>
                <a:cs typeface="Calibri" pitchFamily="34" charset="-120"/>
              </a:rPr>
              <a:t>3</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7F8FC"/>
        </a:solidFill>
      </p:bgPr>
    </p:bg>
    <p:spTree>
      <p:nvGrpSpPr>
        <p:cNvPr id="1" name=""/>
        <p:cNvGrpSpPr/>
        <p:nvPr/>
      </p:nvGrpSpPr>
      <p:grpSpPr>
        <a:xfrm>
          <a:off x="0" y="0"/>
          <a:ext cx="0" cy="0"/>
          <a:chOff x="0" y="0"/>
          <a:chExt cx="0" cy="0"/>
        </a:xfrm>
      </p:grpSpPr>
      <p:sp>
        <p:nvSpPr>
          <p:cNvPr id="2" name="Text 0"/>
          <p:cNvSpPr/>
          <p:nvPr/>
        </p:nvSpPr>
        <p:spPr>
          <a:xfrm>
            <a:off x="640080" y="502920"/>
            <a:ext cx="9144000" cy="548640"/>
          </a:xfrm>
          <a:prstGeom prst="rect">
            <a:avLst/>
          </a:prstGeom>
          <a:noFill/>
          <a:ln/>
        </p:spPr>
        <p:txBody>
          <a:bodyPr wrap="square" lIns="0" tIns="0" rIns="0" bIns="0" rtlCol="0" anchor="ctr"/>
          <a:lstStyle/>
          <a:p>
            <a:pPr indent="0" marL="0">
              <a:buNone/>
            </a:pPr>
            <a:r>
              <a:rPr lang="en-US" sz="3400" b="1" dirty="0">
                <a:solidFill>
                  <a:srgbClr val="141935"/>
                </a:solidFill>
                <a:latin typeface="Cambria" pitchFamily="34" charset="0"/>
                <a:ea typeface="Cambria" pitchFamily="34" charset="-122"/>
                <a:cs typeface="Cambria" pitchFamily="34" charset="-120"/>
              </a:rPr>
              <a:t>Hardware Interfacing</a:t>
            </a:r>
            <a:endParaRPr lang="en-US" sz="3400" dirty="0"/>
          </a:p>
        </p:txBody>
      </p:sp>
      <p:sp>
        <p:nvSpPr>
          <p:cNvPr id="3" name="Text 1"/>
          <p:cNvSpPr/>
          <p:nvPr/>
        </p:nvSpPr>
        <p:spPr>
          <a:xfrm>
            <a:off x="640080" y="1051560"/>
            <a:ext cx="10058400" cy="365760"/>
          </a:xfrm>
          <a:prstGeom prst="rect">
            <a:avLst/>
          </a:prstGeom>
          <a:noFill/>
          <a:ln/>
        </p:spPr>
        <p:txBody>
          <a:bodyPr wrap="square" lIns="0" tIns="0" rIns="0" bIns="0" rtlCol="0" anchor="ctr"/>
          <a:lstStyle/>
          <a:p>
            <a:pPr indent="0" marL="0">
              <a:buNone/>
            </a:pPr>
            <a:r>
              <a:rPr lang="en-US" sz="1400" i="1" dirty="0">
                <a:solidFill>
                  <a:srgbClr val="3A3F5C"/>
                </a:solidFill>
                <a:latin typeface="Calibri" pitchFamily="34" charset="0"/>
                <a:ea typeface="Calibri" pitchFamily="34" charset="-122"/>
                <a:cs typeface="Calibri" pitchFamily="34" charset="-120"/>
              </a:rPr>
              <a:t>Actual Proteus schematic — 16x2 LCD wired to the ATmega32 in 4-bit mode</a:t>
            </a:r>
            <a:endParaRPr lang="en-US" sz="1400" dirty="0"/>
          </a:p>
        </p:txBody>
      </p:sp>
      <p:sp>
        <p:nvSpPr>
          <p:cNvPr id="4" name="Shape 2"/>
          <p:cNvSpPr/>
          <p:nvPr/>
        </p:nvSpPr>
        <p:spPr>
          <a:xfrm>
            <a:off x="475488" y="1709928"/>
            <a:ext cx="4626864" cy="4450150"/>
          </a:xfrm>
          <a:prstGeom prst="roundRect">
            <a:avLst>
              <a:gd name="adj" fmla="val 1027"/>
            </a:avLst>
          </a:prstGeom>
          <a:solidFill>
            <a:srgbClr val="FFFFFF"/>
          </a:solidFill>
          <a:ln w="12700">
            <a:solidFill>
              <a:srgbClr val="E1E4EE"/>
            </a:solidFill>
            <a:prstDash val="solid"/>
          </a:ln>
          <a:effectLst>
            <a:outerShdw sx="100000" sy="100000" kx="0" ky="0" algn="bl" rotWithShape="0" blurRad="101600" dist="38100" dir="5400000">
              <a:srgbClr val="1B1F3B">
                <a:alpha val="15000"/>
              </a:srgbClr>
            </a:outerShdw>
          </a:effectLst>
        </p:spPr>
      </p:sp>
      <p:pic>
        <p:nvPicPr>
          <p:cNvPr id="5" name="Image 0" descr="/mnt/user-data/uploads/1000121843.jpg">    </p:cNvPr>
          <p:cNvPicPr>
            <a:picLocks noChangeAspect="1"/>
          </p:cNvPicPr>
          <p:nvPr/>
        </p:nvPicPr>
        <p:blipFill>
          <a:blip r:embed="rId1"/>
          <a:stretch>
            <a:fillRect/>
          </a:stretch>
        </p:blipFill>
        <p:spPr>
          <a:xfrm>
            <a:off x="548640" y="1783080"/>
            <a:ext cx="4480560" cy="4303846"/>
          </a:xfrm>
          <a:prstGeom prst="rect">
            <a:avLst/>
          </a:prstGeom>
        </p:spPr>
      </p:pic>
      <p:sp>
        <p:nvSpPr>
          <p:cNvPr id="6" name="Text 3"/>
          <p:cNvSpPr/>
          <p:nvPr/>
        </p:nvSpPr>
        <p:spPr>
          <a:xfrm>
            <a:off x="548640" y="6196654"/>
            <a:ext cx="4480560" cy="274320"/>
          </a:xfrm>
          <a:prstGeom prst="rect">
            <a:avLst/>
          </a:prstGeom>
          <a:noFill/>
          <a:ln/>
        </p:spPr>
        <p:txBody>
          <a:bodyPr wrap="square" lIns="0" tIns="0" rIns="0" bIns="0" rtlCol="0" anchor="ctr"/>
          <a:lstStyle/>
          <a:p>
            <a:pPr algn="ctr" indent="0" marL="0">
              <a:buNone/>
            </a:pPr>
            <a:r>
              <a:rPr lang="en-US" sz="1050" i="1" dirty="0">
                <a:solidFill>
                  <a:srgbClr val="3A3F5C"/>
                </a:solidFill>
                <a:latin typeface="Calibri" pitchFamily="34" charset="0"/>
                <a:ea typeface="Calibri" pitchFamily="34" charset="-122"/>
                <a:cs typeface="Calibri" pitchFamily="34" charset="-120"/>
              </a:rPr>
              <a:t>Proteus Simulation — Circuit Schematic</a:t>
            </a:r>
            <a:endParaRPr lang="en-US" sz="1050" dirty="0"/>
          </a:p>
        </p:txBody>
      </p:sp>
      <p:sp>
        <p:nvSpPr>
          <p:cNvPr id="7" name="Shape 4"/>
          <p:cNvSpPr/>
          <p:nvPr/>
        </p:nvSpPr>
        <p:spPr>
          <a:xfrm>
            <a:off x="3142884" y="3435757"/>
            <a:ext cx="483900" cy="256940"/>
          </a:xfrm>
          <a:prstGeom prst="roundRect">
            <a:avLst>
              <a:gd name="adj" fmla="val 14235"/>
            </a:avLst>
          </a:prstGeom>
          <a:ln w="25400">
            <a:solidFill>
              <a:srgbClr val="E23D28"/>
            </a:solidFill>
            <a:prstDash val="solid"/>
          </a:ln>
        </p:spPr>
      </p:sp>
      <p:sp>
        <p:nvSpPr>
          <p:cNvPr id="8" name="Shape 5"/>
          <p:cNvSpPr/>
          <p:nvPr/>
        </p:nvSpPr>
        <p:spPr>
          <a:xfrm>
            <a:off x="3111520" y="3861838"/>
            <a:ext cx="515264" cy="86077"/>
          </a:xfrm>
          <a:prstGeom prst="roundRect">
            <a:avLst>
              <a:gd name="adj" fmla="val 42492"/>
            </a:avLst>
          </a:prstGeom>
          <a:ln w="25400">
            <a:solidFill>
              <a:srgbClr val="E23D28"/>
            </a:solidFill>
            <a:prstDash val="solid"/>
          </a:ln>
        </p:spPr>
      </p:sp>
      <p:sp>
        <p:nvSpPr>
          <p:cNvPr id="9" name="Shape 6"/>
          <p:cNvSpPr/>
          <p:nvPr/>
        </p:nvSpPr>
        <p:spPr>
          <a:xfrm>
            <a:off x="4312310" y="2124805"/>
            <a:ext cx="457017" cy="228534"/>
          </a:xfrm>
          <a:prstGeom prst="roundRect">
            <a:avLst>
              <a:gd name="adj" fmla="val 16005"/>
            </a:avLst>
          </a:prstGeom>
          <a:ln w="25400">
            <a:solidFill>
              <a:srgbClr val="E23D28"/>
            </a:solidFill>
            <a:prstDash val="solid"/>
          </a:ln>
        </p:spPr>
      </p:sp>
      <p:sp>
        <p:nvSpPr>
          <p:cNvPr id="10" name="Shape 7"/>
          <p:cNvSpPr/>
          <p:nvPr/>
        </p:nvSpPr>
        <p:spPr>
          <a:xfrm>
            <a:off x="3111520" y="5260587"/>
            <a:ext cx="403250" cy="228104"/>
          </a:xfrm>
          <a:prstGeom prst="roundRect">
            <a:avLst>
              <a:gd name="adj" fmla="val 16035"/>
            </a:avLst>
          </a:prstGeom>
          <a:ln w="25400">
            <a:solidFill>
              <a:srgbClr val="E23D28"/>
            </a:solidFill>
            <a:prstDash val="solid"/>
          </a:ln>
        </p:spPr>
      </p:sp>
      <p:sp>
        <p:nvSpPr>
          <p:cNvPr id="11" name="Shape 8"/>
          <p:cNvSpPr/>
          <p:nvPr/>
        </p:nvSpPr>
        <p:spPr>
          <a:xfrm>
            <a:off x="3033156" y="3326029"/>
            <a:ext cx="219456" cy="219456"/>
          </a:xfrm>
          <a:prstGeom prst="ellipse">
            <a:avLst/>
          </a:prstGeom>
          <a:solidFill>
            <a:srgbClr val="E23D28"/>
          </a:solidFill>
          <a:ln w="12700">
            <a:solidFill>
              <a:srgbClr val="FFFFFF"/>
            </a:solidFill>
            <a:prstDash val="solid"/>
          </a:ln>
        </p:spPr>
      </p:sp>
      <p:sp>
        <p:nvSpPr>
          <p:cNvPr id="12" name="Text 9"/>
          <p:cNvSpPr/>
          <p:nvPr/>
        </p:nvSpPr>
        <p:spPr>
          <a:xfrm>
            <a:off x="3033156" y="3326029"/>
            <a:ext cx="219456" cy="219456"/>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1</a:t>
            </a:r>
            <a:endParaRPr lang="en-US" sz="900" dirty="0"/>
          </a:p>
        </p:txBody>
      </p:sp>
      <p:sp>
        <p:nvSpPr>
          <p:cNvPr id="13" name="Shape 10"/>
          <p:cNvSpPr/>
          <p:nvPr/>
        </p:nvSpPr>
        <p:spPr>
          <a:xfrm>
            <a:off x="3001792" y="3752110"/>
            <a:ext cx="219456" cy="219456"/>
          </a:xfrm>
          <a:prstGeom prst="ellipse">
            <a:avLst/>
          </a:prstGeom>
          <a:solidFill>
            <a:srgbClr val="E23D28"/>
          </a:solidFill>
          <a:ln w="12700">
            <a:solidFill>
              <a:srgbClr val="FFFFFF"/>
            </a:solidFill>
            <a:prstDash val="solid"/>
          </a:ln>
        </p:spPr>
      </p:sp>
      <p:sp>
        <p:nvSpPr>
          <p:cNvPr id="14" name="Text 11"/>
          <p:cNvSpPr/>
          <p:nvPr/>
        </p:nvSpPr>
        <p:spPr>
          <a:xfrm>
            <a:off x="3001792" y="3752110"/>
            <a:ext cx="219456" cy="219456"/>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2</a:t>
            </a:r>
            <a:endParaRPr lang="en-US" sz="900" dirty="0"/>
          </a:p>
        </p:txBody>
      </p:sp>
      <p:sp>
        <p:nvSpPr>
          <p:cNvPr id="15" name="Shape 12"/>
          <p:cNvSpPr/>
          <p:nvPr/>
        </p:nvSpPr>
        <p:spPr>
          <a:xfrm>
            <a:off x="4202582" y="2015077"/>
            <a:ext cx="219456" cy="219456"/>
          </a:xfrm>
          <a:prstGeom prst="ellipse">
            <a:avLst/>
          </a:prstGeom>
          <a:solidFill>
            <a:srgbClr val="E23D28"/>
          </a:solidFill>
          <a:ln w="12700">
            <a:solidFill>
              <a:srgbClr val="FFFFFF"/>
            </a:solidFill>
            <a:prstDash val="solid"/>
          </a:ln>
        </p:spPr>
      </p:sp>
      <p:sp>
        <p:nvSpPr>
          <p:cNvPr id="16" name="Text 13"/>
          <p:cNvSpPr/>
          <p:nvPr/>
        </p:nvSpPr>
        <p:spPr>
          <a:xfrm>
            <a:off x="4202582" y="2015077"/>
            <a:ext cx="219456" cy="219456"/>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3</a:t>
            </a:r>
            <a:endParaRPr lang="en-US" sz="900" dirty="0"/>
          </a:p>
        </p:txBody>
      </p:sp>
      <p:sp>
        <p:nvSpPr>
          <p:cNvPr id="17" name="Shape 14"/>
          <p:cNvSpPr/>
          <p:nvPr/>
        </p:nvSpPr>
        <p:spPr>
          <a:xfrm>
            <a:off x="3001792" y="5150859"/>
            <a:ext cx="219456" cy="219456"/>
          </a:xfrm>
          <a:prstGeom prst="ellipse">
            <a:avLst/>
          </a:prstGeom>
          <a:solidFill>
            <a:srgbClr val="E23D28"/>
          </a:solidFill>
          <a:ln w="12700">
            <a:solidFill>
              <a:srgbClr val="FFFFFF"/>
            </a:solidFill>
            <a:prstDash val="solid"/>
          </a:ln>
        </p:spPr>
      </p:sp>
      <p:sp>
        <p:nvSpPr>
          <p:cNvPr id="18" name="Text 15"/>
          <p:cNvSpPr/>
          <p:nvPr/>
        </p:nvSpPr>
        <p:spPr>
          <a:xfrm>
            <a:off x="3001792" y="5150859"/>
            <a:ext cx="219456" cy="219456"/>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4</a:t>
            </a:r>
            <a:endParaRPr lang="en-US" sz="900" dirty="0"/>
          </a:p>
        </p:txBody>
      </p:sp>
      <p:sp>
        <p:nvSpPr>
          <p:cNvPr id="19" name="Shape 16"/>
          <p:cNvSpPr/>
          <p:nvPr/>
        </p:nvSpPr>
        <p:spPr>
          <a:xfrm>
            <a:off x="5486400" y="1783080"/>
            <a:ext cx="384048" cy="384048"/>
          </a:xfrm>
          <a:prstGeom prst="ellipse">
            <a:avLst/>
          </a:prstGeom>
          <a:solidFill>
            <a:srgbClr val="E23D28"/>
          </a:solidFill>
          <a:ln/>
        </p:spPr>
      </p:sp>
      <p:sp>
        <p:nvSpPr>
          <p:cNvPr id="20" name="Text 17"/>
          <p:cNvSpPr/>
          <p:nvPr/>
        </p:nvSpPr>
        <p:spPr>
          <a:xfrm>
            <a:off x="5486400" y="1783080"/>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21" name="Text 18"/>
          <p:cNvSpPr/>
          <p:nvPr/>
        </p:nvSpPr>
        <p:spPr>
          <a:xfrm>
            <a:off x="6035040" y="1755648"/>
            <a:ext cx="5623560" cy="320040"/>
          </a:xfrm>
          <a:prstGeom prst="rect">
            <a:avLst/>
          </a:prstGeom>
          <a:noFill/>
          <a:ln/>
        </p:spPr>
        <p:txBody>
          <a:bodyPr wrap="square" lIns="0" tIns="0" rIns="0" bIns="0" rtlCol="0" anchor="ctr"/>
          <a:lstStyle/>
          <a:p>
            <a:pPr indent="0" marL="0">
              <a:buNone/>
            </a:pPr>
            <a:r>
              <a:rPr lang="en-US" sz="1550" b="1" dirty="0">
                <a:solidFill>
                  <a:srgbClr val="141935"/>
                </a:solidFill>
                <a:latin typeface="Cambria" pitchFamily="34" charset="0"/>
                <a:ea typeface="Cambria" pitchFamily="34" charset="-122"/>
                <a:cs typeface="Cambria" pitchFamily="34" charset="-120"/>
              </a:rPr>
              <a:t>PC2–PC5 reserved for JTAG</a:t>
            </a:r>
            <a:endParaRPr lang="en-US" sz="1550" dirty="0"/>
          </a:p>
        </p:txBody>
      </p:sp>
      <p:sp>
        <p:nvSpPr>
          <p:cNvPr id="22" name="Text 19"/>
          <p:cNvSpPr/>
          <p:nvPr/>
        </p:nvSpPr>
        <p:spPr>
          <a:xfrm>
            <a:off x="6035040" y="2103120"/>
            <a:ext cx="5623560" cy="640080"/>
          </a:xfrm>
          <a:prstGeom prst="rect">
            <a:avLst/>
          </a:prstGeom>
          <a:noFill/>
          <a:ln/>
        </p:spPr>
        <p:txBody>
          <a:bodyPr wrap="square" lIns="0" tIns="0" rIns="0" bIns="0" rtlCol="0" anchor="ctr"/>
          <a:lstStyle/>
          <a:p>
            <a:pPr indent="0" marL="0">
              <a:lnSpc>
                <a:spcPct val="118000"/>
              </a:lnSpc>
              <a:buNone/>
            </a:pPr>
            <a:r>
              <a:rPr lang="en-US" sz="1150" dirty="0">
                <a:solidFill>
                  <a:srgbClr val="3A3F5C"/>
                </a:solidFill>
                <a:latin typeface="Calibri" pitchFamily="34" charset="0"/>
                <a:ea typeface="Calibri" pitchFamily="34" charset="-122"/>
                <a:cs typeface="Calibri" pitchFamily="34" charset="-120"/>
              </a:rPr>
              <a:t>These pins default to the JTAG interface on the ATmega32, so they were kept clear of the LCD bus to avoid data conflicts.</a:t>
            </a:r>
            <a:endParaRPr lang="en-US" sz="1150" dirty="0"/>
          </a:p>
        </p:txBody>
      </p:sp>
      <p:sp>
        <p:nvSpPr>
          <p:cNvPr id="23" name="Shape 20"/>
          <p:cNvSpPr/>
          <p:nvPr/>
        </p:nvSpPr>
        <p:spPr>
          <a:xfrm>
            <a:off x="5486400" y="2862072"/>
            <a:ext cx="384048" cy="384048"/>
          </a:xfrm>
          <a:prstGeom prst="ellipse">
            <a:avLst/>
          </a:prstGeom>
          <a:solidFill>
            <a:srgbClr val="E23D28"/>
          </a:solidFill>
          <a:ln/>
        </p:spPr>
      </p:sp>
      <p:sp>
        <p:nvSpPr>
          <p:cNvPr id="24" name="Text 21"/>
          <p:cNvSpPr/>
          <p:nvPr/>
        </p:nvSpPr>
        <p:spPr>
          <a:xfrm>
            <a:off x="5486400" y="2862072"/>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25" name="Text 22"/>
          <p:cNvSpPr/>
          <p:nvPr/>
        </p:nvSpPr>
        <p:spPr>
          <a:xfrm>
            <a:off x="6035040" y="2834640"/>
            <a:ext cx="5623560" cy="320040"/>
          </a:xfrm>
          <a:prstGeom prst="rect">
            <a:avLst/>
          </a:prstGeom>
          <a:noFill/>
          <a:ln/>
        </p:spPr>
        <p:txBody>
          <a:bodyPr wrap="square" lIns="0" tIns="0" rIns="0" bIns="0" rtlCol="0" anchor="ctr"/>
          <a:lstStyle/>
          <a:p>
            <a:pPr indent="0" marL="0">
              <a:buNone/>
            </a:pPr>
            <a:r>
              <a:rPr lang="en-US" sz="1550" b="1" dirty="0">
                <a:solidFill>
                  <a:srgbClr val="141935"/>
                </a:solidFill>
                <a:latin typeface="Cambria" pitchFamily="34" charset="0"/>
                <a:ea typeface="Cambria" pitchFamily="34" charset="-122"/>
                <a:cs typeface="Cambria" pitchFamily="34" charset="-120"/>
              </a:rPr>
              <a:t>Enable re-routed to PC7</a:t>
            </a:r>
            <a:endParaRPr lang="en-US" sz="1550" dirty="0"/>
          </a:p>
        </p:txBody>
      </p:sp>
      <p:sp>
        <p:nvSpPr>
          <p:cNvPr id="26" name="Text 23"/>
          <p:cNvSpPr/>
          <p:nvPr/>
        </p:nvSpPr>
        <p:spPr>
          <a:xfrm>
            <a:off x="6035040" y="3182112"/>
            <a:ext cx="5623560" cy="640080"/>
          </a:xfrm>
          <a:prstGeom prst="rect">
            <a:avLst/>
          </a:prstGeom>
          <a:noFill/>
          <a:ln/>
        </p:spPr>
        <p:txBody>
          <a:bodyPr wrap="square" lIns="0" tIns="0" rIns="0" bIns="0" rtlCol="0" anchor="ctr"/>
          <a:lstStyle/>
          <a:p>
            <a:pPr indent="0" marL="0">
              <a:lnSpc>
                <a:spcPct val="118000"/>
              </a:lnSpc>
              <a:buNone/>
            </a:pPr>
            <a:r>
              <a:rPr lang="en-US" sz="1150" dirty="0">
                <a:solidFill>
                  <a:srgbClr val="3A3F5C"/>
                </a:solidFill>
                <a:latin typeface="Calibri" pitchFamily="34" charset="0"/>
                <a:ea typeface="Calibri" pitchFamily="34" charset="-122"/>
                <a:cs typeface="Calibri" pitchFamily="34" charset="-120"/>
              </a:rPr>
              <a:t>Instead of editing the fuse bits, the LCD Enable line was moved to PC7/TOSC2 in software — giving a fully stable display.</a:t>
            </a:r>
            <a:endParaRPr lang="en-US" sz="1150" dirty="0"/>
          </a:p>
        </p:txBody>
      </p:sp>
      <p:sp>
        <p:nvSpPr>
          <p:cNvPr id="27" name="Shape 24"/>
          <p:cNvSpPr/>
          <p:nvPr/>
        </p:nvSpPr>
        <p:spPr>
          <a:xfrm>
            <a:off x="5486400" y="3941064"/>
            <a:ext cx="384048" cy="384048"/>
          </a:xfrm>
          <a:prstGeom prst="ellipse">
            <a:avLst/>
          </a:prstGeom>
          <a:solidFill>
            <a:srgbClr val="E23D28"/>
          </a:solidFill>
          <a:ln/>
        </p:spPr>
      </p:sp>
      <p:sp>
        <p:nvSpPr>
          <p:cNvPr id="28" name="Text 25"/>
          <p:cNvSpPr/>
          <p:nvPr/>
        </p:nvSpPr>
        <p:spPr>
          <a:xfrm>
            <a:off x="5486400" y="3941064"/>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29" name="Text 26"/>
          <p:cNvSpPr/>
          <p:nvPr/>
        </p:nvSpPr>
        <p:spPr>
          <a:xfrm>
            <a:off x="6035040" y="3913632"/>
            <a:ext cx="5623560" cy="320040"/>
          </a:xfrm>
          <a:prstGeom prst="rect">
            <a:avLst/>
          </a:prstGeom>
          <a:noFill/>
          <a:ln/>
        </p:spPr>
        <p:txBody>
          <a:bodyPr wrap="square" lIns="0" tIns="0" rIns="0" bIns="0" rtlCol="0" anchor="ctr"/>
          <a:lstStyle/>
          <a:p>
            <a:pPr indent="0" marL="0">
              <a:buNone/>
            </a:pPr>
            <a:r>
              <a:rPr lang="en-US" sz="1550" b="1" dirty="0">
                <a:solidFill>
                  <a:srgbClr val="141935"/>
                </a:solidFill>
                <a:latin typeface="Cambria" pitchFamily="34" charset="0"/>
                <a:ea typeface="Cambria" pitchFamily="34" charset="-122"/>
                <a:cs typeface="Cambria" pitchFamily="34" charset="-120"/>
              </a:rPr>
              <a:t>PD4–PD7 → LCD D4–D7</a:t>
            </a:r>
            <a:endParaRPr lang="en-US" sz="1550" dirty="0"/>
          </a:p>
        </p:txBody>
      </p:sp>
      <p:sp>
        <p:nvSpPr>
          <p:cNvPr id="30" name="Text 27"/>
          <p:cNvSpPr/>
          <p:nvPr/>
        </p:nvSpPr>
        <p:spPr>
          <a:xfrm>
            <a:off x="6035040" y="4261104"/>
            <a:ext cx="5623560" cy="640080"/>
          </a:xfrm>
          <a:prstGeom prst="rect">
            <a:avLst/>
          </a:prstGeom>
          <a:noFill/>
          <a:ln/>
        </p:spPr>
        <p:txBody>
          <a:bodyPr wrap="square" lIns="0" tIns="0" rIns="0" bIns="0" rtlCol="0" anchor="ctr"/>
          <a:lstStyle/>
          <a:p>
            <a:pPr indent="0" marL="0">
              <a:lnSpc>
                <a:spcPct val="118000"/>
              </a:lnSpc>
              <a:buNone/>
            </a:pPr>
            <a:r>
              <a:rPr lang="en-US" sz="1150" dirty="0">
                <a:solidFill>
                  <a:srgbClr val="3A3F5C"/>
                </a:solidFill>
                <a:latin typeface="Calibri" pitchFamily="34" charset="0"/>
                <a:ea typeface="Calibri" pitchFamily="34" charset="-122"/>
                <a:cs typeface="Calibri" pitchFamily="34" charset="-120"/>
              </a:rPr>
              <a:t>The 4-bit data bus runs on Port D, halving the pin count needed compared to 8-bit mode.</a:t>
            </a:r>
            <a:endParaRPr lang="en-US" sz="1150" dirty="0"/>
          </a:p>
        </p:txBody>
      </p:sp>
      <p:sp>
        <p:nvSpPr>
          <p:cNvPr id="31" name="Shape 28"/>
          <p:cNvSpPr/>
          <p:nvPr/>
        </p:nvSpPr>
        <p:spPr>
          <a:xfrm>
            <a:off x="5486400" y="5020056"/>
            <a:ext cx="384048" cy="384048"/>
          </a:xfrm>
          <a:prstGeom prst="ellipse">
            <a:avLst/>
          </a:prstGeom>
          <a:solidFill>
            <a:srgbClr val="E23D28"/>
          </a:solidFill>
          <a:ln/>
        </p:spPr>
      </p:sp>
      <p:sp>
        <p:nvSpPr>
          <p:cNvPr id="32" name="Text 29"/>
          <p:cNvSpPr/>
          <p:nvPr/>
        </p:nvSpPr>
        <p:spPr>
          <a:xfrm>
            <a:off x="5486400" y="5020056"/>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33" name="Text 30"/>
          <p:cNvSpPr/>
          <p:nvPr/>
        </p:nvSpPr>
        <p:spPr>
          <a:xfrm>
            <a:off x="6035040" y="4992624"/>
            <a:ext cx="5623560" cy="320040"/>
          </a:xfrm>
          <a:prstGeom prst="rect">
            <a:avLst/>
          </a:prstGeom>
          <a:noFill/>
          <a:ln/>
        </p:spPr>
        <p:txBody>
          <a:bodyPr wrap="square" lIns="0" tIns="0" rIns="0" bIns="0" rtlCol="0" anchor="ctr"/>
          <a:lstStyle/>
          <a:p>
            <a:pPr indent="0" marL="0">
              <a:buNone/>
            </a:pPr>
            <a:r>
              <a:rPr lang="en-US" sz="1550" b="1" dirty="0">
                <a:solidFill>
                  <a:srgbClr val="141935"/>
                </a:solidFill>
                <a:latin typeface="Cambria" pitchFamily="34" charset="0"/>
                <a:ea typeface="Cambria" pitchFamily="34" charset="-122"/>
                <a:cs typeface="Cambria" pitchFamily="34" charset="-120"/>
              </a:rPr>
              <a:t>Push-button + 10kΩ pulldown</a:t>
            </a:r>
            <a:endParaRPr lang="en-US" sz="1550" dirty="0"/>
          </a:p>
        </p:txBody>
      </p:sp>
      <p:sp>
        <p:nvSpPr>
          <p:cNvPr id="34" name="Text 31"/>
          <p:cNvSpPr/>
          <p:nvPr/>
        </p:nvSpPr>
        <p:spPr>
          <a:xfrm>
            <a:off x="6035040" y="5340096"/>
            <a:ext cx="5623560" cy="640080"/>
          </a:xfrm>
          <a:prstGeom prst="rect">
            <a:avLst/>
          </a:prstGeom>
          <a:noFill/>
          <a:ln/>
        </p:spPr>
        <p:txBody>
          <a:bodyPr wrap="square" lIns="0" tIns="0" rIns="0" bIns="0" rtlCol="0" anchor="ctr"/>
          <a:lstStyle/>
          <a:p>
            <a:pPr indent="0" marL="0">
              <a:lnSpc>
                <a:spcPct val="118000"/>
              </a:lnSpc>
              <a:buNone/>
            </a:pPr>
            <a:r>
              <a:rPr lang="en-US" sz="1150" dirty="0">
                <a:solidFill>
                  <a:srgbClr val="3A3F5C"/>
                </a:solidFill>
                <a:latin typeface="Calibri" pitchFamily="34" charset="0"/>
                <a:ea typeface="Calibri" pitchFamily="34" charset="-122"/>
                <a:cs typeface="Calibri" pitchFamily="34" charset="-120"/>
              </a:rPr>
              <a:t>Debounced button input used to trigger the dinosaur's jump.</a:t>
            </a:r>
            <a:endParaRPr lang="en-US" sz="1150" dirty="0"/>
          </a:p>
        </p:txBody>
      </p:sp>
      <p:sp>
        <p:nvSpPr>
          <p:cNvPr id="35" name="Text 32"/>
          <p:cNvSpPr/>
          <p:nvPr/>
        </p:nvSpPr>
        <p:spPr>
          <a:xfrm>
            <a:off x="457200" y="6537960"/>
            <a:ext cx="7315200" cy="274320"/>
          </a:xfrm>
          <a:prstGeom prst="rect">
            <a:avLst/>
          </a:prstGeom>
          <a:noFill/>
          <a:ln/>
        </p:spPr>
        <p:txBody>
          <a:bodyPr wrap="square" lIns="0" tIns="0" rIns="0" bIns="0" rtlCol="0" anchor="ctr"/>
          <a:lstStyle/>
          <a:p>
            <a:pPr algn="l" indent="0" marL="0">
              <a:buNone/>
            </a:pPr>
            <a:r>
              <a:rPr lang="en-US" sz="900" dirty="0">
                <a:solidFill>
                  <a:srgbClr val="A9AEC4"/>
                </a:solidFill>
                <a:latin typeface="Calibri" pitchFamily="34" charset="0"/>
                <a:ea typeface="Calibri" pitchFamily="34" charset="-122"/>
                <a:cs typeface="Calibri" pitchFamily="34" charset="-120"/>
              </a:rPr>
              <a:t>Chrome Dinosaur Game on ATmega32  |  Team 1</a:t>
            </a:r>
            <a:endParaRPr lang="en-US" sz="900" dirty="0"/>
          </a:p>
        </p:txBody>
      </p:sp>
      <p:sp>
        <p:nvSpPr>
          <p:cNvPr id="36" name="Text 33"/>
          <p:cNvSpPr/>
          <p:nvPr/>
        </p:nvSpPr>
        <p:spPr>
          <a:xfrm>
            <a:off x="11430000" y="6537960"/>
            <a:ext cx="365760" cy="274320"/>
          </a:xfrm>
          <a:prstGeom prst="rect">
            <a:avLst/>
          </a:prstGeom>
          <a:noFill/>
          <a:ln/>
        </p:spPr>
        <p:txBody>
          <a:bodyPr wrap="square" lIns="0" tIns="0" rIns="0" bIns="0" rtlCol="0" anchor="ctr"/>
          <a:lstStyle/>
          <a:p>
            <a:pPr algn="r" indent="0" marL="0">
              <a:buNone/>
            </a:pPr>
            <a:r>
              <a:rPr lang="en-US" sz="900" dirty="0">
                <a:solidFill>
                  <a:srgbClr val="A9AEC4"/>
                </a:solidFill>
                <a:latin typeface="Calibri" pitchFamily="34" charset="0"/>
                <a:ea typeface="Calibri" pitchFamily="34" charset="-122"/>
                <a:cs typeface="Calibri" pitchFamily="34" charset="-120"/>
              </a:rPr>
              <a:t>4</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7F8FC"/>
        </a:solidFill>
      </p:bgPr>
    </p:bg>
    <p:spTree>
      <p:nvGrpSpPr>
        <p:cNvPr id="1" name=""/>
        <p:cNvGrpSpPr/>
        <p:nvPr/>
      </p:nvGrpSpPr>
      <p:grpSpPr>
        <a:xfrm>
          <a:off x="0" y="0"/>
          <a:ext cx="0" cy="0"/>
          <a:chOff x="0" y="0"/>
          <a:chExt cx="0" cy="0"/>
        </a:xfrm>
      </p:grpSpPr>
      <p:sp>
        <p:nvSpPr>
          <p:cNvPr id="2" name="Text 0"/>
          <p:cNvSpPr/>
          <p:nvPr/>
        </p:nvSpPr>
        <p:spPr>
          <a:xfrm>
            <a:off x="640080" y="457200"/>
            <a:ext cx="9144000" cy="548640"/>
          </a:xfrm>
          <a:prstGeom prst="rect">
            <a:avLst/>
          </a:prstGeom>
          <a:noFill/>
          <a:ln/>
        </p:spPr>
        <p:txBody>
          <a:bodyPr wrap="square" lIns="0" tIns="0" rIns="0" bIns="0" rtlCol="0" anchor="ctr"/>
          <a:lstStyle/>
          <a:p>
            <a:pPr indent="0" marL="0">
              <a:buNone/>
            </a:pPr>
            <a:r>
              <a:rPr lang="en-US" sz="3400" b="1" dirty="0">
                <a:solidFill>
                  <a:srgbClr val="141935"/>
                </a:solidFill>
                <a:latin typeface="Cambria" pitchFamily="34" charset="0"/>
                <a:ea typeface="Cambria" pitchFamily="34" charset="-122"/>
                <a:cs typeface="Cambria" pitchFamily="34" charset="-120"/>
              </a:rPr>
              <a:t>Game Logic Flow</a:t>
            </a:r>
            <a:endParaRPr lang="en-US" sz="3400" dirty="0"/>
          </a:p>
        </p:txBody>
      </p:sp>
      <p:sp>
        <p:nvSpPr>
          <p:cNvPr id="3" name="Text 1"/>
          <p:cNvSpPr/>
          <p:nvPr/>
        </p:nvSpPr>
        <p:spPr>
          <a:xfrm>
            <a:off x="640080" y="1005840"/>
            <a:ext cx="9144000" cy="365760"/>
          </a:xfrm>
          <a:prstGeom prst="rect">
            <a:avLst/>
          </a:prstGeom>
          <a:noFill/>
          <a:ln/>
        </p:spPr>
        <p:txBody>
          <a:bodyPr wrap="square" lIns="0" tIns="0" rIns="0" bIns="0" rtlCol="0" anchor="ctr"/>
          <a:lstStyle/>
          <a:p>
            <a:pPr indent="0" marL="0">
              <a:buNone/>
            </a:pPr>
            <a:r>
              <a:rPr lang="en-US" sz="1400" i="1" dirty="0">
                <a:solidFill>
                  <a:srgbClr val="3A3F5C"/>
                </a:solidFill>
                <a:latin typeface="Calibri" pitchFamily="34" charset="0"/>
                <a:ea typeface="Calibri" pitchFamily="34" charset="-122"/>
                <a:cs typeface="Calibri" pitchFamily="34" charset="-120"/>
              </a:rPr>
              <a:t>A non-blocking super-loop driven by a millisecond timer</a:t>
            </a:r>
            <a:endParaRPr lang="en-US" sz="1400" dirty="0"/>
          </a:p>
        </p:txBody>
      </p:sp>
      <p:sp>
        <p:nvSpPr>
          <p:cNvPr id="4" name="Shape 2"/>
          <p:cNvSpPr/>
          <p:nvPr/>
        </p:nvSpPr>
        <p:spPr>
          <a:xfrm>
            <a:off x="3840480" y="1645920"/>
            <a:ext cx="1463040" cy="384048"/>
          </a:xfrm>
          <a:prstGeom prst="roundRect">
            <a:avLst>
              <a:gd name="adj" fmla="val 71429"/>
            </a:avLst>
          </a:prstGeom>
          <a:solidFill>
            <a:srgbClr val="1E2761"/>
          </a:solidFill>
          <a:ln/>
        </p:spPr>
      </p:sp>
      <p:sp>
        <p:nvSpPr>
          <p:cNvPr id="5" name="Text 3"/>
          <p:cNvSpPr/>
          <p:nvPr/>
        </p:nvSpPr>
        <p:spPr>
          <a:xfrm>
            <a:off x="3931920" y="1645920"/>
            <a:ext cx="1280160" cy="384048"/>
          </a:xfrm>
          <a:prstGeom prst="rect">
            <a:avLst/>
          </a:prstGeom>
          <a:noFill/>
          <a:ln/>
        </p:spPr>
        <p:txBody>
          <a:bodyPr wrap="square" lIns="0" tIns="0" rIns="0" bIns="0" rtlCol="0" anchor="ctr"/>
          <a:lstStyle/>
          <a:p>
            <a:pPr algn="ctr" indent="0" marL="0">
              <a:lnSpc>
                <a:spcPct val="100000"/>
              </a:lnSpc>
              <a:buNone/>
            </a:pPr>
            <a:r>
              <a:rPr lang="en-US" sz="1200" b="1" dirty="0">
                <a:solidFill>
                  <a:srgbClr val="FFFFFF"/>
                </a:solidFill>
                <a:latin typeface="Calibri" pitchFamily="34" charset="0"/>
                <a:ea typeface="Calibri" pitchFamily="34" charset="-122"/>
                <a:cs typeface="Calibri" pitchFamily="34" charset="-120"/>
              </a:rPr>
              <a:t>START</a:t>
            </a:r>
            <a:endParaRPr lang="en-US" sz="1200" dirty="0"/>
          </a:p>
        </p:txBody>
      </p:sp>
      <p:sp>
        <p:nvSpPr>
          <p:cNvPr id="6" name="Shape 4"/>
          <p:cNvSpPr/>
          <p:nvPr/>
        </p:nvSpPr>
        <p:spPr>
          <a:xfrm>
            <a:off x="4572000" y="2029968"/>
            <a:ext cx="0" cy="164592"/>
          </a:xfrm>
          <a:prstGeom prst="line">
            <a:avLst/>
          </a:prstGeom>
          <a:noFill/>
          <a:ln w="25400">
            <a:solidFill>
              <a:srgbClr val="8A90A6"/>
            </a:solidFill>
            <a:prstDash val="solid"/>
            <a:tailEnd type="triangle"/>
          </a:ln>
        </p:spPr>
      </p:sp>
      <p:sp>
        <p:nvSpPr>
          <p:cNvPr id="7" name="Shape 5"/>
          <p:cNvSpPr/>
          <p:nvPr/>
        </p:nvSpPr>
        <p:spPr>
          <a:xfrm>
            <a:off x="3154680" y="2212848"/>
            <a:ext cx="2834640" cy="475488"/>
          </a:xfrm>
          <a:prstGeom prst="rect">
            <a:avLst/>
          </a:prstGeom>
          <a:solidFill>
            <a:srgbClr val="5B8DEF"/>
          </a:solidFill>
          <a:ln/>
        </p:spPr>
      </p:sp>
      <p:sp>
        <p:nvSpPr>
          <p:cNvPr id="8" name="Text 6"/>
          <p:cNvSpPr/>
          <p:nvPr/>
        </p:nvSpPr>
        <p:spPr>
          <a:xfrm>
            <a:off x="3246120" y="2212848"/>
            <a:ext cx="2651760" cy="475488"/>
          </a:xfrm>
          <a:prstGeom prst="rect">
            <a:avLst/>
          </a:prstGeom>
          <a:noFill/>
          <a:ln/>
        </p:spPr>
        <p:txBody>
          <a:bodyPr wrap="square" lIns="0" tIns="0" rIns="0" bIns="0" rtlCol="0" anchor="ctr"/>
          <a:lstStyle/>
          <a:p>
            <a:pPr algn="ctr" indent="0" marL="0">
              <a:lnSpc>
                <a:spcPct val="100000"/>
              </a:lnSpc>
              <a:buNone/>
            </a:pPr>
            <a:r>
              <a:rPr lang="en-US" sz="1150" b="1" dirty="0">
                <a:solidFill>
                  <a:srgbClr val="FFFFFF"/>
                </a:solidFill>
                <a:latin typeface="Calibri" pitchFamily="34" charset="0"/>
                <a:ea typeface="Calibri" pitchFamily="34" charset="-122"/>
                <a:cs typeface="Calibri" pitchFamily="34" charset="-120"/>
              </a:rPr>
              <a:t>Initialize Hardware</a:t>
            </a:r>
            <a:endParaRPr lang="en-US" sz="1150" dirty="0"/>
          </a:p>
          <a:p>
            <a:pPr algn="ctr" indent="0" marL="0">
              <a:lnSpc>
                <a:spcPct val="100000"/>
              </a:lnSpc>
              <a:buNone/>
            </a:pPr>
            <a:r>
              <a:rPr lang="en-US" sz="1150" b="1" dirty="0">
                <a:solidFill>
                  <a:srgbClr val="FFFFFF"/>
                </a:solidFill>
                <a:latin typeface="Calibri" pitchFamily="34" charset="0"/>
                <a:ea typeface="Calibri" pitchFamily="34" charset="-122"/>
                <a:cs typeface="Calibri" pitchFamily="34" charset="-120"/>
              </a:rPr>
              <a:t>(DIO, LCD, Load Custom Characters)</a:t>
            </a:r>
            <a:endParaRPr lang="en-US" sz="1150" dirty="0"/>
          </a:p>
        </p:txBody>
      </p:sp>
      <p:sp>
        <p:nvSpPr>
          <p:cNvPr id="9" name="Shape 7"/>
          <p:cNvSpPr/>
          <p:nvPr/>
        </p:nvSpPr>
        <p:spPr>
          <a:xfrm>
            <a:off x="4572000" y="2688336"/>
            <a:ext cx="0" cy="164592"/>
          </a:xfrm>
          <a:prstGeom prst="line">
            <a:avLst/>
          </a:prstGeom>
          <a:noFill/>
          <a:ln w="25400">
            <a:solidFill>
              <a:srgbClr val="8A90A6"/>
            </a:solidFill>
            <a:prstDash val="solid"/>
            <a:tailEnd type="triangle"/>
          </a:ln>
        </p:spPr>
      </p:sp>
      <p:sp>
        <p:nvSpPr>
          <p:cNvPr id="10" name="Shape 8"/>
          <p:cNvSpPr/>
          <p:nvPr/>
        </p:nvSpPr>
        <p:spPr>
          <a:xfrm>
            <a:off x="3383280" y="2871216"/>
            <a:ext cx="2377440" cy="475488"/>
          </a:xfrm>
          <a:prstGeom prst="parallelogram">
            <a:avLst/>
          </a:prstGeom>
          <a:solidFill>
            <a:srgbClr val="5CE79A"/>
          </a:solidFill>
          <a:ln/>
        </p:spPr>
      </p:sp>
      <p:sp>
        <p:nvSpPr>
          <p:cNvPr id="11" name="Text 9"/>
          <p:cNvSpPr/>
          <p:nvPr/>
        </p:nvSpPr>
        <p:spPr>
          <a:xfrm>
            <a:off x="3474720" y="2871216"/>
            <a:ext cx="2194560" cy="475488"/>
          </a:xfrm>
          <a:prstGeom prst="rect">
            <a:avLst/>
          </a:prstGeom>
          <a:noFill/>
          <a:ln/>
        </p:spPr>
        <p:txBody>
          <a:bodyPr wrap="square" lIns="0" tIns="0" rIns="0" bIns="0" rtlCol="0" anchor="ctr"/>
          <a:lstStyle/>
          <a:p>
            <a:pPr algn="ctr" indent="0" marL="0">
              <a:lnSpc>
                <a:spcPct val="100000"/>
              </a:lnSpc>
              <a:buNone/>
            </a:pPr>
            <a:r>
              <a:rPr lang="en-US" sz="1200" b="1" dirty="0">
                <a:solidFill>
                  <a:srgbClr val="141935"/>
                </a:solidFill>
                <a:latin typeface="Calibri" pitchFamily="34" charset="0"/>
                <a:ea typeface="Calibri" pitchFamily="34" charset="-122"/>
                <a:cs typeface="Calibri" pitchFamily="34" charset="-120"/>
              </a:rPr>
              <a:t>Read Button State</a:t>
            </a:r>
            <a:endParaRPr lang="en-US" sz="1200" dirty="0"/>
          </a:p>
        </p:txBody>
      </p:sp>
      <p:sp>
        <p:nvSpPr>
          <p:cNvPr id="12" name="Shape 10"/>
          <p:cNvSpPr/>
          <p:nvPr/>
        </p:nvSpPr>
        <p:spPr>
          <a:xfrm>
            <a:off x="4572000" y="3346704"/>
            <a:ext cx="0" cy="164592"/>
          </a:xfrm>
          <a:prstGeom prst="line">
            <a:avLst/>
          </a:prstGeom>
          <a:noFill/>
          <a:ln w="25400">
            <a:solidFill>
              <a:srgbClr val="8A90A6"/>
            </a:solidFill>
            <a:prstDash val="solid"/>
            <a:tailEnd type="triangle"/>
          </a:ln>
        </p:spPr>
      </p:sp>
      <p:sp>
        <p:nvSpPr>
          <p:cNvPr id="13" name="Shape 11"/>
          <p:cNvSpPr/>
          <p:nvPr/>
        </p:nvSpPr>
        <p:spPr>
          <a:xfrm>
            <a:off x="3246120" y="3529584"/>
            <a:ext cx="2651760" cy="777240"/>
          </a:xfrm>
          <a:prstGeom prst="diamond">
            <a:avLst/>
          </a:prstGeom>
          <a:solidFill>
            <a:srgbClr val="F2A65A"/>
          </a:solidFill>
          <a:ln/>
        </p:spPr>
      </p:sp>
      <p:sp>
        <p:nvSpPr>
          <p:cNvPr id="14" name="Text 12"/>
          <p:cNvSpPr/>
          <p:nvPr/>
        </p:nvSpPr>
        <p:spPr>
          <a:xfrm>
            <a:off x="3246120" y="3529584"/>
            <a:ext cx="2651760" cy="777240"/>
          </a:xfrm>
          <a:prstGeom prst="rect">
            <a:avLst/>
          </a:prstGeom>
          <a:noFill/>
          <a:ln/>
        </p:spPr>
        <p:txBody>
          <a:bodyPr wrap="square" lIns="0" tIns="0" rIns="0" bIns="0" rtlCol="0" anchor="ctr"/>
          <a:lstStyle/>
          <a:p>
            <a:pPr algn="ctr" indent="0" marL="0">
              <a:buNone/>
            </a:pPr>
            <a:r>
              <a:rPr lang="en-US" sz="1200" b="1" dirty="0">
                <a:solidFill>
                  <a:srgbClr val="141935"/>
                </a:solidFill>
                <a:latin typeface="Calibri" pitchFamily="34" charset="0"/>
                <a:ea typeface="Calibri" pitchFamily="34" charset="-122"/>
                <a:cs typeface="Calibri" pitchFamily="34" charset="-120"/>
              </a:rPr>
              <a:t>Button</a:t>
            </a:r>
            <a:endParaRPr lang="en-US" sz="1200" dirty="0"/>
          </a:p>
          <a:p>
            <a:pPr algn="ctr" indent="0" marL="0">
              <a:buNone/>
            </a:pPr>
            <a:r>
              <a:rPr lang="en-US" sz="1200" b="1" dirty="0">
                <a:solidFill>
                  <a:srgbClr val="141935"/>
                </a:solidFill>
                <a:latin typeface="Calibri" pitchFamily="34" charset="0"/>
                <a:ea typeface="Calibri" pitchFamily="34" charset="-122"/>
                <a:cs typeface="Calibri" pitchFamily="34" charset="-120"/>
              </a:rPr>
              <a:t>Pressed?</a:t>
            </a:r>
            <a:endParaRPr lang="en-US" sz="1200" dirty="0"/>
          </a:p>
        </p:txBody>
      </p:sp>
      <p:sp>
        <p:nvSpPr>
          <p:cNvPr id="15" name="Shape 13"/>
          <p:cNvSpPr/>
          <p:nvPr/>
        </p:nvSpPr>
        <p:spPr>
          <a:xfrm>
            <a:off x="5897880" y="3918204"/>
            <a:ext cx="320040" cy="0"/>
          </a:xfrm>
          <a:prstGeom prst="line">
            <a:avLst/>
          </a:prstGeom>
          <a:noFill/>
          <a:ln w="25400">
            <a:solidFill>
              <a:srgbClr val="8A90A6"/>
            </a:solidFill>
            <a:prstDash val="solid"/>
            <a:tailEnd type="triangle"/>
          </a:ln>
        </p:spPr>
      </p:sp>
      <p:sp>
        <p:nvSpPr>
          <p:cNvPr id="16" name="Text 14"/>
          <p:cNvSpPr/>
          <p:nvPr/>
        </p:nvSpPr>
        <p:spPr>
          <a:xfrm>
            <a:off x="5916168" y="3625596"/>
            <a:ext cx="457200" cy="228600"/>
          </a:xfrm>
          <a:prstGeom prst="rect">
            <a:avLst/>
          </a:prstGeom>
          <a:noFill/>
          <a:ln/>
        </p:spPr>
        <p:txBody>
          <a:bodyPr wrap="square" lIns="0" tIns="0" rIns="0" bIns="0" rtlCol="0" anchor="ctr"/>
          <a:lstStyle/>
          <a:p>
            <a:pPr indent="0" marL="0">
              <a:buNone/>
            </a:pPr>
            <a:r>
              <a:rPr lang="en-US" sz="1050" i="1" dirty="0">
                <a:solidFill>
                  <a:srgbClr val="3A3F5C"/>
                </a:solidFill>
                <a:latin typeface="Calibri" pitchFamily="34" charset="0"/>
                <a:ea typeface="Calibri" pitchFamily="34" charset="-122"/>
                <a:cs typeface="Calibri" pitchFamily="34" charset="-120"/>
              </a:rPr>
              <a:t>Yes</a:t>
            </a:r>
            <a:endParaRPr lang="en-US" sz="1050" dirty="0"/>
          </a:p>
        </p:txBody>
      </p:sp>
      <p:sp>
        <p:nvSpPr>
          <p:cNvPr id="17" name="Shape 15"/>
          <p:cNvSpPr/>
          <p:nvPr/>
        </p:nvSpPr>
        <p:spPr>
          <a:xfrm>
            <a:off x="6217920" y="3698748"/>
            <a:ext cx="1920240" cy="438912"/>
          </a:xfrm>
          <a:prstGeom prst="roundRect">
            <a:avLst>
              <a:gd name="adj" fmla="val 16667"/>
            </a:avLst>
          </a:prstGeom>
          <a:solidFill>
            <a:srgbClr val="1E2761"/>
          </a:solidFill>
          <a:ln/>
        </p:spPr>
      </p:sp>
      <p:sp>
        <p:nvSpPr>
          <p:cNvPr id="18" name="Text 16"/>
          <p:cNvSpPr/>
          <p:nvPr/>
        </p:nvSpPr>
        <p:spPr>
          <a:xfrm>
            <a:off x="6217920" y="3698748"/>
            <a:ext cx="1920240" cy="438912"/>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Trigger Jump Timer</a:t>
            </a:r>
            <a:endParaRPr lang="en-US" sz="1050" dirty="0"/>
          </a:p>
        </p:txBody>
      </p:sp>
      <p:sp>
        <p:nvSpPr>
          <p:cNvPr id="19" name="Shape 17"/>
          <p:cNvSpPr/>
          <p:nvPr/>
        </p:nvSpPr>
        <p:spPr>
          <a:xfrm>
            <a:off x="3246120" y="3918204"/>
            <a:ext cx="-320040" cy="0"/>
          </a:xfrm>
          <a:prstGeom prst="line">
            <a:avLst/>
          </a:prstGeom>
          <a:noFill/>
          <a:ln w="25400">
            <a:solidFill>
              <a:srgbClr val="8A90A6"/>
            </a:solidFill>
            <a:prstDash val="solid"/>
            <a:tailEnd type="triangle"/>
          </a:ln>
        </p:spPr>
      </p:sp>
      <p:sp>
        <p:nvSpPr>
          <p:cNvPr id="20" name="Text 18"/>
          <p:cNvSpPr/>
          <p:nvPr/>
        </p:nvSpPr>
        <p:spPr>
          <a:xfrm>
            <a:off x="1828800" y="3625596"/>
            <a:ext cx="457200" cy="228600"/>
          </a:xfrm>
          <a:prstGeom prst="rect">
            <a:avLst/>
          </a:prstGeom>
          <a:noFill/>
          <a:ln/>
        </p:spPr>
        <p:txBody>
          <a:bodyPr wrap="square" lIns="0" tIns="0" rIns="0" bIns="0" rtlCol="0" anchor="ctr"/>
          <a:lstStyle/>
          <a:p>
            <a:pPr indent="0" marL="0">
              <a:buNone/>
            </a:pPr>
            <a:r>
              <a:rPr lang="en-US" sz="1050" i="1" dirty="0">
                <a:solidFill>
                  <a:srgbClr val="3A3F5C"/>
                </a:solidFill>
                <a:latin typeface="Calibri" pitchFamily="34" charset="0"/>
                <a:ea typeface="Calibri" pitchFamily="34" charset="-122"/>
                <a:cs typeface="Calibri" pitchFamily="34" charset="-120"/>
              </a:rPr>
              <a:t>No</a:t>
            </a:r>
            <a:endParaRPr lang="en-US" sz="1050" dirty="0"/>
          </a:p>
        </p:txBody>
      </p:sp>
      <p:sp>
        <p:nvSpPr>
          <p:cNvPr id="21" name="Shape 19"/>
          <p:cNvSpPr/>
          <p:nvPr/>
        </p:nvSpPr>
        <p:spPr>
          <a:xfrm>
            <a:off x="1188720" y="3698748"/>
            <a:ext cx="1737360" cy="438912"/>
          </a:xfrm>
          <a:prstGeom prst="roundRect">
            <a:avLst>
              <a:gd name="adj" fmla="val 16667"/>
            </a:avLst>
          </a:prstGeom>
          <a:solidFill>
            <a:srgbClr val="8A90A6"/>
          </a:solidFill>
          <a:ln/>
        </p:spPr>
      </p:sp>
      <p:sp>
        <p:nvSpPr>
          <p:cNvPr id="22" name="Text 20"/>
          <p:cNvSpPr/>
          <p:nvPr/>
        </p:nvSpPr>
        <p:spPr>
          <a:xfrm>
            <a:off x="1188720" y="3698748"/>
            <a:ext cx="1737360" cy="438912"/>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Keep on Ground</a:t>
            </a:r>
            <a:endParaRPr lang="en-US" sz="1050" dirty="0"/>
          </a:p>
        </p:txBody>
      </p:sp>
      <p:sp>
        <p:nvSpPr>
          <p:cNvPr id="23" name="Shape 21"/>
          <p:cNvSpPr/>
          <p:nvPr/>
        </p:nvSpPr>
        <p:spPr>
          <a:xfrm>
            <a:off x="4572000" y="4306824"/>
            <a:ext cx="0" cy="164592"/>
          </a:xfrm>
          <a:prstGeom prst="line">
            <a:avLst/>
          </a:prstGeom>
          <a:noFill/>
          <a:ln w="25400">
            <a:solidFill>
              <a:srgbClr val="8A90A6"/>
            </a:solidFill>
            <a:prstDash val="solid"/>
            <a:tailEnd type="triangle"/>
          </a:ln>
        </p:spPr>
      </p:sp>
      <p:sp>
        <p:nvSpPr>
          <p:cNvPr id="24" name="Shape 22"/>
          <p:cNvSpPr/>
          <p:nvPr/>
        </p:nvSpPr>
        <p:spPr>
          <a:xfrm>
            <a:off x="3154680" y="4489704"/>
            <a:ext cx="2834640" cy="475488"/>
          </a:xfrm>
          <a:prstGeom prst="rect">
            <a:avLst/>
          </a:prstGeom>
          <a:solidFill>
            <a:srgbClr val="5B8DEF"/>
          </a:solidFill>
          <a:ln/>
        </p:spPr>
      </p:sp>
      <p:sp>
        <p:nvSpPr>
          <p:cNvPr id="25" name="Text 23"/>
          <p:cNvSpPr/>
          <p:nvPr/>
        </p:nvSpPr>
        <p:spPr>
          <a:xfrm>
            <a:off x="3246120" y="4489704"/>
            <a:ext cx="2651760" cy="475488"/>
          </a:xfrm>
          <a:prstGeom prst="rect">
            <a:avLst/>
          </a:prstGeom>
          <a:noFill/>
          <a:ln/>
        </p:spPr>
        <p:txBody>
          <a:bodyPr wrap="square" lIns="0" tIns="0" rIns="0" bIns="0" rtlCol="0" anchor="ctr"/>
          <a:lstStyle/>
          <a:p>
            <a:pPr algn="ctr" indent="0" marL="0">
              <a:lnSpc>
                <a:spcPct val="100000"/>
              </a:lnSpc>
              <a:buNone/>
            </a:pPr>
            <a:r>
              <a:rPr lang="en-US" sz="1150" b="1" dirty="0">
                <a:solidFill>
                  <a:srgbClr val="FFFFFF"/>
                </a:solidFill>
                <a:latin typeface="Calibri" pitchFamily="34" charset="0"/>
                <a:ea typeface="Calibri" pitchFamily="34" charset="-122"/>
                <a:cs typeface="Calibri" pitchFamily="34" charset="-120"/>
              </a:rPr>
              <a:t>Update Obstacle Position &amp; Score</a:t>
            </a:r>
            <a:endParaRPr lang="en-US" sz="1150" dirty="0"/>
          </a:p>
        </p:txBody>
      </p:sp>
      <p:sp>
        <p:nvSpPr>
          <p:cNvPr id="26" name="Shape 24"/>
          <p:cNvSpPr/>
          <p:nvPr/>
        </p:nvSpPr>
        <p:spPr>
          <a:xfrm>
            <a:off x="4572000" y="4965192"/>
            <a:ext cx="0" cy="164592"/>
          </a:xfrm>
          <a:prstGeom prst="line">
            <a:avLst/>
          </a:prstGeom>
          <a:noFill/>
          <a:ln w="25400">
            <a:solidFill>
              <a:srgbClr val="8A90A6"/>
            </a:solidFill>
            <a:prstDash val="solid"/>
            <a:tailEnd type="triangle"/>
          </a:ln>
        </p:spPr>
      </p:sp>
      <p:sp>
        <p:nvSpPr>
          <p:cNvPr id="27" name="Shape 25"/>
          <p:cNvSpPr/>
          <p:nvPr/>
        </p:nvSpPr>
        <p:spPr>
          <a:xfrm>
            <a:off x="3200400" y="5148072"/>
            <a:ext cx="2743200" cy="777240"/>
          </a:xfrm>
          <a:prstGeom prst="diamond">
            <a:avLst/>
          </a:prstGeom>
          <a:solidFill>
            <a:srgbClr val="F2A65A"/>
          </a:solidFill>
          <a:ln/>
        </p:spPr>
      </p:sp>
      <p:sp>
        <p:nvSpPr>
          <p:cNvPr id="28" name="Text 26"/>
          <p:cNvSpPr/>
          <p:nvPr/>
        </p:nvSpPr>
        <p:spPr>
          <a:xfrm>
            <a:off x="3200400" y="5148072"/>
            <a:ext cx="2743200" cy="777240"/>
          </a:xfrm>
          <a:prstGeom prst="rect">
            <a:avLst/>
          </a:prstGeom>
          <a:noFill/>
          <a:ln/>
        </p:spPr>
        <p:txBody>
          <a:bodyPr wrap="square" lIns="0" tIns="0" rIns="0" bIns="0" rtlCol="0" anchor="ctr"/>
          <a:lstStyle/>
          <a:p>
            <a:pPr algn="ctr" indent="0" marL="0">
              <a:buNone/>
            </a:pPr>
            <a:r>
              <a:rPr lang="en-US" sz="1200" b="1" dirty="0">
                <a:solidFill>
                  <a:srgbClr val="141935"/>
                </a:solidFill>
                <a:latin typeface="Calibri" pitchFamily="34" charset="0"/>
                <a:ea typeface="Calibri" pitchFamily="34" charset="-122"/>
                <a:cs typeface="Calibri" pitchFamily="34" charset="-120"/>
              </a:rPr>
              <a:t>Collision</a:t>
            </a:r>
            <a:endParaRPr lang="en-US" sz="1200" dirty="0"/>
          </a:p>
          <a:p>
            <a:pPr algn="ctr" indent="0" marL="0">
              <a:buNone/>
            </a:pPr>
            <a:r>
              <a:rPr lang="en-US" sz="1200" b="1" dirty="0">
                <a:solidFill>
                  <a:srgbClr val="141935"/>
                </a:solidFill>
                <a:latin typeface="Calibri" pitchFamily="34" charset="0"/>
                <a:ea typeface="Calibri" pitchFamily="34" charset="-122"/>
                <a:cs typeface="Calibri" pitchFamily="34" charset="-120"/>
              </a:rPr>
              <a:t>Detected?</a:t>
            </a:r>
            <a:endParaRPr lang="en-US" sz="1200" dirty="0"/>
          </a:p>
        </p:txBody>
      </p:sp>
      <p:sp>
        <p:nvSpPr>
          <p:cNvPr id="29" name="Shape 27"/>
          <p:cNvSpPr/>
          <p:nvPr/>
        </p:nvSpPr>
        <p:spPr>
          <a:xfrm>
            <a:off x="5943600" y="5536692"/>
            <a:ext cx="274320" cy="0"/>
          </a:xfrm>
          <a:prstGeom prst="line">
            <a:avLst/>
          </a:prstGeom>
          <a:noFill/>
          <a:ln w="25400">
            <a:solidFill>
              <a:srgbClr val="8A90A6"/>
            </a:solidFill>
            <a:prstDash val="solid"/>
            <a:tailEnd type="triangle"/>
          </a:ln>
        </p:spPr>
      </p:sp>
      <p:sp>
        <p:nvSpPr>
          <p:cNvPr id="30" name="Text 28"/>
          <p:cNvSpPr/>
          <p:nvPr/>
        </p:nvSpPr>
        <p:spPr>
          <a:xfrm>
            <a:off x="5961888" y="5244084"/>
            <a:ext cx="457200" cy="228600"/>
          </a:xfrm>
          <a:prstGeom prst="rect">
            <a:avLst/>
          </a:prstGeom>
          <a:noFill/>
          <a:ln/>
        </p:spPr>
        <p:txBody>
          <a:bodyPr wrap="square" lIns="0" tIns="0" rIns="0" bIns="0" rtlCol="0" anchor="ctr"/>
          <a:lstStyle/>
          <a:p>
            <a:pPr indent="0" marL="0">
              <a:buNone/>
            </a:pPr>
            <a:r>
              <a:rPr lang="en-US" sz="1050" i="1" dirty="0">
                <a:solidFill>
                  <a:srgbClr val="3A3F5C"/>
                </a:solidFill>
                <a:latin typeface="Calibri" pitchFamily="34" charset="0"/>
                <a:ea typeface="Calibri" pitchFamily="34" charset="-122"/>
                <a:cs typeface="Calibri" pitchFamily="34" charset="-120"/>
              </a:rPr>
              <a:t>Yes</a:t>
            </a:r>
            <a:endParaRPr lang="en-US" sz="1050" dirty="0"/>
          </a:p>
        </p:txBody>
      </p:sp>
      <p:sp>
        <p:nvSpPr>
          <p:cNvPr id="31" name="Shape 29"/>
          <p:cNvSpPr/>
          <p:nvPr/>
        </p:nvSpPr>
        <p:spPr>
          <a:xfrm>
            <a:off x="6217920" y="5317236"/>
            <a:ext cx="1737360" cy="438912"/>
          </a:xfrm>
          <a:prstGeom prst="roundRect">
            <a:avLst>
              <a:gd name="adj" fmla="val 16667"/>
            </a:avLst>
          </a:prstGeom>
          <a:solidFill>
            <a:srgbClr val="C0392B"/>
          </a:solidFill>
          <a:ln/>
        </p:spPr>
      </p:sp>
      <p:sp>
        <p:nvSpPr>
          <p:cNvPr id="32" name="Text 30"/>
          <p:cNvSpPr/>
          <p:nvPr/>
        </p:nvSpPr>
        <p:spPr>
          <a:xfrm>
            <a:off x="6217920" y="5317236"/>
            <a:ext cx="1737360" cy="438912"/>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Game Over &amp; Reset</a:t>
            </a:r>
            <a:endParaRPr lang="en-US" sz="1000" dirty="0"/>
          </a:p>
        </p:txBody>
      </p:sp>
      <p:sp>
        <p:nvSpPr>
          <p:cNvPr id="33" name="Shape 31"/>
          <p:cNvSpPr/>
          <p:nvPr/>
        </p:nvSpPr>
        <p:spPr>
          <a:xfrm>
            <a:off x="2743200" y="5536692"/>
            <a:ext cx="457200" cy="0"/>
          </a:xfrm>
          <a:prstGeom prst="line">
            <a:avLst/>
          </a:prstGeom>
          <a:noFill/>
          <a:ln w="25400">
            <a:solidFill>
              <a:srgbClr val="8A90A6"/>
            </a:solidFill>
            <a:prstDash val="solid"/>
          </a:ln>
        </p:spPr>
      </p:sp>
      <p:sp>
        <p:nvSpPr>
          <p:cNvPr id="34" name="Shape 32"/>
          <p:cNvSpPr/>
          <p:nvPr/>
        </p:nvSpPr>
        <p:spPr>
          <a:xfrm>
            <a:off x="2743200" y="3429000"/>
            <a:ext cx="0" cy="2107692"/>
          </a:xfrm>
          <a:prstGeom prst="line">
            <a:avLst/>
          </a:prstGeom>
          <a:noFill/>
          <a:ln w="25400">
            <a:solidFill>
              <a:srgbClr val="8A90A6"/>
            </a:solidFill>
            <a:prstDash val="solid"/>
            <a:tailEnd type="triangle"/>
          </a:ln>
        </p:spPr>
      </p:sp>
      <p:sp>
        <p:nvSpPr>
          <p:cNvPr id="35" name="Shape 33"/>
          <p:cNvSpPr/>
          <p:nvPr/>
        </p:nvSpPr>
        <p:spPr>
          <a:xfrm>
            <a:off x="2743200" y="3429000"/>
            <a:ext cx="640080" cy="0"/>
          </a:xfrm>
          <a:prstGeom prst="line">
            <a:avLst/>
          </a:prstGeom>
          <a:noFill/>
          <a:ln w="25400">
            <a:solidFill>
              <a:srgbClr val="8A90A6"/>
            </a:solidFill>
            <a:prstDash val="solid"/>
            <a:tailEnd type="triangle"/>
          </a:ln>
        </p:spPr>
      </p:sp>
      <p:sp>
        <p:nvSpPr>
          <p:cNvPr id="36" name="Text 34"/>
          <p:cNvSpPr/>
          <p:nvPr/>
        </p:nvSpPr>
        <p:spPr>
          <a:xfrm>
            <a:off x="1691640" y="4363974"/>
            <a:ext cx="1005840" cy="228600"/>
          </a:xfrm>
          <a:prstGeom prst="rect">
            <a:avLst/>
          </a:prstGeom>
          <a:noFill/>
          <a:ln/>
        </p:spPr>
        <p:txBody>
          <a:bodyPr wrap="square" lIns="0" tIns="0" rIns="0" bIns="0" rtlCol="0" anchor="ctr"/>
          <a:lstStyle/>
          <a:p>
            <a:pPr algn="r" indent="0" marL="0">
              <a:buNone/>
            </a:pPr>
            <a:r>
              <a:rPr lang="en-US" sz="1000" i="1" dirty="0">
                <a:solidFill>
                  <a:srgbClr val="3A3F5C"/>
                </a:solidFill>
                <a:latin typeface="Calibri" pitchFamily="34" charset="0"/>
                <a:ea typeface="Calibri" pitchFamily="34" charset="-122"/>
                <a:cs typeface="Calibri" pitchFamily="34" charset="-120"/>
              </a:rPr>
              <a:t>No, loop back</a:t>
            </a:r>
            <a:endParaRPr lang="en-US" sz="1000" dirty="0"/>
          </a:p>
        </p:txBody>
      </p:sp>
      <p:sp>
        <p:nvSpPr>
          <p:cNvPr id="37" name="Text 35"/>
          <p:cNvSpPr/>
          <p:nvPr/>
        </p:nvSpPr>
        <p:spPr>
          <a:xfrm>
            <a:off x="457200" y="6537960"/>
            <a:ext cx="7315200" cy="274320"/>
          </a:xfrm>
          <a:prstGeom prst="rect">
            <a:avLst/>
          </a:prstGeom>
          <a:noFill/>
          <a:ln/>
        </p:spPr>
        <p:txBody>
          <a:bodyPr wrap="square" lIns="0" tIns="0" rIns="0" bIns="0" rtlCol="0" anchor="ctr"/>
          <a:lstStyle/>
          <a:p>
            <a:pPr algn="l" indent="0" marL="0">
              <a:buNone/>
            </a:pPr>
            <a:r>
              <a:rPr lang="en-US" sz="900" dirty="0">
                <a:solidFill>
                  <a:srgbClr val="A9AEC4"/>
                </a:solidFill>
                <a:latin typeface="Calibri" pitchFamily="34" charset="0"/>
                <a:ea typeface="Calibri" pitchFamily="34" charset="-122"/>
                <a:cs typeface="Calibri" pitchFamily="34" charset="-120"/>
              </a:rPr>
              <a:t>Chrome Dinosaur Game on ATmega32  |  Team 1</a:t>
            </a:r>
            <a:endParaRPr lang="en-US" sz="900" dirty="0"/>
          </a:p>
        </p:txBody>
      </p:sp>
      <p:sp>
        <p:nvSpPr>
          <p:cNvPr id="38" name="Text 36"/>
          <p:cNvSpPr/>
          <p:nvPr/>
        </p:nvSpPr>
        <p:spPr>
          <a:xfrm>
            <a:off x="11430000" y="6537960"/>
            <a:ext cx="365760" cy="274320"/>
          </a:xfrm>
          <a:prstGeom prst="rect">
            <a:avLst/>
          </a:prstGeom>
          <a:noFill/>
          <a:ln/>
        </p:spPr>
        <p:txBody>
          <a:bodyPr wrap="square" lIns="0" tIns="0" rIns="0" bIns="0" rtlCol="0" anchor="ctr"/>
          <a:lstStyle/>
          <a:p>
            <a:pPr algn="r" indent="0" marL="0">
              <a:buNone/>
            </a:pPr>
            <a:r>
              <a:rPr lang="en-US" sz="900" dirty="0">
                <a:solidFill>
                  <a:srgbClr val="A9AEC4"/>
                </a:solidFill>
                <a:latin typeface="Calibri" pitchFamily="34" charset="0"/>
                <a:ea typeface="Calibri" pitchFamily="34" charset="-122"/>
                <a:cs typeface="Calibri" pitchFamily="34" charset="-120"/>
              </a:rPr>
              <a:t>5</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7F8FC"/>
        </a:solidFill>
      </p:bgPr>
    </p:bg>
    <p:spTree>
      <p:nvGrpSpPr>
        <p:cNvPr id="1" name=""/>
        <p:cNvGrpSpPr/>
        <p:nvPr/>
      </p:nvGrpSpPr>
      <p:grpSpPr>
        <a:xfrm>
          <a:off x="0" y="0"/>
          <a:ext cx="0" cy="0"/>
          <a:chOff x="0" y="0"/>
          <a:chExt cx="0" cy="0"/>
        </a:xfrm>
      </p:grpSpPr>
      <p:sp>
        <p:nvSpPr>
          <p:cNvPr id="2" name="Text 0"/>
          <p:cNvSpPr/>
          <p:nvPr/>
        </p:nvSpPr>
        <p:spPr>
          <a:xfrm>
            <a:off x="640080" y="502920"/>
            <a:ext cx="9144000" cy="548640"/>
          </a:xfrm>
          <a:prstGeom prst="rect">
            <a:avLst/>
          </a:prstGeom>
          <a:noFill/>
          <a:ln/>
        </p:spPr>
        <p:txBody>
          <a:bodyPr wrap="square" lIns="0" tIns="0" rIns="0" bIns="0" rtlCol="0" anchor="ctr"/>
          <a:lstStyle/>
          <a:p>
            <a:pPr indent="0" marL="0">
              <a:buNone/>
            </a:pPr>
            <a:r>
              <a:rPr lang="en-US" sz="3200" b="1" dirty="0">
                <a:solidFill>
                  <a:srgbClr val="141935"/>
                </a:solidFill>
                <a:latin typeface="Cambria" pitchFamily="34" charset="0"/>
                <a:ea typeface="Cambria" pitchFamily="34" charset="-122"/>
                <a:cs typeface="Cambria" pitchFamily="34" charset="-120"/>
              </a:rPr>
              <a:t>Custom Characters (CGRAM)</a:t>
            </a:r>
            <a:endParaRPr lang="en-US" sz="3200" dirty="0"/>
          </a:p>
        </p:txBody>
      </p:sp>
      <p:sp>
        <p:nvSpPr>
          <p:cNvPr id="3" name="Text 1"/>
          <p:cNvSpPr/>
          <p:nvPr/>
        </p:nvSpPr>
        <p:spPr>
          <a:xfrm>
            <a:off x="640080" y="1051560"/>
            <a:ext cx="9144000" cy="365760"/>
          </a:xfrm>
          <a:prstGeom prst="rect">
            <a:avLst/>
          </a:prstGeom>
          <a:noFill/>
          <a:ln/>
        </p:spPr>
        <p:txBody>
          <a:bodyPr wrap="square" lIns="0" tIns="0" rIns="0" bIns="0" rtlCol="0" anchor="ctr"/>
          <a:lstStyle/>
          <a:p>
            <a:pPr indent="0" marL="0">
              <a:buNone/>
            </a:pPr>
            <a:r>
              <a:rPr lang="en-US" sz="1400" i="1" dirty="0">
                <a:solidFill>
                  <a:srgbClr val="3A3F5C"/>
                </a:solidFill>
                <a:latin typeface="Calibri" pitchFamily="34" charset="0"/>
                <a:ea typeface="Calibri" pitchFamily="34" charset="-122"/>
                <a:cs typeface="Calibri" pitchFamily="34" charset="-120"/>
              </a:rPr>
              <a:t>Drawing sprites pixel-by-pixel inside the LCD's character memory</a:t>
            </a:r>
            <a:endParaRPr lang="en-US" sz="1400" dirty="0"/>
          </a:p>
        </p:txBody>
      </p:sp>
      <p:sp>
        <p:nvSpPr>
          <p:cNvPr id="4" name="Shape 2"/>
          <p:cNvSpPr/>
          <p:nvPr/>
        </p:nvSpPr>
        <p:spPr>
          <a:xfrm>
            <a:off x="804672" y="1993392"/>
            <a:ext cx="2139696" cy="3291840"/>
          </a:xfrm>
          <a:prstGeom prst="rect">
            <a:avLst>
              <a:gd name="adj" fmla="val 2137"/>
            </a:avLst>
          </a:prstGeom>
          <a:solidFill>
            <a:srgbClr val="0E3B2E"/>
          </a:solidFill>
          <a:ln/>
        </p:spPr>
      </p:sp>
      <p:sp>
        <p:nvSpPr>
          <p:cNvPr id="5" name="Shape 3"/>
          <p:cNvSpPr/>
          <p:nvPr/>
        </p:nvSpPr>
        <p:spPr>
          <a:xfrm>
            <a:off x="914400" y="2103120"/>
            <a:ext cx="356616" cy="356616"/>
          </a:xfrm>
          <a:prstGeom prst="rect">
            <a:avLst/>
          </a:prstGeom>
          <a:solidFill>
            <a:srgbClr val="16523F"/>
          </a:solidFill>
          <a:ln/>
        </p:spPr>
      </p:sp>
      <p:sp>
        <p:nvSpPr>
          <p:cNvPr id="6" name="Shape 4"/>
          <p:cNvSpPr/>
          <p:nvPr/>
        </p:nvSpPr>
        <p:spPr>
          <a:xfrm>
            <a:off x="1298448" y="2103120"/>
            <a:ext cx="356616" cy="356616"/>
          </a:xfrm>
          <a:prstGeom prst="rect">
            <a:avLst/>
          </a:prstGeom>
          <a:solidFill>
            <a:srgbClr val="5CE79A"/>
          </a:solidFill>
          <a:ln/>
        </p:spPr>
      </p:sp>
      <p:sp>
        <p:nvSpPr>
          <p:cNvPr id="7" name="Shape 5"/>
          <p:cNvSpPr/>
          <p:nvPr/>
        </p:nvSpPr>
        <p:spPr>
          <a:xfrm>
            <a:off x="1682496" y="2103120"/>
            <a:ext cx="356616" cy="356616"/>
          </a:xfrm>
          <a:prstGeom prst="rect">
            <a:avLst/>
          </a:prstGeom>
          <a:solidFill>
            <a:srgbClr val="5CE79A"/>
          </a:solidFill>
          <a:ln/>
        </p:spPr>
      </p:sp>
      <p:sp>
        <p:nvSpPr>
          <p:cNvPr id="8" name="Shape 6"/>
          <p:cNvSpPr/>
          <p:nvPr/>
        </p:nvSpPr>
        <p:spPr>
          <a:xfrm>
            <a:off x="2066544" y="2103120"/>
            <a:ext cx="356616" cy="356616"/>
          </a:xfrm>
          <a:prstGeom prst="rect">
            <a:avLst/>
          </a:prstGeom>
          <a:solidFill>
            <a:srgbClr val="16523F"/>
          </a:solidFill>
          <a:ln/>
        </p:spPr>
      </p:sp>
      <p:sp>
        <p:nvSpPr>
          <p:cNvPr id="9" name="Shape 7"/>
          <p:cNvSpPr/>
          <p:nvPr/>
        </p:nvSpPr>
        <p:spPr>
          <a:xfrm>
            <a:off x="2450592" y="2103120"/>
            <a:ext cx="356616" cy="356616"/>
          </a:xfrm>
          <a:prstGeom prst="rect">
            <a:avLst/>
          </a:prstGeom>
          <a:solidFill>
            <a:srgbClr val="16523F"/>
          </a:solidFill>
          <a:ln/>
        </p:spPr>
      </p:sp>
      <p:sp>
        <p:nvSpPr>
          <p:cNvPr id="10" name="Shape 8"/>
          <p:cNvSpPr/>
          <p:nvPr/>
        </p:nvSpPr>
        <p:spPr>
          <a:xfrm>
            <a:off x="914400" y="2487168"/>
            <a:ext cx="356616" cy="356616"/>
          </a:xfrm>
          <a:prstGeom prst="rect">
            <a:avLst/>
          </a:prstGeom>
          <a:solidFill>
            <a:srgbClr val="5CE79A"/>
          </a:solidFill>
          <a:ln/>
        </p:spPr>
      </p:sp>
      <p:sp>
        <p:nvSpPr>
          <p:cNvPr id="11" name="Shape 9"/>
          <p:cNvSpPr/>
          <p:nvPr/>
        </p:nvSpPr>
        <p:spPr>
          <a:xfrm>
            <a:off x="1298448" y="2487168"/>
            <a:ext cx="356616" cy="356616"/>
          </a:xfrm>
          <a:prstGeom prst="rect">
            <a:avLst/>
          </a:prstGeom>
          <a:solidFill>
            <a:srgbClr val="5CE79A"/>
          </a:solidFill>
          <a:ln/>
        </p:spPr>
      </p:sp>
      <p:sp>
        <p:nvSpPr>
          <p:cNvPr id="12" name="Shape 10"/>
          <p:cNvSpPr/>
          <p:nvPr/>
        </p:nvSpPr>
        <p:spPr>
          <a:xfrm>
            <a:off x="1682496" y="2487168"/>
            <a:ext cx="356616" cy="356616"/>
          </a:xfrm>
          <a:prstGeom prst="rect">
            <a:avLst/>
          </a:prstGeom>
          <a:solidFill>
            <a:srgbClr val="5CE79A"/>
          </a:solidFill>
          <a:ln/>
        </p:spPr>
      </p:sp>
      <p:sp>
        <p:nvSpPr>
          <p:cNvPr id="13" name="Shape 11"/>
          <p:cNvSpPr/>
          <p:nvPr/>
        </p:nvSpPr>
        <p:spPr>
          <a:xfrm>
            <a:off x="2066544" y="2487168"/>
            <a:ext cx="356616" cy="356616"/>
          </a:xfrm>
          <a:prstGeom prst="rect">
            <a:avLst/>
          </a:prstGeom>
          <a:solidFill>
            <a:srgbClr val="5CE79A"/>
          </a:solidFill>
          <a:ln/>
        </p:spPr>
      </p:sp>
      <p:sp>
        <p:nvSpPr>
          <p:cNvPr id="14" name="Shape 12"/>
          <p:cNvSpPr/>
          <p:nvPr/>
        </p:nvSpPr>
        <p:spPr>
          <a:xfrm>
            <a:off x="2450592" y="2487168"/>
            <a:ext cx="356616" cy="356616"/>
          </a:xfrm>
          <a:prstGeom prst="rect">
            <a:avLst/>
          </a:prstGeom>
          <a:solidFill>
            <a:srgbClr val="16523F"/>
          </a:solidFill>
          <a:ln/>
        </p:spPr>
      </p:sp>
      <p:sp>
        <p:nvSpPr>
          <p:cNvPr id="15" name="Shape 13"/>
          <p:cNvSpPr/>
          <p:nvPr/>
        </p:nvSpPr>
        <p:spPr>
          <a:xfrm>
            <a:off x="914400" y="2871216"/>
            <a:ext cx="356616" cy="356616"/>
          </a:xfrm>
          <a:prstGeom prst="rect">
            <a:avLst/>
          </a:prstGeom>
          <a:solidFill>
            <a:srgbClr val="5CE79A"/>
          </a:solidFill>
          <a:ln/>
        </p:spPr>
      </p:sp>
      <p:sp>
        <p:nvSpPr>
          <p:cNvPr id="16" name="Shape 14"/>
          <p:cNvSpPr/>
          <p:nvPr/>
        </p:nvSpPr>
        <p:spPr>
          <a:xfrm>
            <a:off x="1298448" y="2871216"/>
            <a:ext cx="356616" cy="356616"/>
          </a:xfrm>
          <a:prstGeom prst="rect">
            <a:avLst/>
          </a:prstGeom>
          <a:solidFill>
            <a:srgbClr val="5CE79A"/>
          </a:solidFill>
          <a:ln/>
        </p:spPr>
      </p:sp>
      <p:sp>
        <p:nvSpPr>
          <p:cNvPr id="17" name="Shape 15"/>
          <p:cNvSpPr/>
          <p:nvPr/>
        </p:nvSpPr>
        <p:spPr>
          <a:xfrm>
            <a:off x="1682496" y="2871216"/>
            <a:ext cx="356616" cy="356616"/>
          </a:xfrm>
          <a:prstGeom prst="rect">
            <a:avLst/>
          </a:prstGeom>
          <a:solidFill>
            <a:srgbClr val="5CE79A"/>
          </a:solidFill>
          <a:ln/>
        </p:spPr>
      </p:sp>
      <p:sp>
        <p:nvSpPr>
          <p:cNvPr id="18" name="Shape 16"/>
          <p:cNvSpPr/>
          <p:nvPr/>
        </p:nvSpPr>
        <p:spPr>
          <a:xfrm>
            <a:off x="2066544" y="2871216"/>
            <a:ext cx="356616" cy="356616"/>
          </a:xfrm>
          <a:prstGeom prst="rect">
            <a:avLst/>
          </a:prstGeom>
          <a:solidFill>
            <a:srgbClr val="5CE79A"/>
          </a:solidFill>
          <a:ln/>
        </p:spPr>
      </p:sp>
      <p:sp>
        <p:nvSpPr>
          <p:cNvPr id="19" name="Shape 17"/>
          <p:cNvSpPr/>
          <p:nvPr/>
        </p:nvSpPr>
        <p:spPr>
          <a:xfrm>
            <a:off x="2450592" y="2871216"/>
            <a:ext cx="356616" cy="356616"/>
          </a:xfrm>
          <a:prstGeom prst="rect">
            <a:avLst/>
          </a:prstGeom>
          <a:solidFill>
            <a:srgbClr val="5CE79A"/>
          </a:solidFill>
          <a:ln/>
        </p:spPr>
      </p:sp>
      <p:sp>
        <p:nvSpPr>
          <p:cNvPr id="20" name="Shape 18"/>
          <p:cNvSpPr/>
          <p:nvPr/>
        </p:nvSpPr>
        <p:spPr>
          <a:xfrm>
            <a:off x="914400" y="3255264"/>
            <a:ext cx="356616" cy="356616"/>
          </a:xfrm>
          <a:prstGeom prst="rect">
            <a:avLst/>
          </a:prstGeom>
          <a:solidFill>
            <a:srgbClr val="5CE79A"/>
          </a:solidFill>
          <a:ln/>
        </p:spPr>
      </p:sp>
      <p:sp>
        <p:nvSpPr>
          <p:cNvPr id="21" name="Shape 19"/>
          <p:cNvSpPr/>
          <p:nvPr/>
        </p:nvSpPr>
        <p:spPr>
          <a:xfrm>
            <a:off x="1298448" y="3255264"/>
            <a:ext cx="356616" cy="356616"/>
          </a:xfrm>
          <a:prstGeom prst="rect">
            <a:avLst/>
          </a:prstGeom>
          <a:solidFill>
            <a:srgbClr val="5CE79A"/>
          </a:solidFill>
          <a:ln/>
        </p:spPr>
      </p:sp>
      <p:sp>
        <p:nvSpPr>
          <p:cNvPr id="22" name="Shape 20"/>
          <p:cNvSpPr/>
          <p:nvPr/>
        </p:nvSpPr>
        <p:spPr>
          <a:xfrm>
            <a:off x="1682496" y="3255264"/>
            <a:ext cx="356616" cy="356616"/>
          </a:xfrm>
          <a:prstGeom prst="rect">
            <a:avLst/>
          </a:prstGeom>
          <a:solidFill>
            <a:srgbClr val="5CE79A"/>
          </a:solidFill>
          <a:ln/>
        </p:spPr>
      </p:sp>
      <p:sp>
        <p:nvSpPr>
          <p:cNvPr id="23" name="Shape 21"/>
          <p:cNvSpPr/>
          <p:nvPr/>
        </p:nvSpPr>
        <p:spPr>
          <a:xfrm>
            <a:off x="2066544" y="3255264"/>
            <a:ext cx="356616" cy="356616"/>
          </a:xfrm>
          <a:prstGeom prst="rect">
            <a:avLst/>
          </a:prstGeom>
          <a:solidFill>
            <a:srgbClr val="5CE79A"/>
          </a:solidFill>
          <a:ln/>
        </p:spPr>
      </p:sp>
      <p:sp>
        <p:nvSpPr>
          <p:cNvPr id="24" name="Shape 22"/>
          <p:cNvSpPr/>
          <p:nvPr/>
        </p:nvSpPr>
        <p:spPr>
          <a:xfrm>
            <a:off x="2450592" y="3255264"/>
            <a:ext cx="356616" cy="356616"/>
          </a:xfrm>
          <a:prstGeom prst="rect">
            <a:avLst/>
          </a:prstGeom>
          <a:solidFill>
            <a:srgbClr val="5CE79A"/>
          </a:solidFill>
          <a:ln/>
        </p:spPr>
      </p:sp>
      <p:sp>
        <p:nvSpPr>
          <p:cNvPr id="25" name="Shape 23"/>
          <p:cNvSpPr/>
          <p:nvPr/>
        </p:nvSpPr>
        <p:spPr>
          <a:xfrm>
            <a:off x="914400" y="3639312"/>
            <a:ext cx="356616" cy="356616"/>
          </a:xfrm>
          <a:prstGeom prst="rect">
            <a:avLst/>
          </a:prstGeom>
          <a:solidFill>
            <a:srgbClr val="16523F"/>
          </a:solidFill>
          <a:ln/>
        </p:spPr>
      </p:sp>
      <p:sp>
        <p:nvSpPr>
          <p:cNvPr id="26" name="Shape 24"/>
          <p:cNvSpPr/>
          <p:nvPr/>
        </p:nvSpPr>
        <p:spPr>
          <a:xfrm>
            <a:off x="1298448" y="3639312"/>
            <a:ext cx="356616" cy="356616"/>
          </a:xfrm>
          <a:prstGeom prst="rect">
            <a:avLst/>
          </a:prstGeom>
          <a:solidFill>
            <a:srgbClr val="5CE79A"/>
          </a:solidFill>
          <a:ln/>
        </p:spPr>
      </p:sp>
      <p:sp>
        <p:nvSpPr>
          <p:cNvPr id="27" name="Shape 25"/>
          <p:cNvSpPr/>
          <p:nvPr/>
        </p:nvSpPr>
        <p:spPr>
          <a:xfrm>
            <a:off x="1682496" y="3639312"/>
            <a:ext cx="356616" cy="356616"/>
          </a:xfrm>
          <a:prstGeom prst="rect">
            <a:avLst/>
          </a:prstGeom>
          <a:solidFill>
            <a:srgbClr val="5CE79A"/>
          </a:solidFill>
          <a:ln/>
        </p:spPr>
      </p:sp>
      <p:sp>
        <p:nvSpPr>
          <p:cNvPr id="28" name="Shape 26"/>
          <p:cNvSpPr/>
          <p:nvPr/>
        </p:nvSpPr>
        <p:spPr>
          <a:xfrm>
            <a:off x="2066544" y="3639312"/>
            <a:ext cx="356616" cy="356616"/>
          </a:xfrm>
          <a:prstGeom prst="rect">
            <a:avLst/>
          </a:prstGeom>
          <a:solidFill>
            <a:srgbClr val="5CE79A"/>
          </a:solidFill>
          <a:ln/>
        </p:spPr>
      </p:sp>
      <p:sp>
        <p:nvSpPr>
          <p:cNvPr id="29" name="Shape 27"/>
          <p:cNvSpPr/>
          <p:nvPr/>
        </p:nvSpPr>
        <p:spPr>
          <a:xfrm>
            <a:off x="2450592" y="3639312"/>
            <a:ext cx="356616" cy="356616"/>
          </a:xfrm>
          <a:prstGeom prst="rect">
            <a:avLst/>
          </a:prstGeom>
          <a:solidFill>
            <a:srgbClr val="16523F"/>
          </a:solidFill>
          <a:ln/>
        </p:spPr>
      </p:sp>
      <p:sp>
        <p:nvSpPr>
          <p:cNvPr id="30" name="Shape 28"/>
          <p:cNvSpPr/>
          <p:nvPr/>
        </p:nvSpPr>
        <p:spPr>
          <a:xfrm>
            <a:off x="914400" y="4023360"/>
            <a:ext cx="356616" cy="356616"/>
          </a:xfrm>
          <a:prstGeom prst="rect">
            <a:avLst/>
          </a:prstGeom>
          <a:solidFill>
            <a:srgbClr val="16523F"/>
          </a:solidFill>
          <a:ln/>
        </p:spPr>
      </p:sp>
      <p:sp>
        <p:nvSpPr>
          <p:cNvPr id="31" name="Shape 29"/>
          <p:cNvSpPr/>
          <p:nvPr/>
        </p:nvSpPr>
        <p:spPr>
          <a:xfrm>
            <a:off x="1298448" y="4023360"/>
            <a:ext cx="356616" cy="356616"/>
          </a:xfrm>
          <a:prstGeom prst="rect">
            <a:avLst/>
          </a:prstGeom>
          <a:solidFill>
            <a:srgbClr val="16523F"/>
          </a:solidFill>
          <a:ln/>
        </p:spPr>
      </p:sp>
      <p:sp>
        <p:nvSpPr>
          <p:cNvPr id="32" name="Shape 30"/>
          <p:cNvSpPr/>
          <p:nvPr/>
        </p:nvSpPr>
        <p:spPr>
          <a:xfrm>
            <a:off x="1682496" y="4023360"/>
            <a:ext cx="356616" cy="356616"/>
          </a:xfrm>
          <a:prstGeom prst="rect">
            <a:avLst/>
          </a:prstGeom>
          <a:solidFill>
            <a:srgbClr val="5CE79A"/>
          </a:solidFill>
          <a:ln/>
        </p:spPr>
      </p:sp>
      <p:sp>
        <p:nvSpPr>
          <p:cNvPr id="33" name="Shape 31"/>
          <p:cNvSpPr/>
          <p:nvPr/>
        </p:nvSpPr>
        <p:spPr>
          <a:xfrm>
            <a:off x="2066544" y="4023360"/>
            <a:ext cx="356616" cy="356616"/>
          </a:xfrm>
          <a:prstGeom prst="rect">
            <a:avLst/>
          </a:prstGeom>
          <a:solidFill>
            <a:srgbClr val="16523F"/>
          </a:solidFill>
          <a:ln/>
        </p:spPr>
      </p:sp>
      <p:sp>
        <p:nvSpPr>
          <p:cNvPr id="34" name="Shape 32"/>
          <p:cNvSpPr/>
          <p:nvPr/>
        </p:nvSpPr>
        <p:spPr>
          <a:xfrm>
            <a:off x="2450592" y="4023360"/>
            <a:ext cx="356616" cy="356616"/>
          </a:xfrm>
          <a:prstGeom prst="rect">
            <a:avLst/>
          </a:prstGeom>
          <a:solidFill>
            <a:srgbClr val="16523F"/>
          </a:solidFill>
          <a:ln/>
        </p:spPr>
      </p:sp>
      <p:sp>
        <p:nvSpPr>
          <p:cNvPr id="35" name="Shape 33"/>
          <p:cNvSpPr/>
          <p:nvPr/>
        </p:nvSpPr>
        <p:spPr>
          <a:xfrm>
            <a:off x="914400" y="4407408"/>
            <a:ext cx="356616" cy="356616"/>
          </a:xfrm>
          <a:prstGeom prst="rect">
            <a:avLst/>
          </a:prstGeom>
          <a:solidFill>
            <a:srgbClr val="16523F"/>
          </a:solidFill>
          <a:ln/>
        </p:spPr>
      </p:sp>
      <p:sp>
        <p:nvSpPr>
          <p:cNvPr id="36" name="Shape 34"/>
          <p:cNvSpPr/>
          <p:nvPr/>
        </p:nvSpPr>
        <p:spPr>
          <a:xfrm>
            <a:off x="1298448" y="4407408"/>
            <a:ext cx="356616" cy="356616"/>
          </a:xfrm>
          <a:prstGeom prst="rect">
            <a:avLst/>
          </a:prstGeom>
          <a:solidFill>
            <a:srgbClr val="5CE79A"/>
          </a:solidFill>
          <a:ln/>
        </p:spPr>
      </p:sp>
      <p:sp>
        <p:nvSpPr>
          <p:cNvPr id="37" name="Shape 35"/>
          <p:cNvSpPr/>
          <p:nvPr/>
        </p:nvSpPr>
        <p:spPr>
          <a:xfrm>
            <a:off x="1682496" y="4407408"/>
            <a:ext cx="356616" cy="356616"/>
          </a:xfrm>
          <a:prstGeom prst="rect">
            <a:avLst/>
          </a:prstGeom>
          <a:solidFill>
            <a:srgbClr val="5CE79A"/>
          </a:solidFill>
          <a:ln/>
        </p:spPr>
      </p:sp>
      <p:sp>
        <p:nvSpPr>
          <p:cNvPr id="38" name="Shape 36"/>
          <p:cNvSpPr/>
          <p:nvPr/>
        </p:nvSpPr>
        <p:spPr>
          <a:xfrm>
            <a:off x="2066544" y="4407408"/>
            <a:ext cx="356616" cy="356616"/>
          </a:xfrm>
          <a:prstGeom prst="rect">
            <a:avLst/>
          </a:prstGeom>
          <a:solidFill>
            <a:srgbClr val="5CE79A"/>
          </a:solidFill>
          <a:ln/>
        </p:spPr>
      </p:sp>
      <p:sp>
        <p:nvSpPr>
          <p:cNvPr id="39" name="Shape 37"/>
          <p:cNvSpPr/>
          <p:nvPr/>
        </p:nvSpPr>
        <p:spPr>
          <a:xfrm>
            <a:off x="2450592" y="4407408"/>
            <a:ext cx="356616" cy="356616"/>
          </a:xfrm>
          <a:prstGeom prst="rect">
            <a:avLst/>
          </a:prstGeom>
          <a:solidFill>
            <a:srgbClr val="16523F"/>
          </a:solidFill>
          <a:ln/>
        </p:spPr>
      </p:sp>
      <p:sp>
        <p:nvSpPr>
          <p:cNvPr id="40" name="Shape 38"/>
          <p:cNvSpPr/>
          <p:nvPr/>
        </p:nvSpPr>
        <p:spPr>
          <a:xfrm>
            <a:off x="914400" y="4791456"/>
            <a:ext cx="356616" cy="356616"/>
          </a:xfrm>
          <a:prstGeom prst="rect">
            <a:avLst/>
          </a:prstGeom>
          <a:solidFill>
            <a:srgbClr val="5CE79A"/>
          </a:solidFill>
          <a:ln/>
        </p:spPr>
      </p:sp>
      <p:sp>
        <p:nvSpPr>
          <p:cNvPr id="41" name="Shape 39"/>
          <p:cNvSpPr/>
          <p:nvPr/>
        </p:nvSpPr>
        <p:spPr>
          <a:xfrm>
            <a:off x="1298448" y="4791456"/>
            <a:ext cx="356616" cy="356616"/>
          </a:xfrm>
          <a:prstGeom prst="rect">
            <a:avLst/>
          </a:prstGeom>
          <a:solidFill>
            <a:srgbClr val="16523F"/>
          </a:solidFill>
          <a:ln/>
        </p:spPr>
      </p:sp>
      <p:sp>
        <p:nvSpPr>
          <p:cNvPr id="42" name="Shape 40"/>
          <p:cNvSpPr/>
          <p:nvPr/>
        </p:nvSpPr>
        <p:spPr>
          <a:xfrm>
            <a:off x="1682496" y="4791456"/>
            <a:ext cx="356616" cy="356616"/>
          </a:xfrm>
          <a:prstGeom prst="rect">
            <a:avLst/>
          </a:prstGeom>
          <a:solidFill>
            <a:srgbClr val="16523F"/>
          </a:solidFill>
          <a:ln/>
        </p:spPr>
      </p:sp>
      <p:sp>
        <p:nvSpPr>
          <p:cNvPr id="43" name="Shape 41"/>
          <p:cNvSpPr/>
          <p:nvPr/>
        </p:nvSpPr>
        <p:spPr>
          <a:xfrm>
            <a:off x="2066544" y="4791456"/>
            <a:ext cx="356616" cy="356616"/>
          </a:xfrm>
          <a:prstGeom prst="rect">
            <a:avLst/>
          </a:prstGeom>
          <a:solidFill>
            <a:srgbClr val="16523F"/>
          </a:solidFill>
          <a:ln/>
        </p:spPr>
      </p:sp>
      <p:sp>
        <p:nvSpPr>
          <p:cNvPr id="44" name="Shape 42"/>
          <p:cNvSpPr/>
          <p:nvPr/>
        </p:nvSpPr>
        <p:spPr>
          <a:xfrm>
            <a:off x="2450592" y="4791456"/>
            <a:ext cx="356616" cy="356616"/>
          </a:xfrm>
          <a:prstGeom prst="rect">
            <a:avLst/>
          </a:prstGeom>
          <a:solidFill>
            <a:srgbClr val="5CE79A"/>
          </a:solidFill>
          <a:ln/>
        </p:spPr>
      </p:sp>
      <p:sp>
        <p:nvSpPr>
          <p:cNvPr id="45" name="Text 43"/>
          <p:cNvSpPr/>
          <p:nvPr/>
        </p:nvSpPr>
        <p:spPr>
          <a:xfrm>
            <a:off x="804672" y="5358384"/>
            <a:ext cx="2139696" cy="320040"/>
          </a:xfrm>
          <a:prstGeom prst="rect">
            <a:avLst/>
          </a:prstGeom>
          <a:noFill/>
          <a:ln/>
        </p:spPr>
        <p:txBody>
          <a:bodyPr wrap="square" lIns="0" tIns="0" rIns="0" bIns="0" rtlCol="0" anchor="ctr"/>
          <a:lstStyle/>
          <a:p>
            <a:pPr algn="ctr" indent="0" marL="0">
              <a:buNone/>
            </a:pPr>
            <a:r>
              <a:rPr lang="en-US" sz="1100" i="1" dirty="0">
                <a:solidFill>
                  <a:srgbClr val="3A3F5C"/>
                </a:solidFill>
                <a:latin typeface="Calibri" pitchFamily="34" charset="0"/>
                <a:ea typeface="Calibri" pitchFamily="34" charset="-122"/>
                <a:cs typeface="Calibri" pitchFamily="34" charset="-120"/>
              </a:rPr>
              <a:t>5 x 8 Pixel Grid — CGRAM Cell</a:t>
            </a:r>
            <a:endParaRPr lang="en-US" sz="1100" dirty="0"/>
          </a:p>
        </p:txBody>
      </p:sp>
      <p:sp>
        <p:nvSpPr>
          <p:cNvPr id="46" name="Shape 44"/>
          <p:cNvSpPr/>
          <p:nvPr/>
        </p:nvSpPr>
        <p:spPr>
          <a:xfrm>
            <a:off x="4663440" y="2103120"/>
            <a:ext cx="6675120" cy="3383280"/>
          </a:xfrm>
          <a:prstGeom prst="roundRect">
            <a:avLst>
              <a:gd name="adj" fmla="val 2162"/>
            </a:avLst>
          </a:prstGeom>
          <a:solidFill>
            <a:srgbClr val="141935"/>
          </a:solidFill>
          <a:ln/>
        </p:spPr>
      </p:sp>
      <p:sp>
        <p:nvSpPr>
          <p:cNvPr id="47" name="Text 45"/>
          <p:cNvSpPr/>
          <p:nvPr/>
        </p:nvSpPr>
        <p:spPr>
          <a:xfrm>
            <a:off x="4983480" y="2377440"/>
            <a:ext cx="6035040" cy="2834640"/>
          </a:xfrm>
          <a:prstGeom prst="rect">
            <a:avLst/>
          </a:prstGeom>
          <a:noFill/>
          <a:ln/>
        </p:spPr>
        <p:txBody>
          <a:bodyPr wrap="square" lIns="0" tIns="0" rIns="0" bIns="0" rtlCol="0" anchor="ctr"/>
          <a:lstStyle/>
          <a:p>
            <a:pPr indent="0" marL="0">
              <a:lnSpc>
                <a:spcPct val="130000"/>
              </a:lnSpc>
              <a:buNone/>
            </a:pPr>
            <a:r>
              <a:rPr lang="en-US" sz="1300" dirty="0">
                <a:solidFill>
                  <a:srgbClr val="7DB1FF"/>
                </a:solidFill>
                <a:latin typeface="Courier New" pitchFamily="34" charset="0"/>
                <a:ea typeface="Courier New" pitchFamily="34" charset="-122"/>
                <a:cs typeface="Courier New" pitchFamily="34" charset="-120"/>
              </a:rPr>
              <a:t>u8 DINO_STAND_PART_1[8] = {
</a:t>
            </a:r>
            <a:pPr indent="0" marL="0">
              <a:lnSpc>
                <a:spcPct val="130000"/>
              </a:lnSpc>
              <a:buNone/>
            </a:pPr>
            <a:r>
              <a:rPr lang="en-US" sz="1300" dirty="0">
                <a:solidFill>
                  <a:srgbClr val="5CE79A"/>
                </a:solidFill>
                <a:latin typeface="Courier New" pitchFamily="34" charset="0"/>
                <a:ea typeface="Courier New" pitchFamily="34" charset="-122"/>
                <a:cs typeface="Courier New" pitchFamily="34" charset="-120"/>
              </a:rPr>
              <a:t>    0b00000, 0b00000, 0b00010,
</a:t>
            </a:r>
            <a:pPr indent="0" marL="0">
              <a:lnSpc>
                <a:spcPct val="130000"/>
              </a:lnSpc>
              <a:buNone/>
            </a:pPr>
            <a:r>
              <a:rPr lang="en-US" sz="1300" dirty="0">
                <a:solidFill>
                  <a:srgbClr val="5CE79A"/>
                </a:solidFill>
                <a:latin typeface="Courier New" pitchFamily="34" charset="0"/>
                <a:ea typeface="Courier New" pitchFamily="34" charset="-122"/>
                <a:cs typeface="Courier New" pitchFamily="34" charset="-120"/>
              </a:rPr>
              <a:t>    0b00010, 0b00011, 0b00011,
</a:t>
            </a:r>
            <a:pPr indent="0" marL="0">
              <a:lnSpc>
                <a:spcPct val="130000"/>
              </a:lnSpc>
              <a:buNone/>
            </a:pPr>
            <a:r>
              <a:rPr lang="en-US" sz="1300" dirty="0">
                <a:solidFill>
                  <a:srgbClr val="5CE79A"/>
                </a:solidFill>
                <a:latin typeface="Courier New" pitchFamily="34" charset="0"/>
                <a:ea typeface="Courier New" pitchFamily="34" charset="-122"/>
                <a:cs typeface="Courier New" pitchFamily="34" charset="-120"/>
              </a:rPr>
              <a:t>    0b00001, 0b00001
</a:t>
            </a:r>
            <a:pPr indent="0" marL="0">
              <a:lnSpc>
                <a:spcPct val="130000"/>
              </a:lnSpc>
              <a:buNone/>
            </a:pPr>
            <a:r>
              <a:rPr lang="en-US" sz="1300" dirty="0">
                <a:solidFill>
                  <a:srgbClr val="7DB1FF"/>
                </a:solidFill>
                <a:latin typeface="Courier New" pitchFamily="34" charset="0"/>
                <a:ea typeface="Courier New" pitchFamily="34" charset="-122"/>
                <a:cs typeface="Courier New" pitchFamily="34" charset="-120"/>
              </a:rPr>
              <a:t>};
</a:t>
            </a:r>
            <a:pPr indent="0" marL="0">
              <a:lnSpc>
                <a:spcPct val="130000"/>
              </a:lnSpc>
              <a:buNone/>
            </a:pPr>
            <a:r>
              <a:rPr lang="en-US" sz="1300" dirty="0">
                <a:solidFill>
                  <a:srgbClr val="F2A65A"/>
                </a:solidFill>
                <a:latin typeface="Courier New" pitchFamily="34" charset="0"/>
                <a:ea typeface="Courier New" pitchFamily="34" charset="-122"/>
                <a:cs typeface="Courier New" pitchFamily="34" charset="-120"/>
              </a:rPr>
              <a:t>LCD_voidDrawPattern(0, DINO_STAND_PART_1);</a:t>
            </a:r>
            <a:endParaRPr lang="en-US" sz="1300" dirty="0"/>
          </a:p>
        </p:txBody>
      </p:sp>
      <p:sp>
        <p:nvSpPr>
          <p:cNvPr id="48" name="Text 46"/>
          <p:cNvSpPr/>
          <p:nvPr/>
        </p:nvSpPr>
        <p:spPr>
          <a:xfrm>
            <a:off x="4663440" y="5623560"/>
            <a:ext cx="6675120" cy="548640"/>
          </a:xfrm>
          <a:prstGeom prst="rect">
            <a:avLst/>
          </a:prstGeom>
          <a:noFill/>
          <a:ln/>
        </p:spPr>
        <p:txBody>
          <a:bodyPr wrap="square" lIns="0" tIns="0" rIns="0" bIns="0" rtlCol="0" anchor="ctr"/>
          <a:lstStyle/>
          <a:p>
            <a:pPr indent="0" marL="0">
              <a:lnSpc>
                <a:spcPct val="120000"/>
              </a:lnSpc>
              <a:buNone/>
            </a:pPr>
            <a:r>
              <a:rPr lang="en-US" sz="1250" dirty="0">
                <a:solidFill>
                  <a:srgbClr val="3A3F5C"/>
                </a:solidFill>
                <a:latin typeface="Calibri" pitchFamily="34" charset="0"/>
                <a:ea typeface="Calibri" pitchFamily="34" charset="-122"/>
                <a:cs typeface="Calibri" pitchFamily="34" charset="-120"/>
              </a:rPr>
              <a:t>Two body segments and two alternating leg positions create the running animation; matching sets define the cactus and the bird.</a:t>
            </a:r>
            <a:endParaRPr lang="en-US" sz="1250" dirty="0"/>
          </a:p>
        </p:txBody>
      </p:sp>
      <p:sp>
        <p:nvSpPr>
          <p:cNvPr id="49" name="Text 47"/>
          <p:cNvSpPr/>
          <p:nvPr/>
        </p:nvSpPr>
        <p:spPr>
          <a:xfrm>
            <a:off x="457200" y="6537960"/>
            <a:ext cx="7315200" cy="274320"/>
          </a:xfrm>
          <a:prstGeom prst="rect">
            <a:avLst/>
          </a:prstGeom>
          <a:noFill/>
          <a:ln/>
        </p:spPr>
        <p:txBody>
          <a:bodyPr wrap="square" lIns="0" tIns="0" rIns="0" bIns="0" rtlCol="0" anchor="ctr"/>
          <a:lstStyle/>
          <a:p>
            <a:pPr algn="l" indent="0" marL="0">
              <a:buNone/>
            </a:pPr>
            <a:r>
              <a:rPr lang="en-US" sz="900" dirty="0">
                <a:solidFill>
                  <a:srgbClr val="A9AEC4"/>
                </a:solidFill>
                <a:latin typeface="Calibri" pitchFamily="34" charset="0"/>
                <a:ea typeface="Calibri" pitchFamily="34" charset="-122"/>
                <a:cs typeface="Calibri" pitchFamily="34" charset="-120"/>
              </a:rPr>
              <a:t>Chrome Dinosaur Game on ATmega32  |  Team 1</a:t>
            </a:r>
            <a:endParaRPr lang="en-US" sz="900" dirty="0"/>
          </a:p>
        </p:txBody>
      </p:sp>
      <p:sp>
        <p:nvSpPr>
          <p:cNvPr id="50" name="Text 48"/>
          <p:cNvSpPr/>
          <p:nvPr/>
        </p:nvSpPr>
        <p:spPr>
          <a:xfrm>
            <a:off x="11430000" y="6537960"/>
            <a:ext cx="365760" cy="274320"/>
          </a:xfrm>
          <a:prstGeom prst="rect">
            <a:avLst/>
          </a:prstGeom>
          <a:noFill/>
          <a:ln/>
        </p:spPr>
        <p:txBody>
          <a:bodyPr wrap="square" lIns="0" tIns="0" rIns="0" bIns="0" rtlCol="0" anchor="ctr"/>
          <a:lstStyle/>
          <a:p>
            <a:pPr algn="r" indent="0" marL="0">
              <a:buNone/>
            </a:pPr>
            <a:r>
              <a:rPr lang="en-US" sz="900" dirty="0">
                <a:solidFill>
                  <a:srgbClr val="A9AEC4"/>
                </a:solidFill>
                <a:latin typeface="Calibri" pitchFamily="34" charset="0"/>
                <a:ea typeface="Calibri" pitchFamily="34" charset="-122"/>
                <a:cs typeface="Calibri" pitchFamily="34" charset="-120"/>
              </a:rPr>
              <a:t>6</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7F8FC"/>
        </a:solidFill>
      </p:bgPr>
    </p:bg>
    <p:spTree>
      <p:nvGrpSpPr>
        <p:cNvPr id="1" name=""/>
        <p:cNvGrpSpPr/>
        <p:nvPr/>
      </p:nvGrpSpPr>
      <p:grpSpPr>
        <a:xfrm>
          <a:off x="0" y="0"/>
          <a:ext cx="0" cy="0"/>
          <a:chOff x="0" y="0"/>
          <a:chExt cx="0" cy="0"/>
        </a:xfrm>
      </p:grpSpPr>
      <p:sp>
        <p:nvSpPr>
          <p:cNvPr id="2" name="Text 0"/>
          <p:cNvSpPr/>
          <p:nvPr/>
        </p:nvSpPr>
        <p:spPr>
          <a:xfrm>
            <a:off x="640080" y="502920"/>
            <a:ext cx="9144000" cy="548640"/>
          </a:xfrm>
          <a:prstGeom prst="rect">
            <a:avLst/>
          </a:prstGeom>
          <a:noFill/>
          <a:ln/>
        </p:spPr>
        <p:txBody>
          <a:bodyPr wrap="square" lIns="0" tIns="0" rIns="0" bIns="0" rtlCol="0" anchor="ctr"/>
          <a:lstStyle/>
          <a:p>
            <a:pPr indent="0" marL="0">
              <a:buNone/>
            </a:pPr>
            <a:r>
              <a:rPr lang="en-US" sz="3400" b="1" dirty="0">
                <a:solidFill>
                  <a:srgbClr val="141935"/>
                </a:solidFill>
                <a:latin typeface="Cambria" pitchFamily="34" charset="0"/>
                <a:ea typeface="Cambria" pitchFamily="34" charset="-122"/>
                <a:cs typeface="Cambria" pitchFamily="34" charset="-120"/>
              </a:rPr>
              <a:t>Game Physics &amp; Dynamics</a:t>
            </a:r>
            <a:endParaRPr lang="en-US" sz="3400" dirty="0"/>
          </a:p>
        </p:txBody>
      </p:sp>
      <p:sp>
        <p:nvSpPr>
          <p:cNvPr id="3" name="Text 1"/>
          <p:cNvSpPr/>
          <p:nvPr/>
        </p:nvSpPr>
        <p:spPr>
          <a:xfrm>
            <a:off x="640080" y="1051560"/>
            <a:ext cx="9144000" cy="365760"/>
          </a:xfrm>
          <a:prstGeom prst="rect">
            <a:avLst/>
          </a:prstGeom>
          <a:noFill/>
          <a:ln/>
        </p:spPr>
        <p:txBody>
          <a:bodyPr wrap="square" lIns="0" tIns="0" rIns="0" bIns="0" rtlCol="0" anchor="ctr"/>
          <a:lstStyle/>
          <a:p>
            <a:pPr indent="0" marL="0">
              <a:buNone/>
            </a:pPr>
            <a:r>
              <a:rPr lang="en-US" sz="1400" i="1" dirty="0">
                <a:solidFill>
                  <a:srgbClr val="3A3F5C"/>
                </a:solidFill>
                <a:latin typeface="Calibri" pitchFamily="34" charset="0"/>
                <a:ea typeface="Calibri" pitchFamily="34" charset="-122"/>
                <a:cs typeface="Calibri" pitchFamily="34" charset="-120"/>
              </a:rPr>
              <a:t>Two simple rules that make the game feel alive</a:t>
            </a:r>
            <a:endParaRPr lang="en-US" sz="1400" dirty="0"/>
          </a:p>
        </p:txBody>
      </p:sp>
      <p:sp>
        <p:nvSpPr>
          <p:cNvPr id="4" name="Shape 2"/>
          <p:cNvSpPr/>
          <p:nvPr/>
        </p:nvSpPr>
        <p:spPr>
          <a:xfrm>
            <a:off x="731520" y="2103120"/>
            <a:ext cx="5120640" cy="3749040"/>
          </a:xfrm>
          <a:prstGeom prst="roundRect">
            <a:avLst>
              <a:gd name="adj" fmla="val 1951"/>
            </a:avLst>
          </a:prstGeom>
          <a:solidFill>
            <a:srgbClr val="FFFFFF"/>
          </a:solidFill>
          <a:ln w="12700">
            <a:solidFill>
              <a:srgbClr val="E1E4EE"/>
            </a:solidFill>
            <a:prstDash val="solid"/>
          </a:ln>
          <a:effectLst>
            <a:outerShdw sx="100000" sy="100000" kx="0" ky="0" algn="bl" rotWithShape="0" blurRad="101600" dist="38100" dir="5400000">
              <a:srgbClr val="1B1F3B">
                <a:alpha val="12000"/>
              </a:srgbClr>
            </a:outerShdw>
          </a:effectLst>
        </p:spPr>
      </p:sp>
      <p:sp>
        <p:nvSpPr>
          <p:cNvPr id="5" name="Shape 3"/>
          <p:cNvSpPr/>
          <p:nvPr/>
        </p:nvSpPr>
        <p:spPr>
          <a:xfrm>
            <a:off x="1051560" y="2423160"/>
            <a:ext cx="548640" cy="548640"/>
          </a:xfrm>
          <a:prstGeom prst="ellipse">
            <a:avLst/>
          </a:prstGeom>
          <a:solidFill>
            <a:srgbClr val="5B8DEF"/>
          </a:solidFill>
          <a:ln/>
        </p:spPr>
      </p:sp>
      <p:sp>
        <p:nvSpPr>
          <p:cNvPr id="6" name="Text 4"/>
          <p:cNvSpPr/>
          <p:nvPr/>
        </p:nvSpPr>
        <p:spPr>
          <a:xfrm>
            <a:off x="1051560" y="3154680"/>
            <a:ext cx="4480560" cy="411480"/>
          </a:xfrm>
          <a:prstGeom prst="rect">
            <a:avLst/>
          </a:prstGeom>
          <a:noFill/>
          <a:ln/>
        </p:spPr>
        <p:txBody>
          <a:bodyPr wrap="square" lIns="0" tIns="0" rIns="0" bIns="0" rtlCol="0" anchor="ctr"/>
          <a:lstStyle/>
          <a:p>
            <a:pPr indent="0" marL="0">
              <a:buNone/>
            </a:pPr>
            <a:r>
              <a:rPr lang="en-US" sz="2000" b="1" dirty="0">
                <a:solidFill>
                  <a:srgbClr val="141935"/>
                </a:solidFill>
                <a:latin typeface="Cambria" pitchFamily="34" charset="0"/>
                <a:ea typeface="Cambria" pitchFamily="34" charset="-122"/>
                <a:cs typeface="Cambria" pitchFamily="34" charset="-120"/>
              </a:rPr>
              <a:t>Acceleration</a:t>
            </a:r>
            <a:endParaRPr lang="en-US" sz="2000" dirty="0"/>
          </a:p>
        </p:txBody>
      </p:sp>
      <p:sp>
        <p:nvSpPr>
          <p:cNvPr id="7" name="Text 5"/>
          <p:cNvSpPr/>
          <p:nvPr/>
        </p:nvSpPr>
        <p:spPr>
          <a:xfrm>
            <a:off x="1051560" y="3566160"/>
            <a:ext cx="4480560" cy="868680"/>
          </a:xfrm>
          <a:prstGeom prst="rect">
            <a:avLst/>
          </a:prstGeom>
          <a:noFill/>
          <a:ln/>
        </p:spPr>
        <p:txBody>
          <a:bodyPr wrap="square" lIns="0" tIns="0" rIns="0" bIns="0" rtlCol="0" anchor="ctr"/>
          <a:lstStyle/>
          <a:p>
            <a:pPr indent="0" marL="0">
              <a:lnSpc>
                <a:spcPct val="125000"/>
              </a:lnSpc>
              <a:buNone/>
            </a:pPr>
            <a:r>
              <a:rPr lang="en-US" sz="1300" dirty="0">
                <a:solidFill>
                  <a:srgbClr val="3A3F5C"/>
                </a:solidFill>
                <a:latin typeface="Calibri" pitchFamily="34" charset="0"/>
                <a:ea typeface="Calibri" pitchFamily="34" charset="-122"/>
                <a:cs typeface="Calibri" pitchFamily="34" charset="-120"/>
              </a:rPr>
              <a:t>As the score increases, the time interval between obstacle movements is programmatically reduced — the game speed ramps up continuously.</a:t>
            </a:r>
            <a:endParaRPr lang="en-US" sz="1300" dirty="0"/>
          </a:p>
        </p:txBody>
      </p:sp>
      <p:sp>
        <p:nvSpPr>
          <p:cNvPr id="8" name="Shape 6"/>
          <p:cNvSpPr/>
          <p:nvPr/>
        </p:nvSpPr>
        <p:spPr>
          <a:xfrm>
            <a:off x="1280160" y="5212080"/>
            <a:ext cx="320040" cy="137160"/>
          </a:xfrm>
          <a:prstGeom prst="rect">
            <a:avLst>
              <a:gd name="adj" fmla="val 20000"/>
            </a:avLst>
          </a:prstGeom>
          <a:solidFill>
            <a:srgbClr val="5B8DEF"/>
          </a:solidFill>
          <a:ln/>
        </p:spPr>
      </p:sp>
      <p:sp>
        <p:nvSpPr>
          <p:cNvPr id="9" name="Shape 7"/>
          <p:cNvSpPr/>
          <p:nvPr/>
        </p:nvSpPr>
        <p:spPr>
          <a:xfrm>
            <a:off x="1783080" y="5074920"/>
            <a:ext cx="320040" cy="274320"/>
          </a:xfrm>
          <a:prstGeom prst="rect">
            <a:avLst>
              <a:gd name="adj" fmla="val 10000"/>
            </a:avLst>
          </a:prstGeom>
          <a:solidFill>
            <a:srgbClr val="5B8DEF"/>
          </a:solidFill>
          <a:ln/>
        </p:spPr>
      </p:sp>
      <p:sp>
        <p:nvSpPr>
          <p:cNvPr id="10" name="Shape 8"/>
          <p:cNvSpPr/>
          <p:nvPr/>
        </p:nvSpPr>
        <p:spPr>
          <a:xfrm>
            <a:off x="2286000" y="4892040"/>
            <a:ext cx="320040" cy="457200"/>
          </a:xfrm>
          <a:prstGeom prst="rect">
            <a:avLst>
              <a:gd name="adj" fmla="val 8571"/>
            </a:avLst>
          </a:prstGeom>
          <a:solidFill>
            <a:srgbClr val="5B8DEF"/>
          </a:solidFill>
          <a:ln/>
        </p:spPr>
      </p:sp>
      <p:sp>
        <p:nvSpPr>
          <p:cNvPr id="11" name="Shape 9"/>
          <p:cNvSpPr/>
          <p:nvPr/>
        </p:nvSpPr>
        <p:spPr>
          <a:xfrm>
            <a:off x="2788920" y="4709160"/>
            <a:ext cx="320040" cy="640080"/>
          </a:xfrm>
          <a:prstGeom prst="rect">
            <a:avLst>
              <a:gd name="adj" fmla="val 8571"/>
            </a:avLst>
          </a:prstGeom>
          <a:solidFill>
            <a:srgbClr val="5B8DEF"/>
          </a:solidFill>
          <a:ln/>
        </p:spPr>
      </p:sp>
      <p:sp>
        <p:nvSpPr>
          <p:cNvPr id="12" name="Shape 10"/>
          <p:cNvSpPr/>
          <p:nvPr/>
        </p:nvSpPr>
        <p:spPr>
          <a:xfrm>
            <a:off x="3291840" y="4526280"/>
            <a:ext cx="320040" cy="822960"/>
          </a:xfrm>
          <a:prstGeom prst="rect">
            <a:avLst>
              <a:gd name="adj" fmla="val 8571"/>
            </a:avLst>
          </a:prstGeom>
          <a:solidFill>
            <a:srgbClr val="5CE79A"/>
          </a:solidFill>
          <a:ln/>
        </p:spPr>
      </p:sp>
      <p:sp>
        <p:nvSpPr>
          <p:cNvPr id="13" name="Text 11"/>
          <p:cNvSpPr/>
          <p:nvPr/>
        </p:nvSpPr>
        <p:spPr>
          <a:xfrm>
            <a:off x="1280160" y="5440680"/>
            <a:ext cx="2514600" cy="274320"/>
          </a:xfrm>
          <a:prstGeom prst="rect">
            <a:avLst/>
          </a:prstGeom>
          <a:noFill/>
          <a:ln/>
        </p:spPr>
        <p:txBody>
          <a:bodyPr wrap="square" lIns="0" tIns="0" rIns="0" bIns="0" rtlCol="0" anchor="ctr"/>
          <a:lstStyle/>
          <a:p>
            <a:pPr indent="0" marL="0">
              <a:buNone/>
            </a:pPr>
            <a:r>
              <a:rPr lang="en-US" sz="1050" i="1" dirty="0">
                <a:solidFill>
                  <a:srgbClr val="8A90A6"/>
                </a:solidFill>
                <a:latin typeface="Calibri" pitchFamily="34" charset="0"/>
                <a:ea typeface="Calibri" pitchFamily="34" charset="-122"/>
                <a:cs typeface="Calibri" pitchFamily="34" charset="-120"/>
              </a:rPr>
              <a:t>Score → Speed</a:t>
            </a:r>
            <a:endParaRPr lang="en-US" sz="1050" dirty="0"/>
          </a:p>
        </p:txBody>
      </p:sp>
      <p:sp>
        <p:nvSpPr>
          <p:cNvPr id="14" name="Shape 12"/>
          <p:cNvSpPr/>
          <p:nvPr/>
        </p:nvSpPr>
        <p:spPr>
          <a:xfrm>
            <a:off x="6309360" y="2103120"/>
            <a:ext cx="5120640" cy="3749040"/>
          </a:xfrm>
          <a:prstGeom prst="roundRect">
            <a:avLst>
              <a:gd name="adj" fmla="val 1951"/>
            </a:avLst>
          </a:prstGeom>
          <a:solidFill>
            <a:srgbClr val="FFFFFF"/>
          </a:solidFill>
          <a:ln w="12700">
            <a:solidFill>
              <a:srgbClr val="E1E4EE"/>
            </a:solidFill>
            <a:prstDash val="solid"/>
          </a:ln>
          <a:effectLst>
            <a:outerShdw sx="100000" sy="100000" kx="0" ky="0" algn="bl" rotWithShape="0" blurRad="101600" dist="38100" dir="5400000">
              <a:srgbClr val="1B1F3B">
                <a:alpha val="12000"/>
              </a:srgbClr>
            </a:outerShdw>
          </a:effectLst>
        </p:spPr>
      </p:sp>
      <p:sp>
        <p:nvSpPr>
          <p:cNvPr id="15" name="Shape 13"/>
          <p:cNvSpPr/>
          <p:nvPr/>
        </p:nvSpPr>
        <p:spPr>
          <a:xfrm>
            <a:off x="6629400" y="2423160"/>
            <a:ext cx="548640" cy="548640"/>
          </a:xfrm>
          <a:prstGeom prst="ellipse">
            <a:avLst/>
          </a:prstGeom>
          <a:solidFill>
            <a:srgbClr val="5CE79A"/>
          </a:solidFill>
          <a:ln/>
        </p:spPr>
      </p:sp>
      <p:sp>
        <p:nvSpPr>
          <p:cNvPr id="16" name="Text 14"/>
          <p:cNvSpPr/>
          <p:nvPr/>
        </p:nvSpPr>
        <p:spPr>
          <a:xfrm>
            <a:off x="6629400" y="3154680"/>
            <a:ext cx="4480560" cy="411480"/>
          </a:xfrm>
          <a:prstGeom prst="rect">
            <a:avLst/>
          </a:prstGeom>
          <a:noFill/>
          <a:ln/>
        </p:spPr>
        <p:txBody>
          <a:bodyPr wrap="square" lIns="0" tIns="0" rIns="0" bIns="0" rtlCol="0" anchor="ctr"/>
          <a:lstStyle/>
          <a:p>
            <a:pPr indent="0" marL="0">
              <a:buNone/>
            </a:pPr>
            <a:r>
              <a:rPr lang="en-US" sz="2000" b="1" dirty="0">
                <a:solidFill>
                  <a:srgbClr val="141935"/>
                </a:solidFill>
                <a:latin typeface="Cambria" pitchFamily="34" charset="0"/>
                <a:ea typeface="Cambria" pitchFamily="34" charset="-122"/>
                <a:cs typeface="Cambria" pitchFamily="34" charset="-120"/>
              </a:rPr>
              <a:t>Dynamic Jump</a:t>
            </a:r>
            <a:endParaRPr lang="en-US" sz="2000" dirty="0"/>
          </a:p>
        </p:txBody>
      </p:sp>
      <p:sp>
        <p:nvSpPr>
          <p:cNvPr id="17" name="Text 15"/>
          <p:cNvSpPr/>
          <p:nvPr/>
        </p:nvSpPr>
        <p:spPr>
          <a:xfrm>
            <a:off x="6629400" y="3566160"/>
            <a:ext cx="4480560" cy="868680"/>
          </a:xfrm>
          <a:prstGeom prst="rect">
            <a:avLst/>
          </a:prstGeom>
          <a:noFill/>
          <a:ln/>
        </p:spPr>
        <p:txBody>
          <a:bodyPr wrap="square" lIns="0" tIns="0" rIns="0" bIns="0" rtlCol="0" anchor="ctr"/>
          <a:lstStyle/>
          <a:p>
            <a:pPr indent="0" marL="0">
              <a:lnSpc>
                <a:spcPct val="125000"/>
              </a:lnSpc>
              <a:buNone/>
            </a:pPr>
            <a:r>
              <a:rPr lang="en-US" sz="1300" dirty="0">
                <a:solidFill>
                  <a:srgbClr val="3A3F5C"/>
                </a:solidFill>
                <a:latin typeface="Calibri" pitchFamily="34" charset="0"/>
                <a:ea typeface="Calibri" pitchFamily="34" charset="-122"/>
                <a:cs typeface="Calibri" pitchFamily="34" charset="-120"/>
              </a:rPr>
              <a:t>The jump timer is not fixed: airtime scales with the current obstacle speed, so the dinosaur always clears the cactus without getting stuck mid-air.</a:t>
            </a:r>
            <a:endParaRPr lang="en-US" sz="1300" dirty="0"/>
          </a:p>
        </p:txBody>
      </p:sp>
      <p:sp>
        <p:nvSpPr>
          <p:cNvPr id="18" name="Shape 16"/>
          <p:cNvSpPr/>
          <p:nvPr/>
        </p:nvSpPr>
        <p:spPr>
          <a:xfrm>
            <a:off x="6858000" y="5349240"/>
            <a:ext cx="4023360" cy="0"/>
          </a:xfrm>
          <a:prstGeom prst="line">
            <a:avLst/>
          </a:prstGeom>
          <a:noFill/>
          <a:ln w="19050">
            <a:solidFill>
              <a:srgbClr val="E1E4EE"/>
            </a:solidFill>
            <a:prstDash val="solid"/>
          </a:ln>
        </p:spPr>
      </p:sp>
      <p:sp>
        <p:nvSpPr>
          <p:cNvPr id="19" name="Shape 17"/>
          <p:cNvSpPr/>
          <p:nvPr/>
        </p:nvSpPr>
        <p:spPr>
          <a:xfrm>
            <a:off x="7717536" y="4754880"/>
            <a:ext cx="64008" cy="64008"/>
          </a:xfrm>
          <a:prstGeom prst="rect">
            <a:avLst/>
          </a:prstGeom>
          <a:solidFill>
            <a:srgbClr val="5CE79A"/>
          </a:solidFill>
          <a:ln/>
        </p:spPr>
      </p:sp>
      <p:sp>
        <p:nvSpPr>
          <p:cNvPr id="20" name="Shape 18"/>
          <p:cNvSpPr/>
          <p:nvPr/>
        </p:nvSpPr>
        <p:spPr>
          <a:xfrm>
            <a:off x="7781544" y="4754880"/>
            <a:ext cx="64008" cy="64008"/>
          </a:xfrm>
          <a:prstGeom prst="rect">
            <a:avLst/>
          </a:prstGeom>
          <a:solidFill>
            <a:srgbClr val="5CE79A"/>
          </a:solidFill>
          <a:ln/>
        </p:spPr>
      </p:sp>
      <p:sp>
        <p:nvSpPr>
          <p:cNvPr id="21" name="Shape 19"/>
          <p:cNvSpPr/>
          <p:nvPr/>
        </p:nvSpPr>
        <p:spPr>
          <a:xfrm>
            <a:off x="7717536" y="4818888"/>
            <a:ext cx="64008" cy="64008"/>
          </a:xfrm>
          <a:prstGeom prst="rect">
            <a:avLst/>
          </a:prstGeom>
          <a:solidFill>
            <a:srgbClr val="5CE79A"/>
          </a:solidFill>
          <a:ln/>
        </p:spPr>
      </p:sp>
      <p:sp>
        <p:nvSpPr>
          <p:cNvPr id="22" name="Shape 20"/>
          <p:cNvSpPr/>
          <p:nvPr/>
        </p:nvSpPr>
        <p:spPr>
          <a:xfrm>
            <a:off x="7781544" y="4818888"/>
            <a:ext cx="64008" cy="64008"/>
          </a:xfrm>
          <a:prstGeom prst="rect">
            <a:avLst/>
          </a:prstGeom>
          <a:solidFill>
            <a:srgbClr val="5CE79A"/>
          </a:solidFill>
          <a:ln/>
        </p:spPr>
      </p:sp>
      <p:sp>
        <p:nvSpPr>
          <p:cNvPr id="23" name="Shape 21"/>
          <p:cNvSpPr/>
          <p:nvPr/>
        </p:nvSpPr>
        <p:spPr>
          <a:xfrm>
            <a:off x="7845552" y="4818888"/>
            <a:ext cx="64008" cy="64008"/>
          </a:xfrm>
          <a:prstGeom prst="rect">
            <a:avLst/>
          </a:prstGeom>
          <a:solidFill>
            <a:srgbClr val="5CE79A"/>
          </a:solidFill>
          <a:ln/>
        </p:spPr>
      </p:sp>
      <p:sp>
        <p:nvSpPr>
          <p:cNvPr id="24" name="Shape 22"/>
          <p:cNvSpPr/>
          <p:nvPr/>
        </p:nvSpPr>
        <p:spPr>
          <a:xfrm>
            <a:off x="7653528" y="4882896"/>
            <a:ext cx="64008" cy="64008"/>
          </a:xfrm>
          <a:prstGeom prst="rect">
            <a:avLst/>
          </a:prstGeom>
          <a:solidFill>
            <a:srgbClr val="5CE79A"/>
          </a:solidFill>
          <a:ln/>
        </p:spPr>
      </p:sp>
      <p:sp>
        <p:nvSpPr>
          <p:cNvPr id="25" name="Shape 23"/>
          <p:cNvSpPr/>
          <p:nvPr/>
        </p:nvSpPr>
        <p:spPr>
          <a:xfrm>
            <a:off x="7717536" y="4882896"/>
            <a:ext cx="64008" cy="64008"/>
          </a:xfrm>
          <a:prstGeom prst="rect">
            <a:avLst/>
          </a:prstGeom>
          <a:solidFill>
            <a:srgbClr val="5CE79A"/>
          </a:solidFill>
          <a:ln/>
        </p:spPr>
      </p:sp>
      <p:sp>
        <p:nvSpPr>
          <p:cNvPr id="26" name="Shape 24"/>
          <p:cNvSpPr/>
          <p:nvPr/>
        </p:nvSpPr>
        <p:spPr>
          <a:xfrm>
            <a:off x="7781544" y="4882896"/>
            <a:ext cx="64008" cy="64008"/>
          </a:xfrm>
          <a:prstGeom prst="rect">
            <a:avLst/>
          </a:prstGeom>
          <a:solidFill>
            <a:srgbClr val="5CE79A"/>
          </a:solidFill>
          <a:ln/>
        </p:spPr>
      </p:sp>
      <p:sp>
        <p:nvSpPr>
          <p:cNvPr id="27" name="Shape 25"/>
          <p:cNvSpPr/>
          <p:nvPr/>
        </p:nvSpPr>
        <p:spPr>
          <a:xfrm>
            <a:off x="7845552" y="4882896"/>
            <a:ext cx="64008" cy="64008"/>
          </a:xfrm>
          <a:prstGeom prst="rect">
            <a:avLst/>
          </a:prstGeom>
          <a:solidFill>
            <a:srgbClr val="5CE79A"/>
          </a:solidFill>
          <a:ln/>
        </p:spPr>
      </p:sp>
      <p:sp>
        <p:nvSpPr>
          <p:cNvPr id="28" name="Shape 26"/>
          <p:cNvSpPr/>
          <p:nvPr/>
        </p:nvSpPr>
        <p:spPr>
          <a:xfrm>
            <a:off x="7653528" y="4946904"/>
            <a:ext cx="64008" cy="64008"/>
          </a:xfrm>
          <a:prstGeom prst="rect">
            <a:avLst/>
          </a:prstGeom>
          <a:solidFill>
            <a:srgbClr val="5CE79A"/>
          </a:solidFill>
          <a:ln/>
        </p:spPr>
      </p:sp>
      <p:sp>
        <p:nvSpPr>
          <p:cNvPr id="29" name="Shape 27"/>
          <p:cNvSpPr/>
          <p:nvPr/>
        </p:nvSpPr>
        <p:spPr>
          <a:xfrm>
            <a:off x="7717536" y="4946904"/>
            <a:ext cx="64008" cy="64008"/>
          </a:xfrm>
          <a:prstGeom prst="rect">
            <a:avLst/>
          </a:prstGeom>
          <a:solidFill>
            <a:srgbClr val="5CE79A"/>
          </a:solidFill>
          <a:ln/>
        </p:spPr>
      </p:sp>
      <p:sp>
        <p:nvSpPr>
          <p:cNvPr id="30" name="Shape 28"/>
          <p:cNvSpPr/>
          <p:nvPr/>
        </p:nvSpPr>
        <p:spPr>
          <a:xfrm>
            <a:off x="7781544" y="4946904"/>
            <a:ext cx="64008" cy="64008"/>
          </a:xfrm>
          <a:prstGeom prst="rect">
            <a:avLst/>
          </a:prstGeom>
          <a:solidFill>
            <a:srgbClr val="5CE79A"/>
          </a:solidFill>
          <a:ln/>
        </p:spPr>
      </p:sp>
      <p:sp>
        <p:nvSpPr>
          <p:cNvPr id="31" name="Shape 29"/>
          <p:cNvSpPr/>
          <p:nvPr/>
        </p:nvSpPr>
        <p:spPr>
          <a:xfrm>
            <a:off x="7845552" y="4946904"/>
            <a:ext cx="64008" cy="64008"/>
          </a:xfrm>
          <a:prstGeom prst="rect">
            <a:avLst/>
          </a:prstGeom>
          <a:solidFill>
            <a:srgbClr val="5CE79A"/>
          </a:solidFill>
          <a:ln/>
        </p:spPr>
      </p:sp>
      <p:sp>
        <p:nvSpPr>
          <p:cNvPr id="32" name="Shape 30"/>
          <p:cNvSpPr/>
          <p:nvPr/>
        </p:nvSpPr>
        <p:spPr>
          <a:xfrm>
            <a:off x="7909560" y="4946904"/>
            <a:ext cx="64008" cy="64008"/>
          </a:xfrm>
          <a:prstGeom prst="rect">
            <a:avLst/>
          </a:prstGeom>
          <a:solidFill>
            <a:srgbClr val="5CE79A"/>
          </a:solidFill>
          <a:ln/>
        </p:spPr>
      </p:sp>
      <p:sp>
        <p:nvSpPr>
          <p:cNvPr id="33" name="Shape 31"/>
          <p:cNvSpPr/>
          <p:nvPr/>
        </p:nvSpPr>
        <p:spPr>
          <a:xfrm>
            <a:off x="7589520" y="5010912"/>
            <a:ext cx="64008" cy="64008"/>
          </a:xfrm>
          <a:prstGeom prst="rect">
            <a:avLst/>
          </a:prstGeom>
          <a:solidFill>
            <a:srgbClr val="5CE79A"/>
          </a:solidFill>
          <a:ln/>
        </p:spPr>
      </p:sp>
      <p:sp>
        <p:nvSpPr>
          <p:cNvPr id="34" name="Shape 32"/>
          <p:cNvSpPr/>
          <p:nvPr/>
        </p:nvSpPr>
        <p:spPr>
          <a:xfrm>
            <a:off x="7653528" y="5010912"/>
            <a:ext cx="64008" cy="64008"/>
          </a:xfrm>
          <a:prstGeom prst="rect">
            <a:avLst/>
          </a:prstGeom>
          <a:solidFill>
            <a:srgbClr val="5CE79A"/>
          </a:solidFill>
          <a:ln/>
        </p:spPr>
      </p:sp>
      <p:sp>
        <p:nvSpPr>
          <p:cNvPr id="35" name="Shape 33"/>
          <p:cNvSpPr/>
          <p:nvPr/>
        </p:nvSpPr>
        <p:spPr>
          <a:xfrm>
            <a:off x="7717536" y="5010912"/>
            <a:ext cx="64008" cy="64008"/>
          </a:xfrm>
          <a:prstGeom prst="rect">
            <a:avLst/>
          </a:prstGeom>
          <a:solidFill>
            <a:srgbClr val="5CE79A"/>
          </a:solidFill>
          <a:ln/>
        </p:spPr>
      </p:sp>
      <p:sp>
        <p:nvSpPr>
          <p:cNvPr id="36" name="Shape 34"/>
          <p:cNvSpPr/>
          <p:nvPr/>
        </p:nvSpPr>
        <p:spPr>
          <a:xfrm>
            <a:off x="7781544" y="5010912"/>
            <a:ext cx="64008" cy="64008"/>
          </a:xfrm>
          <a:prstGeom prst="rect">
            <a:avLst/>
          </a:prstGeom>
          <a:solidFill>
            <a:srgbClr val="5CE79A"/>
          </a:solidFill>
          <a:ln/>
        </p:spPr>
      </p:sp>
      <p:sp>
        <p:nvSpPr>
          <p:cNvPr id="37" name="Shape 35"/>
          <p:cNvSpPr/>
          <p:nvPr/>
        </p:nvSpPr>
        <p:spPr>
          <a:xfrm>
            <a:off x="7845552" y="5010912"/>
            <a:ext cx="64008" cy="64008"/>
          </a:xfrm>
          <a:prstGeom prst="rect">
            <a:avLst/>
          </a:prstGeom>
          <a:solidFill>
            <a:srgbClr val="5CE79A"/>
          </a:solidFill>
          <a:ln/>
        </p:spPr>
      </p:sp>
      <p:sp>
        <p:nvSpPr>
          <p:cNvPr id="38" name="Shape 36"/>
          <p:cNvSpPr/>
          <p:nvPr/>
        </p:nvSpPr>
        <p:spPr>
          <a:xfrm>
            <a:off x="7653528" y="5074920"/>
            <a:ext cx="64008" cy="64008"/>
          </a:xfrm>
          <a:prstGeom prst="rect">
            <a:avLst/>
          </a:prstGeom>
          <a:solidFill>
            <a:srgbClr val="5CE79A"/>
          </a:solidFill>
          <a:ln/>
        </p:spPr>
      </p:sp>
      <p:sp>
        <p:nvSpPr>
          <p:cNvPr id="39" name="Shape 37"/>
          <p:cNvSpPr/>
          <p:nvPr/>
        </p:nvSpPr>
        <p:spPr>
          <a:xfrm>
            <a:off x="7717536" y="5074920"/>
            <a:ext cx="64008" cy="64008"/>
          </a:xfrm>
          <a:prstGeom prst="rect">
            <a:avLst/>
          </a:prstGeom>
          <a:solidFill>
            <a:srgbClr val="5CE79A"/>
          </a:solidFill>
          <a:ln/>
        </p:spPr>
      </p:sp>
      <p:sp>
        <p:nvSpPr>
          <p:cNvPr id="40" name="Shape 38"/>
          <p:cNvSpPr/>
          <p:nvPr/>
        </p:nvSpPr>
        <p:spPr>
          <a:xfrm>
            <a:off x="7781544" y="5074920"/>
            <a:ext cx="64008" cy="64008"/>
          </a:xfrm>
          <a:prstGeom prst="rect">
            <a:avLst/>
          </a:prstGeom>
          <a:solidFill>
            <a:srgbClr val="5CE79A"/>
          </a:solidFill>
          <a:ln/>
        </p:spPr>
      </p:sp>
      <p:sp>
        <p:nvSpPr>
          <p:cNvPr id="41" name="Shape 39"/>
          <p:cNvSpPr/>
          <p:nvPr/>
        </p:nvSpPr>
        <p:spPr>
          <a:xfrm>
            <a:off x="7653528" y="5138928"/>
            <a:ext cx="64008" cy="64008"/>
          </a:xfrm>
          <a:prstGeom prst="rect">
            <a:avLst/>
          </a:prstGeom>
          <a:solidFill>
            <a:srgbClr val="5CE79A"/>
          </a:solidFill>
          <a:ln/>
        </p:spPr>
      </p:sp>
      <p:sp>
        <p:nvSpPr>
          <p:cNvPr id="42" name="Shape 40"/>
          <p:cNvSpPr/>
          <p:nvPr/>
        </p:nvSpPr>
        <p:spPr>
          <a:xfrm>
            <a:off x="7781544" y="5138928"/>
            <a:ext cx="64008" cy="64008"/>
          </a:xfrm>
          <a:prstGeom prst="rect">
            <a:avLst/>
          </a:prstGeom>
          <a:solidFill>
            <a:srgbClr val="5CE79A"/>
          </a:solidFill>
          <a:ln/>
        </p:spPr>
      </p:sp>
      <p:sp>
        <p:nvSpPr>
          <p:cNvPr id="43" name="Shape 41"/>
          <p:cNvSpPr/>
          <p:nvPr/>
        </p:nvSpPr>
        <p:spPr>
          <a:xfrm>
            <a:off x="7132320" y="5303520"/>
            <a:ext cx="3017520" cy="-502920"/>
          </a:xfrm>
          <a:prstGeom prst="line">
            <a:avLst/>
          </a:prstGeom>
          <a:noFill/>
          <a:ln w="12700">
            <a:solidFill>
              <a:srgbClr val="8A90A6"/>
            </a:solidFill>
            <a:prstDash val="dash"/>
          </a:ln>
        </p:spPr>
      </p:sp>
      <p:sp>
        <p:nvSpPr>
          <p:cNvPr id="44" name="Text 42"/>
          <p:cNvSpPr/>
          <p:nvPr/>
        </p:nvSpPr>
        <p:spPr>
          <a:xfrm>
            <a:off x="457200" y="6537960"/>
            <a:ext cx="7315200" cy="274320"/>
          </a:xfrm>
          <a:prstGeom prst="rect">
            <a:avLst/>
          </a:prstGeom>
          <a:noFill/>
          <a:ln/>
        </p:spPr>
        <p:txBody>
          <a:bodyPr wrap="square" lIns="0" tIns="0" rIns="0" bIns="0" rtlCol="0" anchor="ctr"/>
          <a:lstStyle/>
          <a:p>
            <a:pPr algn="l" indent="0" marL="0">
              <a:buNone/>
            </a:pPr>
            <a:r>
              <a:rPr lang="en-US" sz="900" dirty="0">
                <a:solidFill>
                  <a:srgbClr val="A9AEC4"/>
                </a:solidFill>
                <a:latin typeface="Calibri" pitchFamily="34" charset="0"/>
                <a:ea typeface="Calibri" pitchFamily="34" charset="-122"/>
                <a:cs typeface="Calibri" pitchFamily="34" charset="-120"/>
              </a:rPr>
              <a:t>Chrome Dinosaur Game on ATmega32  |  Team 1</a:t>
            </a:r>
            <a:endParaRPr lang="en-US" sz="900" dirty="0"/>
          </a:p>
        </p:txBody>
      </p:sp>
      <p:sp>
        <p:nvSpPr>
          <p:cNvPr id="45" name="Text 43"/>
          <p:cNvSpPr/>
          <p:nvPr/>
        </p:nvSpPr>
        <p:spPr>
          <a:xfrm>
            <a:off x="11430000" y="6537960"/>
            <a:ext cx="365760" cy="274320"/>
          </a:xfrm>
          <a:prstGeom prst="rect">
            <a:avLst/>
          </a:prstGeom>
          <a:noFill/>
          <a:ln/>
        </p:spPr>
        <p:txBody>
          <a:bodyPr wrap="square" lIns="0" tIns="0" rIns="0" bIns="0" rtlCol="0" anchor="ctr"/>
          <a:lstStyle/>
          <a:p>
            <a:pPr algn="r" indent="0" marL="0">
              <a:buNone/>
            </a:pPr>
            <a:r>
              <a:rPr lang="en-US" sz="900" dirty="0">
                <a:solidFill>
                  <a:srgbClr val="A9AEC4"/>
                </a:solidFill>
                <a:latin typeface="Calibri" pitchFamily="34" charset="0"/>
                <a:ea typeface="Calibri" pitchFamily="34" charset="-122"/>
                <a:cs typeface="Calibri" pitchFamily="34" charset="-120"/>
              </a:rPr>
              <a:t>9</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141935"/>
        </a:solidFill>
      </p:bgPr>
    </p:bg>
    <p:spTree>
      <p:nvGrpSpPr>
        <p:cNvPr id="1" name=""/>
        <p:cNvGrpSpPr/>
        <p:nvPr/>
      </p:nvGrpSpPr>
      <p:grpSpPr>
        <a:xfrm>
          <a:off x="0" y="0"/>
          <a:ext cx="0" cy="0"/>
          <a:chOff x="0" y="0"/>
          <a:chExt cx="0" cy="0"/>
        </a:xfrm>
      </p:grpSpPr>
      <p:sp>
        <p:nvSpPr>
          <p:cNvPr id="2" name="Text 0"/>
          <p:cNvSpPr/>
          <p:nvPr/>
        </p:nvSpPr>
        <p:spPr>
          <a:xfrm>
            <a:off x="640080" y="502920"/>
            <a:ext cx="7315200" cy="548640"/>
          </a:xfrm>
          <a:prstGeom prst="rect">
            <a:avLst/>
          </a:prstGeom>
          <a:noFill/>
          <a:ln/>
        </p:spPr>
        <p:txBody>
          <a:bodyPr wrap="square" lIns="0" tIns="0" rIns="0" bIns="0" rtlCol="0" anchor="ctr"/>
          <a:lstStyle/>
          <a:p>
            <a:pPr indent="0" marL="0">
              <a:buNone/>
            </a:pPr>
            <a:r>
              <a:rPr lang="en-US" sz="3400" b="1" dirty="0">
                <a:solidFill>
                  <a:srgbClr val="FFFFFF"/>
                </a:solidFill>
                <a:latin typeface="Cambria" pitchFamily="34" charset="0"/>
                <a:ea typeface="Cambria" pitchFamily="34" charset="-122"/>
                <a:cs typeface="Cambria" pitchFamily="34" charset="-120"/>
              </a:rPr>
              <a:t>Live Demo</a:t>
            </a:r>
            <a:endParaRPr lang="en-US" sz="3400" dirty="0"/>
          </a:p>
        </p:txBody>
      </p:sp>
      <p:sp>
        <p:nvSpPr>
          <p:cNvPr id="3" name="Text 1"/>
          <p:cNvSpPr/>
          <p:nvPr/>
        </p:nvSpPr>
        <p:spPr>
          <a:xfrm>
            <a:off x="640080" y="1051560"/>
            <a:ext cx="8229600" cy="365760"/>
          </a:xfrm>
          <a:prstGeom prst="rect">
            <a:avLst/>
          </a:prstGeom>
          <a:noFill/>
          <a:ln/>
        </p:spPr>
        <p:txBody>
          <a:bodyPr wrap="square" lIns="0" tIns="0" rIns="0" bIns="0" rtlCol="0" anchor="ctr"/>
          <a:lstStyle/>
          <a:p>
            <a:pPr indent="0" marL="0">
              <a:buNone/>
            </a:pPr>
            <a:r>
              <a:rPr lang="en-US" sz="1400" i="1" dirty="0">
                <a:solidFill>
                  <a:srgbClr val="EAF0FF"/>
                </a:solidFill>
                <a:latin typeface="Calibri" pitchFamily="34" charset="0"/>
                <a:ea typeface="Calibri" pitchFamily="34" charset="-122"/>
                <a:cs typeface="Calibri" pitchFamily="34" charset="-120"/>
              </a:rPr>
              <a:t>Proteus simulation — ATmega32 running the full game loop</a:t>
            </a:r>
            <a:endParaRPr lang="en-US" sz="1400" dirty="0"/>
          </a:p>
        </p:txBody>
      </p:sp>
      <p:sp>
        <p:nvSpPr>
          <p:cNvPr id="4" name="Shape 2"/>
          <p:cNvSpPr/>
          <p:nvPr/>
        </p:nvSpPr>
        <p:spPr>
          <a:xfrm>
            <a:off x="2011680" y="1920240"/>
            <a:ext cx="8138160" cy="3931920"/>
          </a:xfrm>
          <a:prstGeom prst="roundRect">
            <a:avLst>
              <a:gd name="adj" fmla="val 2326"/>
            </a:avLst>
          </a:prstGeom>
          <a:solidFill>
            <a:srgbClr val="0B0B0B"/>
          </a:solidFill>
          <a:ln w="38100">
            <a:solidFill>
              <a:srgbClr val="8A90A6"/>
            </a:solidFill>
            <a:prstDash val="solid"/>
          </a:ln>
        </p:spPr>
      </p:sp>
      <p:sp>
        <p:nvSpPr>
          <p:cNvPr id="5" name="Shape 3"/>
          <p:cNvSpPr/>
          <p:nvPr/>
        </p:nvSpPr>
        <p:spPr>
          <a:xfrm>
            <a:off x="2468880" y="2377440"/>
            <a:ext cx="7223760" cy="2651760"/>
          </a:xfrm>
          <a:prstGeom prst="rect">
            <a:avLst/>
          </a:prstGeom>
          <a:solidFill>
            <a:srgbClr val="0E3B2E"/>
          </a:solidFill>
          <a:ln/>
        </p:spPr>
      </p:sp>
      <p:sp>
        <p:nvSpPr>
          <p:cNvPr id="6" name="Shape 4"/>
          <p:cNvSpPr/>
          <p:nvPr/>
        </p:nvSpPr>
        <p:spPr>
          <a:xfrm>
            <a:off x="3255264" y="3566160"/>
            <a:ext cx="118872" cy="118872"/>
          </a:xfrm>
          <a:prstGeom prst="rect">
            <a:avLst/>
          </a:prstGeom>
          <a:solidFill>
            <a:srgbClr val="5CE79A"/>
          </a:solidFill>
          <a:ln/>
        </p:spPr>
      </p:sp>
      <p:sp>
        <p:nvSpPr>
          <p:cNvPr id="7" name="Shape 5"/>
          <p:cNvSpPr/>
          <p:nvPr/>
        </p:nvSpPr>
        <p:spPr>
          <a:xfrm>
            <a:off x="3374136" y="3566160"/>
            <a:ext cx="118872" cy="118872"/>
          </a:xfrm>
          <a:prstGeom prst="rect">
            <a:avLst/>
          </a:prstGeom>
          <a:solidFill>
            <a:srgbClr val="5CE79A"/>
          </a:solidFill>
          <a:ln/>
        </p:spPr>
      </p:sp>
      <p:sp>
        <p:nvSpPr>
          <p:cNvPr id="8" name="Shape 6"/>
          <p:cNvSpPr/>
          <p:nvPr/>
        </p:nvSpPr>
        <p:spPr>
          <a:xfrm>
            <a:off x="3255264" y="3685032"/>
            <a:ext cx="118872" cy="118872"/>
          </a:xfrm>
          <a:prstGeom prst="rect">
            <a:avLst/>
          </a:prstGeom>
          <a:solidFill>
            <a:srgbClr val="5CE79A"/>
          </a:solidFill>
          <a:ln/>
        </p:spPr>
      </p:sp>
      <p:sp>
        <p:nvSpPr>
          <p:cNvPr id="9" name="Shape 7"/>
          <p:cNvSpPr/>
          <p:nvPr/>
        </p:nvSpPr>
        <p:spPr>
          <a:xfrm>
            <a:off x="3374136" y="3685032"/>
            <a:ext cx="118872" cy="118872"/>
          </a:xfrm>
          <a:prstGeom prst="rect">
            <a:avLst/>
          </a:prstGeom>
          <a:solidFill>
            <a:srgbClr val="5CE79A"/>
          </a:solidFill>
          <a:ln/>
        </p:spPr>
      </p:sp>
      <p:sp>
        <p:nvSpPr>
          <p:cNvPr id="10" name="Shape 8"/>
          <p:cNvSpPr/>
          <p:nvPr/>
        </p:nvSpPr>
        <p:spPr>
          <a:xfrm>
            <a:off x="3493008" y="3685032"/>
            <a:ext cx="118872" cy="118872"/>
          </a:xfrm>
          <a:prstGeom prst="rect">
            <a:avLst/>
          </a:prstGeom>
          <a:solidFill>
            <a:srgbClr val="5CE79A"/>
          </a:solidFill>
          <a:ln/>
        </p:spPr>
      </p:sp>
      <p:sp>
        <p:nvSpPr>
          <p:cNvPr id="11" name="Shape 9"/>
          <p:cNvSpPr/>
          <p:nvPr/>
        </p:nvSpPr>
        <p:spPr>
          <a:xfrm>
            <a:off x="3136392" y="3803904"/>
            <a:ext cx="118872" cy="118872"/>
          </a:xfrm>
          <a:prstGeom prst="rect">
            <a:avLst/>
          </a:prstGeom>
          <a:solidFill>
            <a:srgbClr val="5CE79A"/>
          </a:solidFill>
          <a:ln/>
        </p:spPr>
      </p:sp>
      <p:sp>
        <p:nvSpPr>
          <p:cNvPr id="12" name="Shape 10"/>
          <p:cNvSpPr/>
          <p:nvPr/>
        </p:nvSpPr>
        <p:spPr>
          <a:xfrm>
            <a:off x="3255264" y="3803904"/>
            <a:ext cx="118872" cy="118872"/>
          </a:xfrm>
          <a:prstGeom prst="rect">
            <a:avLst/>
          </a:prstGeom>
          <a:solidFill>
            <a:srgbClr val="5CE79A"/>
          </a:solidFill>
          <a:ln/>
        </p:spPr>
      </p:sp>
      <p:sp>
        <p:nvSpPr>
          <p:cNvPr id="13" name="Shape 11"/>
          <p:cNvSpPr/>
          <p:nvPr/>
        </p:nvSpPr>
        <p:spPr>
          <a:xfrm>
            <a:off x="3374136" y="3803904"/>
            <a:ext cx="118872" cy="118872"/>
          </a:xfrm>
          <a:prstGeom prst="rect">
            <a:avLst/>
          </a:prstGeom>
          <a:solidFill>
            <a:srgbClr val="5CE79A"/>
          </a:solidFill>
          <a:ln/>
        </p:spPr>
      </p:sp>
      <p:sp>
        <p:nvSpPr>
          <p:cNvPr id="14" name="Shape 12"/>
          <p:cNvSpPr/>
          <p:nvPr/>
        </p:nvSpPr>
        <p:spPr>
          <a:xfrm>
            <a:off x="3493008" y="3803904"/>
            <a:ext cx="118872" cy="118872"/>
          </a:xfrm>
          <a:prstGeom prst="rect">
            <a:avLst/>
          </a:prstGeom>
          <a:solidFill>
            <a:srgbClr val="5CE79A"/>
          </a:solidFill>
          <a:ln/>
        </p:spPr>
      </p:sp>
      <p:sp>
        <p:nvSpPr>
          <p:cNvPr id="15" name="Shape 13"/>
          <p:cNvSpPr/>
          <p:nvPr/>
        </p:nvSpPr>
        <p:spPr>
          <a:xfrm>
            <a:off x="3136392" y="3922776"/>
            <a:ext cx="118872" cy="118872"/>
          </a:xfrm>
          <a:prstGeom prst="rect">
            <a:avLst/>
          </a:prstGeom>
          <a:solidFill>
            <a:srgbClr val="5CE79A"/>
          </a:solidFill>
          <a:ln/>
        </p:spPr>
      </p:sp>
      <p:sp>
        <p:nvSpPr>
          <p:cNvPr id="16" name="Shape 14"/>
          <p:cNvSpPr/>
          <p:nvPr/>
        </p:nvSpPr>
        <p:spPr>
          <a:xfrm>
            <a:off x="3255264" y="3922776"/>
            <a:ext cx="118872" cy="118872"/>
          </a:xfrm>
          <a:prstGeom prst="rect">
            <a:avLst/>
          </a:prstGeom>
          <a:solidFill>
            <a:srgbClr val="5CE79A"/>
          </a:solidFill>
          <a:ln/>
        </p:spPr>
      </p:sp>
      <p:sp>
        <p:nvSpPr>
          <p:cNvPr id="17" name="Shape 15"/>
          <p:cNvSpPr/>
          <p:nvPr/>
        </p:nvSpPr>
        <p:spPr>
          <a:xfrm>
            <a:off x="3374136" y="3922776"/>
            <a:ext cx="118872" cy="118872"/>
          </a:xfrm>
          <a:prstGeom prst="rect">
            <a:avLst/>
          </a:prstGeom>
          <a:solidFill>
            <a:srgbClr val="5CE79A"/>
          </a:solidFill>
          <a:ln/>
        </p:spPr>
      </p:sp>
      <p:sp>
        <p:nvSpPr>
          <p:cNvPr id="18" name="Shape 16"/>
          <p:cNvSpPr/>
          <p:nvPr/>
        </p:nvSpPr>
        <p:spPr>
          <a:xfrm>
            <a:off x="3493008" y="3922776"/>
            <a:ext cx="118872" cy="118872"/>
          </a:xfrm>
          <a:prstGeom prst="rect">
            <a:avLst/>
          </a:prstGeom>
          <a:solidFill>
            <a:srgbClr val="5CE79A"/>
          </a:solidFill>
          <a:ln/>
        </p:spPr>
      </p:sp>
      <p:sp>
        <p:nvSpPr>
          <p:cNvPr id="19" name="Shape 17"/>
          <p:cNvSpPr/>
          <p:nvPr/>
        </p:nvSpPr>
        <p:spPr>
          <a:xfrm>
            <a:off x="3611880" y="3922776"/>
            <a:ext cx="118872" cy="118872"/>
          </a:xfrm>
          <a:prstGeom prst="rect">
            <a:avLst/>
          </a:prstGeom>
          <a:solidFill>
            <a:srgbClr val="5CE79A"/>
          </a:solidFill>
          <a:ln/>
        </p:spPr>
      </p:sp>
      <p:sp>
        <p:nvSpPr>
          <p:cNvPr id="20" name="Shape 18"/>
          <p:cNvSpPr/>
          <p:nvPr/>
        </p:nvSpPr>
        <p:spPr>
          <a:xfrm>
            <a:off x="3017520" y="4041648"/>
            <a:ext cx="118872" cy="118872"/>
          </a:xfrm>
          <a:prstGeom prst="rect">
            <a:avLst/>
          </a:prstGeom>
          <a:solidFill>
            <a:srgbClr val="5CE79A"/>
          </a:solidFill>
          <a:ln/>
        </p:spPr>
      </p:sp>
      <p:sp>
        <p:nvSpPr>
          <p:cNvPr id="21" name="Shape 19"/>
          <p:cNvSpPr/>
          <p:nvPr/>
        </p:nvSpPr>
        <p:spPr>
          <a:xfrm>
            <a:off x="3136392" y="4041648"/>
            <a:ext cx="118872" cy="118872"/>
          </a:xfrm>
          <a:prstGeom prst="rect">
            <a:avLst/>
          </a:prstGeom>
          <a:solidFill>
            <a:srgbClr val="5CE79A"/>
          </a:solidFill>
          <a:ln/>
        </p:spPr>
      </p:sp>
      <p:sp>
        <p:nvSpPr>
          <p:cNvPr id="22" name="Shape 20"/>
          <p:cNvSpPr/>
          <p:nvPr/>
        </p:nvSpPr>
        <p:spPr>
          <a:xfrm>
            <a:off x="3255264" y="4041648"/>
            <a:ext cx="118872" cy="118872"/>
          </a:xfrm>
          <a:prstGeom prst="rect">
            <a:avLst/>
          </a:prstGeom>
          <a:solidFill>
            <a:srgbClr val="5CE79A"/>
          </a:solidFill>
          <a:ln/>
        </p:spPr>
      </p:sp>
      <p:sp>
        <p:nvSpPr>
          <p:cNvPr id="23" name="Shape 21"/>
          <p:cNvSpPr/>
          <p:nvPr/>
        </p:nvSpPr>
        <p:spPr>
          <a:xfrm>
            <a:off x="3374136" y="4041648"/>
            <a:ext cx="118872" cy="118872"/>
          </a:xfrm>
          <a:prstGeom prst="rect">
            <a:avLst/>
          </a:prstGeom>
          <a:solidFill>
            <a:srgbClr val="5CE79A"/>
          </a:solidFill>
          <a:ln/>
        </p:spPr>
      </p:sp>
      <p:sp>
        <p:nvSpPr>
          <p:cNvPr id="24" name="Shape 22"/>
          <p:cNvSpPr/>
          <p:nvPr/>
        </p:nvSpPr>
        <p:spPr>
          <a:xfrm>
            <a:off x="3493008" y="4041648"/>
            <a:ext cx="118872" cy="118872"/>
          </a:xfrm>
          <a:prstGeom prst="rect">
            <a:avLst/>
          </a:prstGeom>
          <a:solidFill>
            <a:srgbClr val="5CE79A"/>
          </a:solidFill>
          <a:ln/>
        </p:spPr>
      </p:sp>
      <p:sp>
        <p:nvSpPr>
          <p:cNvPr id="25" name="Shape 23"/>
          <p:cNvSpPr/>
          <p:nvPr/>
        </p:nvSpPr>
        <p:spPr>
          <a:xfrm>
            <a:off x="3136392" y="4160520"/>
            <a:ext cx="118872" cy="118872"/>
          </a:xfrm>
          <a:prstGeom prst="rect">
            <a:avLst/>
          </a:prstGeom>
          <a:solidFill>
            <a:srgbClr val="5CE79A"/>
          </a:solidFill>
          <a:ln/>
        </p:spPr>
      </p:sp>
      <p:sp>
        <p:nvSpPr>
          <p:cNvPr id="26" name="Shape 24"/>
          <p:cNvSpPr/>
          <p:nvPr/>
        </p:nvSpPr>
        <p:spPr>
          <a:xfrm>
            <a:off x="3255264" y="4160520"/>
            <a:ext cx="118872" cy="118872"/>
          </a:xfrm>
          <a:prstGeom prst="rect">
            <a:avLst/>
          </a:prstGeom>
          <a:solidFill>
            <a:srgbClr val="5CE79A"/>
          </a:solidFill>
          <a:ln/>
        </p:spPr>
      </p:sp>
      <p:sp>
        <p:nvSpPr>
          <p:cNvPr id="27" name="Shape 25"/>
          <p:cNvSpPr/>
          <p:nvPr/>
        </p:nvSpPr>
        <p:spPr>
          <a:xfrm>
            <a:off x="3374136" y="4160520"/>
            <a:ext cx="118872" cy="118872"/>
          </a:xfrm>
          <a:prstGeom prst="rect">
            <a:avLst/>
          </a:prstGeom>
          <a:solidFill>
            <a:srgbClr val="5CE79A"/>
          </a:solidFill>
          <a:ln/>
        </p:spPr>
      </p:sp>
      <p:sp>
        <p:nvSpPr>
          <p:cNvPr id="28" name="Shape 26"/>
          <p:cNvSpPr/>
          <p:nvPr/>
        </p:nvSpPr>
        <p:spPr>
          <a:xfrm>
            <a:off x="3136392" y="4279392"/>
            <a:ext cx="118872" cy="118872"/>
          </a:xfrm>
          <a:prstGeom prst="rect">
            <a:avLst/>
          </a:prstGeom>
          <a:solidFill>
            <a:srgbClr val="5CE79A"/>
          </a:solidFill>
          <a:ln/>
        </p:spPr>
      </p:sp>
      <p:sp>
        <p:nvSpPr>
          <p:cNvPr id="29" name="Shape 27"/>
          <p:cNvSpPr/>
          <p:nvPr/>
        </p:nvSpPr>
        <p:spPr>
          <a:xfrm>
            <a:off x="3374136" y="4279392"/>
            <a:ext cx="118872" cy="118872"/>
          </a:xfrm>
          <a:prstGeom prst="rect">
            <a:avLst/>
          </a:prstGeom>
          <a:solidFill>
            <a:srgbClr val="5CE79A"/>
          </a:solidFill>
          <a:ln/>
        </p:spPr>
      </p:sp>
      <p:sp>
        <p:nvSpPr>
          <p:cNvPr id="30" name="Shape 28"/>
          <p:cNvSpPr/>
          <p:nvPr/>
        </p:nvSpPr>
        <p:spPr>
          <a:xfrm>
            <a:off x="7680960" y="3657600"/>
            <a:ext cx="201168" cy="1005840"/>
          </a:xfrm>
          <a:prstGeom prst="rect">
            <a:avLst/>
          </a:prstGeom>
          <a:solidFill>
            <a:srgbClr val="5CE79A"/>
          </a:solidFill>
          <a:ln/>
        </p:spPr>
      </p:sp>
      <p:sp>
        <p:nvSpPr>
          <p:cNvPr id="31" name="Shape 29"/>
          <p:cNvSpPr/>
          <p:nvPr/>
        </p:nvSpPr>
        <p:spPr>
          <a:xfrm>
            <a:off x="7452360" y="3977640"/>
            <a:ext cx="201168" cy="365760"/>
          </a:xfrm>
          <a:prstGeom prst="rect">
            <a:avLst/>
          </a:prstGeom>
          <a:solidFill>
            <a:srgbClr val="5CE79A"/>
          </a:solidFill>
          <a:ln/>
        </p:spPr>
      </p:sp>
      <p:sp>
        <p:nvSpPr>
          <p:cNvPr id="32" name="Shape 30"/>
          <p:cNvSpPr/>
          <p:nvPr/>
        </p:nvSpPr>
        <p:spPr>
          <a:xfrm>
            <a:off x="7909560" y="3977640"/>
            <a:ext cx="201168" cy="365760"/>
          </a:xfrm>
          <a:prstGeom prst="rect">
            <a:avLst/>
          </a:prstGeom>
          <a:solidFill>
            <a:srgbClr val="5CE79A"/>
          </a:solidFill>
          <a:ln/>
        </p:spPr>
      </p:sp>
      <p:sp>
        <p:nvSpPr>
          <p:cNvPr id="33" name="Shape 31"/>
          <p:cNvSpPr/>
          <p:nvPr/>
        </p:nvSpPr>
        <p:spPr>
          <a:xfrm>
            <a:off x="2468880" y="4709160"/>
            <a:ext cx="7223760" cy="0"/>
          </a:xfrm>
          <a:prstGeom prst="line">
            <a:avLst/>
          </a:prstGeom>
          <a:noFill/>
          <a:ln w="19050">
            <a:solidFill>
              <a:srgbClr val="5CE79A"/>
            </a:solidFill>
            <a:prstDash val="dash"/>
          </a:ln>
        </p:spPr>
      </p:sp>
      <p:sp>
        <p:nvSpPr>
          <p:cNvPr id="34" name="Text 32"/>
          <p:cNvSpPr/>
          <p:nvPr/>
        </p:nvSpPr>
        <p:spPr>
          <a:xfrm>
            <a:off x="7315200" y="2514600"/>
            <a:ext cx="2194560" cy="320040"/>
          </a:xfrm>
          <a:prstGeom prst="rect">
            <a:avLst/>
          </a:prstGeom>
          <a:noFill/>
          <a:ln/>
        </p:spPr>
        <p:txBody>
          <a:bodyPr wrap="square" lIns="0" tIns="0" rIns="0" bIns="0" rtlCol="0" anchor="ctr"/>
          <a:lstStyle/>
          <a:p>
            <a:pPr algn="r" indent="0" marL="0">
              <a:buNone/>
            </a:pPr>
            <a:r>
              <a:rPr lang="en-US" sz="1500" dirty="0">
                <a:solidFill>
                  <a:srgbClr val="5CE79A"/>
                </a:solidFill>
                <a:latin typeface="Courier New" pitchFamily="34" charset="0"/>
                <a:ea typeface="Courier New" pitchFamily="34" charset="-122"/>
                <a:cs typeface="Courier New" pitchFamily="34" charset="-120"/>
              </a:rPr>
              <a:t>SCORE  01452</a:t>
            </a:r>
            <a:endParaRPr lang="en-US" sz="1500" dirty="0"/>
          </a:p>
        </p:txBody>
      </p:sp>
      <p:sp>
        <p:nvSpPr>
          <p:cNvPr id="35" name="Shape 33"/>
          <p:cNvSpPr/>
          <p:nvPr/>
        </p:nvSpPr>
        <p:spPr>
          <a:xfrm>
            <a:off x="5440680" y="5303520"/>
            <a:ext cx="1280160" cy="320040"/>
          </a:xfrm>
          <a:prstGeom prst="roundRect">
            <a:avLst>
              <a:gd name="adj" fmla="val 42857"/>
            </a:avLst>
          </a:prstGeom>
          <a:solidFill>
            <a:srgbClr val="1E2761"/>
          </a:solidFill>
          <a:ln/>
        </p:spPr>
      </p:sp>
      <p:sp>
        <p:nvSpPr>
          <p:cNvPr id="36" name="Text 34"/>
          <p:cNvSpPr/>
          <p:nvPr/>
        </p:nvSpPr>
        <p:spPr>
          <a:xfrm>
            <a:off x="457200" y="6537960"/>
            <a:ext cx="7315200" cy="274320"/>
          </a:xfrm>
          <a:prstGeom prst="rect">
            <a:avLst/>
          </a:prstGeom>
          <a:noFill/>
          <a:ln/>
        </p:spPr>
        <p:txBody>
          <a:bodyPr wrap="square" lIns="0" tIns="0" rIns="0" bIns="0" rtlCol="0" anchor="ctr"/>
          <a:lstStyle/>
          <a:p>
            <a:pPr algn="l" indent="0" marL="0">
              <a:buNone/>
            </a:pPr>
            <a:r>
              <a:rPr lang="en-US" sz="900" dirty="0">
                <a:solidFill>
                  <a:srgbClr val="8A90A6"/>
                </a:solidFill>
                <a:latin typeface="Calibri" pitchFamily="34" charset="0"/>
                <a:ea typeface="Calibri" pitchFamily="34" charset="-122"/>
                <a:cs typeface="Calibri" pitchFamily="34" charset="-120"/>
              </a:rPr>
              <a:t>Chrome Dinosaur Game on ATmega32  |  Team 1</a:t>
            </a:r>
            <a:endParaRPr lang="en-US" sz="900" dirty="0"/>
          </a:p>
        </p:txBody>
      </p:sp>
      <p:sp>
        <p:nvSpPr>
          <p:cNvPr id="37" name="Text 35"/>
          <p:cNvSpPr/>
          <p:nvPr/>
        </p:nvSpPr>
        <p:spPr>
          <a:xfrm>
            <a:off x="11430000" y="6537960"/>
            <a:ext cx="365760" cy="274320"/>
          </a:xfrm>
          <a:prstGeom prst="rect">
            <a:avLst/>
          </a:prstGeom>
          <a:noFill/>
          <a:ln/>
        </p:spPr>
        <p:txBody>
          <a:bodyPr wrap="square" lIns="0" tIns="0" rIns="0" bIns="0" rtlCol="0" anchor="ctr"/>
          <a:lstStyle/>
          <a:p>
            <a:pPr algn="r" indent="0" marL="0">
              <a:buNone/>
            </a:pPr>
            <a:r>
              <a:rPr lang="en-US" sz="900" dirty="0">
                <a:solidFill>
                  <a:srgbClr val="8A90A6"/>
                </a:solidFill>
                <a:latin typeface="Calibri" pitchFamily="34" charset="0"/>
                <a:ea typeface="Calibri" pitchFamily="34" charset="-122"/>
                <a:cs typeface="Calibri" pitchFamily="34" charset="-120"/>
              </a:rPr>
              <a:t>10</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141935"/>
        </a:solidFill>
      </p:bgPr>
    </p:bg>
    <p:spTree>
      <p:nvGrpSpPr>
        <p:cNvPr id="1" name=""/>
        <p:cNvGrpSpPr/>
        <p:nvPr/>
      </p:nvGrpSpPr>
      <p:grpSpPr>
        <a:xfrm>
          <a:off x="0" y="0"/>
          <a:ext cx="0" cy="0"/>
          <a:chOff x="0" y="0"/>
          <a:chExt cx="0" cy="0"/>
        </a:xfrm>
      </p:grpSpPr>
      <p:sp>
        <p:nvSpPr>
          <p:cNvPr id="2" name="Shape 0"/>
          <p:cNvSpPr/>
          <p:nvPr/>
        </p:nvSpPr>
        <p:spPr>
          <a:xfrm>
            <a:off x="1243584" y="2377440"/>
            <a:ext cx="164592" cy="164592"/>
          </a:xfrm>
          <a:prstGeom prst="rect">
            <a:avLst/>
          </a:prstGeom>
          <a:solidFill>
            <a:srgbClr val="5CE79A"/>
          </a:solidFill>
          <a:ln/>
        </p:spPr>
      </p:sp>
      <p:sp>
        <p:nvSpPr>
          <p:cNvPr id="3" name="Shape 1"/>
          <p:cNvSpPr/>
          <p:nvPr/>
        </p:nvSpPr>
        <p:spPr>
          <a:xfrm>
            <a:off x="1408176" y="2377440"/>
            <a:ext cx="164592" cy="164592"/>
          </a:xfrm>
          <a:prstGeom prst="rect">
            <a:avLst/>
          </a:prstGeom>
          <a:solidFill>
            <a:srgbClr val="5CE79A"/>
          </a:solidFill>
          <a:ln/>
        </p:spPr>
      </p:sp>
      <p:sp>
        <p:nvSpPr>
          <p:cNvPr id="4" name="Shape 2"/>
          <p:cNvSpPr/>
          <p:nvPr/>
        </p:nvSpPr>
        <p:spPr>
          <a:xfrm>
            <a:off x="1243584" y="2542032"/>
            <a:ext cx="164592" cy="164592"/>
          </a:xfrm>
          <a:prstGeom prst="rect">
            <a:avLst/>
          </a:prstGeom>
          <a:solidFill>
            <a:srgbClr val="5CE79A"/>
          </a:solidFill>
          <a:ln/>
        </p:spPr>
      </p:sp>
      <p:sp>
        <p:nvSpPr>
          <p:cNvPr id="5" name="Shape 3"/>
          <p:cNvSpPr/>
          <p:nvPr/>
        </p:nvSpPr>
        <p:spPr>
          <a:xfrm>
            <a:off x="1408176" y="2542032"/>
            <a:ext cx="164592" cy="164592"/>
          </a:xfrm>
          <a:prstGeom prst="rect">
            <a:avLst/>
          </a:prstGeom>
          <a:solidFill>
            <a:srgbClr val="5CE79A"/>
          </a:solidFill>
          <a:ln/>
        </p:spPr>
      </p:sp>
      <p:sp>
        <p:nvSpPr>
          <p:cNvPr id="6" name="Shape 4"/>
          <p:cNvSpPr/>
          <p:nvPr/>
        </p:nvSpPr>
        <p:spPr>
          <a:xfrm>
            <a:off x="1572768" y="2542032"/>
            <a:ext cx="164592" cy="164592"/>
          </a:xfrm>
          <a:prstGeom prst="rect">
            <a:avLst/>
          </a:prstGeom>
          <a:solidFill>
            <a:srgbClr val="5CE79A"/>
          </a:solidFill>
          <a:ln/>
        </p:spPr>
      </p:sp>
      <p:sp>
        <p:nvSpPr>
          <p:cNvPr id="7" name="Shape 5"/>
          <p:cNvSpPr/>
          <p:nvPr/>
        </p:nvSpPr>
        <p:spPr>
          <a:xfrm>
            <a:off x="1078992" y="2706624"/>
            <a:ext cx="164592" cy="164592"/>
          </a:xfrm>
          <a:prstGeom prst="rect">
            <a:avLst/>
          </a:prstGeom>
          <a:solidFill>
            <a:srgbClr val="5CE79A"/>
          </a:solidFill>
          <a:ln/>
        </p:spPr>
      </p:sp>
      <p:sp>
        <p:nvSpPr>
          <p:cNvPr id="8" name="Shape 6"/>
          <p:cNvSpPr/>
          <p:nvPr/>
        </p:nvSpPr>
        <p:spPr>
          <a:xfrm>
            <a:off x="1243584" y="2706624"/>
            <a:ext cx="164592" cy="164592"/>
          </a:xfrm>
          <a:prstGeom prst="rect">
            <a:avLst/>
          </a:prstGeom>
          <a:solidFill>
            <a:srgbClr val="5CE79A"/>
          </a:solidFill>
          <a:ln/>
        </p:spPr>
      </p:sp>
      <p:sp>
        <p:nvSpPr>
          <p:cNvPr id="9" name="Shape 7"/>
          <p:cNvSpPr/>
          <p:nvPr/>
        </p:nvSpPr>
        <p:spPr>
          <a:xfrm>
            <a:off x="1408176" y="2706624"/>
            <a:ext cx="164592" cy="164592"/>
          </a:xfrm>
          <a:prstGeom prst="rect">
            <a:avLst/>
          </a:prstGeom>
          <a:solidFill>
            <a:srgbClr val="5CE79A"/>
          </a:solidFill>
          <a:ln/>
        </p:spPr>
      </p:sp>
      <p:sp>
        <p:nvSpPr>
          <p:cNvPr id="10" name="Shape 8"/>
          <p:cNvSpPr/>
          <p:nvPr/>
        </p:nvSpPr>
        <p:spPr>
          <a:xfrm>
            <a:off x="1572768" y="2706624"/>
            <a:ext cx="164592" cy="164592"/>
          </a:xfrm>
          <a:prstGeom prst="rect">
            <a:avLst/>
          </a:prstGeom>
          <a:solidFill>
            <a:srgbClr val="5CE79A"/>
          </a:solidFill>
          <a:ln/>
        </p:spPr>
      </p:sp>
      <p:sp>
        <p:nvSpPr>
          <p:cNvPr id="11" name="Shape 9"/>
          <p:cNvSpPr/>
          <p:nvPr/>
        </p:nvSpPr>
        <p:spPr>
          <a:xfrm>
            <a:off x="1078992" y="2871216"/>
            <a:ext cx="164592" cy="164592"/>
          </a:xfrm>
          <a:prstGeom prst="rect">
            <a:avLst/>
          </a:prstGeom>
          <a:solidFill>
            <a:srgbClr val="5CE79A"/>
          </a:solidFill>
          <a:ln/>
        </p:spPr>
      </p:sp>
      <p:sp>
        <p:nvSpPr>
          <p:cNvPr id="12" name="Shape 10"/>
          <p:cNvSpPr/>
          <p:nvPr/>
        </p:nvSpPr>
        <p:spPr>
          <a:xfrm>
            <a:off x="1243584" y="2871216"/>
            <a:ext cx="164592" cy="164592"/>
          </a:xfrm>
          <a:prstGeom prst="rect">
            <a:avLst/>
          </a:prstGeom>
          <a:solidFill>
            <a:srgbClr val="5CE79A"/>
          </a:solidFill>
          <a:ln/>
        </p:spPr>
      </p:sp>
      <p:sp>
        <p:nvSpPr>
          <p:cNvPr id="13" name="Shape 11"/>
          <p:cNvSpPr/>
          <p:nvPr/>
        </p:nvSpPr>
        <p:spPr>
          <a:xfrm>
            <a:off x="1408176" y="2871216"/>
            <a:ext cx="164592" cy="164592"/>
          </a:xfrm>
          <a:prstGeom prst="rect">
            <a:avLst/>
          </a:prstGeom>
          <a:solidFill>
            <a:srgbClr val="5CE79A"/>
          </a:solidFill>
          <a:ln/>
        </p:spPr>
      </p:sp>
      <p:sp>
        <p:nvSpPr>
          <p:cNvPr id="14" name="Shape 12"/>
          <p:cNvSpPr/>
          <p:nvPr/>
        </p:nvSpPr>
        <p:spPr>
          <a:xfrm>
            <a:off x="1572768" y="2871216"/>
            <a:ext cx="164592" cy="164592"/>
          </a:xfrm>
          <a:prstGeom prst="rect">
            <a:avLst/>
          </a:prstGeom>
          <a:solidFill>
            <a:srgbClr val="5CE79A"/>
          </a:solidFill>
          <a:ln/>
        </p:spPr>
      </p:sp>
      <p:sp>
        <p:nvSpPr>
          <p:cNvPr id="15" name="Shape 13"/>
          <p:cNvSpPr/>
          <p:nvPr/>
        </p:nvSpPr>
        <p:spPr>
          <a:xfrm>
            <a:off x="1737360" y="2871216"/>
            <a:ext cx="164592" cy="164592"/>
          </a:xfrm>
          <a:prstGeom prst="rect">
            <a:avLst/>
          </a:prstGeom>
          <a:solidFill>
            <a:srgbClr val="5CE79A"/>
          </a:solidFill>
          <a:ln/>
        </p:spPr>
      </p:sp>
      <p:sp>
        <p:nvSpPr>
          <p:cNvPr id="16" name="Shape 14"/>
          <p:cNvSpPr/>
          <p:nvPr/>
        </p:nvSpPr>
        <p:spPr>
          <a:xfrm>
            <a:off x="914400" y="3035808"/>
            <a:ext cx="164592" cy="164592"/>
          </a:xfrm>
          <a:prstGeom prst="rect">
            <a:avLst/>
          </a:prstGeom>
          <a:solidFill>
            <a:srgbClr val="5CE79A"/>
          </a:solidFill>
          <a:ln/>
        </p:spPr>
      </p:sp>
      <p:sp>
        <p:nvSpPr>
          <p:cNvPr id="17" name="Shape 15"/>
          <p:cNvSpPr/>
          <p:nvPr/>
        </p:nvSpPr>
        <p:spPr>
          <a:xfrm>
            <a:off x="1078992" y="3035808"/>
            <a:ext cx="164592" cy="164592"/>
          </a:xfrm>
          <a:prstGeom prst="rect">
            <a:avLst/>
          </a:prstGeom>
          <a:solidFill>
            <a:srgbClr val="5CE79A"/>
          </a:solidFill>
          <a:ln/>
        </p:spPr>
      </p:sp>
      <p:sp>
        <p:nvSpPr>
          <p:cNvPr id="18" name="Shape 16"/>
          <p:cNvSpPr/>
          <p:nvPr/>
        </p:nvSpPr>
        <p:spPr>
          <a:xfrm>
            <a:off x="1243584" y="3035808"/>
            <a:ext cx="164592" cy="164592"/>
          </a:xfrm>
          <a:prstGeom prst="rect">
            <a:avLst/>
          </a:prstGeom>
          <a:solidFill>
            <a:srgbClr val="5CE79A"/>
          </a:solidFill>
          <a:ln/>
        </p:spPr>
      </p:sp>
      <p:sp>
        <p:nvSpPr>
          <p:cNvPr id="19" name="Shape 17"/>
          <p:cNvSpPr/>
          <p:nvPr/>
        </p:nvSpPr>
        <p:spPr>
          <a:xfrm>
            <a:off x="1408176" y="3035808"/>
            <a:ext cx="164592" cy="164592"/>
          </a:xfrm>
          <a:prstGeom prst="rect">
            <a:avLst/>
          </a:prstGeom>
          <a:solidFill>
            <a:srgbClr val="5CE79A"/>
          </a:solidFill>
          <a:ln/>
        </p:spPr>
      </p:sp>
      <p:sp>
        <p:nvSpPr>
          <p:cNvPr id="20" name="Shape 18"/>
          <p:cNvSpPr/>
          <p:nvPr/>
        </p:nvSpPr>
        <p:spPr>
          <a:xfrm>
            <a:off x="1572768" y="3035808"/>
            <a:ext cx="164592" cy="164592"/>
          </a:xfrm>
          <a:prstGeom prst="rect">
            <a:avLst/>
          </a:prstGeom>
          <a:solidFill>
            <a:srgbClr val="5CE79A"/>
          </a:solidFill>
          <a:ln/>
        </p:spPr>
      </p:sp>
      <p:sp>
        <p:nvSpPr>
          <p:cNvPr id="21" name="Shape 19"/>
          <p:cNvSpPr/>
          <p:nvPr/>
        </p:nvSpPr>
        <p:spPr>
          <a:xfrm>
            <a:off x="1078992" y="3200400"/>
            <a:ext cx="164592" cy="164592"/>
          </a:xfrm>
          <a:prstGeom prst="rect">
            <a:avLst/>
          </a:prstGeom>
          <a:solidFill>
            <a:srgbClr val="5CE79A"/>
          </a:solidFill>
          <a:ln/>
        </p:spPr>
      </p:sp>
      <p:sp>
        <p:nvSpPr>
          <p:cNvPr id="22" name="Shape 20"/>
          <p:cNvSpPr/>
          <p:nvPr/>
        </p:nvSpPr>
        <p:spPr>
          <a:xfrm>
            <a:off x="1243584" y="3200400"/>
            <a:ext cx="164592" cy="164592"/>
          </a:xfrm>
          <a:prstGeom prst="rect">
            <a:avLst/>
          </a:prstGeom>
          <a:solidFill>
            <a:srgbClr val="5CE79A"/>
          </a:solidFill>
          <a:ln/>
        </p:spPr>
      </p:sp>
      <p:sp>
        <p:nvSpPr>
          <p:cNvPr id="23" name="Shape 21"/>
          <p:cNvSpPr/>
          <p:nvPr/>
        </p:nvSpPr>
        <p:spPr>
          <a:xfrm>
            <a:off x="1408176" y="3200400"/>
            <a:ext cx="164592" cy="164592"/>
          </a:xfrm>
          <a:prstGeom prst="rect">
            <a:avLst/>
          </a:prstGeom>
          <a:solidFill>
            <a:srgbClr val="5CE79A"/>
          </a:solidFill>
          <a:ln/>
        </p:spPr>
      </p:sp>
      <p:sp>
        <p:nvSpPr>
          <p:cNvPr id="24" name="Shape 22"/>
          <p:cNvSpPr/>
          <p:nvPr/>
        </p:nvSpPr>
        <p:spPr>
          <a:xfrm>
            <a:off x="1078992" y="3364992"/>
            <a:ext cx="164592" cy="164592"/>
          </a:xfrm>
          <a:prstGeom prst="rect">
            <a:avLst/>
          </a:prstGeom>
          <a:solidFill>
            <a:srgbClr val="5CE79A"/>
          </a:solidFill>
          <a:ln/>
        </p:spPr>
      </p:sp>
      <p:sp>
        <p:nvSpPr>
          <p:cNvPr id="25" name="Shape 23"/>
          <p:cNvSpPr/>
          <p:nvPr/>
        </p:nvSpPr>
        <p:spPr>
          <a:xfrm>
            <a:off x="1408176" y="3364992"/>
            <a:ext cx="164592" cy="164592"/>
          </a:xfrm>
          <a:prstGeom prst="rect">
            <a:avLst/>
          </a:prstGeom>
          <a:solidFill>
            <a:srgbClr val="5CE79A"/>
          </a:solidFill>
          <a:ln/>
        </p:spPr>
      </p:sp>
      <p:sp>
        <p:nvSpPr>
          <p:cNvPr id="26" name="Text 24"/>
          <p:cNvSpPr/>
          <p:nvPr/>
        </p:nvSpPr>
        <p:spPr>
          <a:xfrm>
            <a:off x="3657600" y="2377440"/>
            <a:ext cx="7772400" cy="914400"/>
          </a:xfrm>
          <a:prstGeom prst="rect">
            <a:avLst/>
          </a:prstGeom>
          <a:noFill/>
          <a:ln/>
        </p:spPr>
        <p:txBody>
          <a:bodyPr wrap="square" lIns="0" tIns="0" rIns="0" bIns="0" rtlCol="0" anchor="ctr"/>
          <a:lstStyle/>
          <a:p>
            <a:pPr indent="0" marL="0">
              <a:buNone/>
            </a:pPr>
            <a:r>
              <a:rPr lang="en-US" sz="4800" b="1" dirty="0">
                <a:solidFill>
                  <a:srgbClr val="FFFFFF"/>
                </a:solidFill>
                <a:latin typeface="Cambria" pitchFamily="34" charset="0"/>
                <a:ea typeface="Cambria" pitchFamily="34" charset="-122"/>
                <a:cs typeface="Cambria" pitchFamily="34" charset="-120"/>
              </a:rPr>
              <a:t>Thank You</a:t>
            </a:r>
            <a:endParaRPr lang="en-US" sz="4800" dirty="0"/>
          </a:p>
        </p:txBody>
      </p:sp>
      <p:sp>
        <p:nvSpPr>
          <p:cNvPr id="27" name="Shape 25"/>
          <p:cNvSpPr/>
          <p:nvPr/>
        </p:nvSpPr>
        <p:spPr>
          <a:xfrm>
            <a:off x="3703320" y="3429000"/>
            <a:ext cx="914400" cy="0"/>
          </a:xfrm>
          <a:prstGeom prst="line">
            <a:avLst/>
          </a:prstGeom>
          <a:noFill/>
          <a:ln w="38100">
            <a:solidFill>
              <a:srgbClr val="5CE79A"/>
            </a:solidFill>
            <a:prstDash val="solid"/>
          </a:ln>
        </p:spPr>
      </p:sp>
      <p:sp>
        <p:nvSpPr>
          <p:cNvPr id="28" name="Text 26"/>
          <p:cNvSpPr/>
          <p:nvPr/>
        </p:nvSpPr>
        <p:spPr>
          <a:xfrm>
            <a:off x="3657600" y="3611880"/>
            <a:ext cx="7772400" cy="548640"/>
          </a:xfrm>
          <a:prstGeom prst="rect">
            <a:avLst/>
          </a:prstGeom>
          <a:noFill/>
          <a:ln/>
        </p:spPr>
        <p:txBody>
          <a:bodyPr wrap="square" lIns="0" tIns="0" rIns="0" bIns="0" rtlCol="0" anchor="ctr"/>
          <a:lstStyle/>
          <a:p>
            <a:pPr indent="0" marL="0">
              <a:buNone/>
            </a:pPr>
            <a:r>
              <a:rPr lang="en-US" sz="2000" i="1" dirty="0">
                <a:solidFill>
                  <a:srgbClr val="EAF0FF"/>
                </a:solidFill>
                <a:latin typeface="Calibri" pitchFamily="34" charset="0"/>
                <a:ea typeface="Calibri" pitchFamily="34" charset="-122"/>
                <a:cs typeface="Calibri" pitchFamily="34" charset="-120"/>
              </a:rPr>
              <a:t>Questions &amp; Answers</a:t>
            </a:r>
            <a:endParaRPr lang="en-US" sz="2000" dirty="0"/>
          </a:p>
        </p:txBody>
      </p:sp>
      <p:sp>
        <p:nvSpPr>
          <p:cNvPr id="29" name="Text 27"/>
          <p:cNvSpPr/>
          <p:nvPr/>
        </p:nvSpPr>
        <p:spPr>
          <a:xfrm>
            <a:off x="3657600" y="5212080"/>
            <a:ext cx="5486400" cy="457200"/>
          </a:xfrm>
          <a:prstGeom prst="rect">
            <a:avLst/>
          </a:prstGeom>
          <a:noFill/>
          <a:ln/>
        </p:spPr>
        <p:txBody>
          <a:bodyPr wrap="square" lIns="0" tIns="0" rIns="0" bIns="0" rtlCol="0" anchor="ctr"/>
          <a:lstStyle/>
          <a:p>
            <a:pPr indent="0" marL="0">
              <a:buNone/>
            </a:pPr>
            <a:r>
              <a:rPr lang="en-US" sz="1400" dirty="0">
                <a:solidFill>
                  <a:srgbClr val="8A90A6"/>
                </a:solidFill>
                <a:latin typeface="Calibri" pitchFamily="34" charset="0"/>
                <a:ea typeface="Calibri" pitchFamily="34" charset="-122"/>
                <a:cs typeface="Calibri" pitchFamily="34" charset="-120"/>
              </a:rPr>
              <a:t>Team 1</a:t>
            </a:r>
            <a:endParaRPr lang="en-US" sz="14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7F8FC"/>
        </a:solidFill>
      </p:bgPr>
    </p:bg>
    <p:spTree>
      <p:nvGrpSpPr>
        <p:cNvPr id="1" name=""/>
        <p:cNvGrpSpPr/>
        <p:nvPr/>
      </p:nvGrpSpPr>
      <p:grpSpPr>
        <a:xfrm>
          <a:off x="0" y="0"/>
          <a:ext cx="0" cy="0"/>
          <a:chOff x="0" y="0"/>
          <a:chExt cx="0" cy="0"/>
        </a:xfrm>
      </p:grpSpPr>
      <p:sp>
        <p:nvSpPr>
          <p:cNvPr id="2" name="Title"/>
          <p:cNvSpPr/>
          <p:nvPr/>
        </p:nvSpPr>
        <p:spPr>
          <a:xfrm>
            <a:off x="640080" y="502920"/>
            <a:ext cx="9144000" cy="548640"/>
          </a:xfrm>
          <a:prstGeom prst="rect">
            <a:avLst/>
          </a:prstGeom>
          <a:noFill/>
          <a:ln/>
        </p:spPr>
        <p:txBody>
          <a:bodyPr wrap="square" lIns="0" tIns="0" rIns="0" bIns="0" rtlCol="0" anchor="ctr"/>
          <a:lstStyle/>
          <a:p>
            <a:pPr indent="0" marL="0">
              <a:buNone/>
            </a:pPr>
            <a:r>
              <a:rPr lang="en-US" sz="3200" b="1" dirty="0">
                <a:solidFill>
                  <a:srgbClr val="141935"/>
                </a:solidFill>
                <a:latin typeface="Cambria" pitchFamily="34" charset="0"/>
                <a:ea typeface="Cambria" pitchFamily="34" charset="-122"/>
                <a:cs typeface="Cambria" pitchFamily="34" charset="-120"/>
              </a:rPr>
              <a:t>Source Code — Jump &amp; Collision</a:t>
            </a:r>
            <a:endParaRPr lang="en-US" sz="3200" dirty="0"/>
          </a:p>
        </p:txBody>
      </p:sp>
      <p:sp>
        <p:nvSpPr>
          <p:cNvPr id="3" name="Subtitle"/>
          <p:cNvSpPr/>
          <p:nvPr/>
        </p:nvSpPr>
        <p:spPr>
          <a:xfrm>
            <a:off x="640080" y="1051560"/>
            <a:ext cx="10911840" cy="365760"/>
          </a:xfrm>
          <a:prstGeom prst="rect">
            <a:avLst/>
          </a:prstGeom>
          <a:noFill/>
          <a:ln/>
        </p:spPr>
        <p:txBody>
          <a:bodyPr wrap="square" lIns="0" tIns="0" rIns="0" bIns="0" rtlCol="0" anchor="ctr"/>
          <a:lstStyle/>
          <a:p>
            <a:pPr indent="0" marL="0">
              <a:buNone/>
            </a:pPr>
            <a:r>
              <a:rPr lang="en-US" sz="1400" i="1" dirty="0">
                <a:solidFill>
                  <a:srgbClr val="3A3F5C"/>
                </a:solidFill>
                <a:latin typeface="Calibri" pitchFamily="34" charset="0"/>
                <a:ea typeface="Calibri" pitchFamily="34" charset="-122"/>
                <a:cs typeface="Calibri" pitchFamily="34" charset="-120"/>
              </a:rPr>
              <a:t>DINO_PROGRAM.c — non-blocking jump trigger and hitbox check inside the main loop</a:t>
            </a:r>
            <a:endParaRPr lang="en-US" sz="1400" dirty="0"/>
          </a:p>
        </p:txBody>
      </p:sp>
      <p:sp>
        <p:nvSpPr>
          <p:cNvPr id="4" name="CodePanel"/>
          <p:cNvSpPr/>
          <p:nvPr/>
        </p:nvSpPr>
        <p:spPr>
          <a:xfrm>
            <a:off x="640080" y="1650000"/>
            <a:ext cx="10911840" cy="4700000"/>
          </a:xfrm>
          <a:prstGeom prst="roundRect">
            <a:avLst>
              <a:gd name="adj" fmla="val 1600"/>
            </a:avLst>
          </a:prstGeom>
          <a:solidFill>
            <a:srgbClr val="1B1F3B"/>
          </a:solidFill>
          <a:ln>
            <a:noFill/>
          </a:ln>
        </p:spPr>
      </p:sp>
      <p:sp>
        <p:nvSpPr>
          <p:cNvPr id="5" name="Dots"/>
          <p:cNvSpPr/>
          <p:nvPr/>
        </p:nvSpPr>
        <p:spPr>
          <a:xfrm>
            <a:off x="960120" y="1924320"/>
            <a:ext cx="146304" cy="146304"/>
          </a:xfrm>
          <a:prstGeom prst="ellipse">
            <a:avLst/>
          </a:prstGeom>
          <a:solidFill>
            <a:srgbClr val="F2A65A"/>
          </a:solidFill>
          <a:ln/>
        </p:spPr>
      </p:sp>
      <p:sp>
        <p:nvSpPr>
          <p:cNvPr id="6" name="Dots2"/>
          <p:cNvSpPr/>
          <p:nvPr/>
        </p:nvSpPr>
        <p:spPr>
          <a:xfrm>
            <a:off x="1188720" y="1924320"/>
            <a:ext cx="146304" cy="146304"/>
          </a:xfrm>
          <a:prstGeom prst="ellipse">
            <a:avLst/>
          </a:prstGeom>
          <a:solidFill>
            <a:srgbClr val="5CE79A"/>
          </a:solidFill>
          <a:ln/>
        </p:spPr>
      </p:sp>
      <p:sp>
        <p:nvSpPr>
          <p:cNvPr id="7" name="Dots3"/>
          <p:cNvSpPr/>
          <p:nvPr/>
        </p:nvSpPr>
        <p:spPr>
          <a:xfrm>
            <a:off x="1417320" y="1924320"/>
            <a:ext cx="146304" cy="146304"/>
          </a:xfrm>
          <a:prstGeom prst="ellipse">
            <a:avLst/>
          </a:prstGeom>
          <a:solidFill>
            <a:srgbClr val="5B8DEF"/>
          </a:solidFill>
          <a:ln/>
        </p:spPr>
      </p:sp>
      <p:sp>
        <p:nvSpPr>
          <p:cNvPr id="8" name="Code"/>
          <p:cNvSpPr/>
          <p:nvPr/>
        </p:nvSpPr>
        <p:spPr>
          <a:xfrm>
            <a:off x="960120" y="2244360"/>
            <a:ext cx="10271760" cy="3831320"/>
          </a:xfrm>
          <a:prstGeom prst="rect">
            <a:avLst/>
          </a:prstGeom>
          <a:noFill/>
          <a:ln/>
        </p:spPr>
        <p:txBody>
          <a:bodyPr wrap="square" lIns="0" tIns="0" rIns="0" bIns="0" rtlCol="0" anchor="t"/>
          <a:lstStyle/>
          <a:p>
            <a:pPr indent="0" marL="0">
              <a:lnSpc>
                <a:spcPct val="130000"/>
              </a:lnSpc>
              <a:buNone/>
            </a:pPr>
            <a:r>
              <a:rPr lang="en-US" sz="1150" dirty="0">
                <a:solidFill>
                  <a:srgbClr val="5CE79A"/>
                </a:solidFill>
                <a:latin typeface="Consolas" pitchFamily="34" charset="0"/>
                <a:ea typeface="Consolas" pitchFamily="34" charset="-122"/>
                <a:cs typeface="Consolas" pitchFamily="34" charset="-120"/>
              </a:rPr>
              <a:t>if</a:t>
            </a:r>
            <a:r>
              <a:rPr lang="en-US" sz="1150" dirty="0">
                <a:solidFill>
                  <a:srgbClr val="EAF0FF"/>
                </a:solidFill>
                <a:latin typeface="Consolas" pitchFamily="34" charset="0"/>
                <a:ea typeface="Consolas" pitchFamily="34" charset="-122"/>
                <a:cs typeface="Consolas" pitchFamily="34" charset="-120"/>
              </a:rPr>
              <a:t xml:space="preserve"> </a:t>
            </a:r>
            <a:r>
              <a:rPr lang="en-US" sz="1150" dirty="0">
                <a:solidFill>
                  <a:srgbClr val="EAF0FF"/>
                </a:solidFill>
                <a:latin typeface="Consolas" pitchFamily="34" charset="0"/>
                <a:ea typeface="Consolas" pitchFamily="34" charset="-122"/>
                <a:cs typeface="Consolas" pitchFamily="34" charset="-120"/>
              </a:rPr>
              <a:t>(</a:t>
            </a:r>
            <a:r>
              <a:rPr lang="en-US" sz="1150" dirty="0">
                <a:solidFill>
                  <a:srgbClr val="EAF0FF"/>
                </a:solidFill>
                <a:latin typeface="Consolas" pitchFamily="34" charset="0"/>
                <a:ea typeface="Consolas" pitchFamily="34" charset="-122"/>
                <a:cs typeface="Consolas" pitchFamily="34" charset="-120"/>
              </a:rPr>
              <a:t>button_state</a:t>
            </a:r>
            <a:r>
              <a:rPr lang="en-US" sz="1150" dirty="0">
                <a:solidFill>
                  <a:srgbClr val="EAF0FF"/>
                </a:solidFill>
                <a:latin typeface="Consolas" pitchFamily="34" charset="0"/>
                <a:ea typeface="Consolas" pitchFamily="34" charset="-122"/>
                <a:cs typeface="Consolas" pitchFamily="34" charset="-120"/>
              </a:rPr>
              <a:t xml:space="preserve"> </a:t>
            </a:r>
            <a:r>
              <a:rPr lang="en-US" sz="1150" dirty="0">
                <a:solidFill>
                  <a:srgbClr val="EAF0FF"/>
                </a:solidFill>
                <a:latin typeface="Consolas" pitchFamily="34" charset="0"/>
                <a:ea typeface="Consolas" pitchFamily="34" charset="-122"/>
                <a:cs typeface="Consolas" pitchFamily="34" charset="-120"/>
              </a:rPr>
              <a:t>=</a:t>
            </a:r>
            <a:r>
              <a:rPr lang="en-US" sz="1150" dirty="0">
                <a:solidFill>
                  <a:srgbClr val="EAF0FF"/>
                </a:solidFill>
                <a:latin typeface="Consolas" pitchFamily="34" charset="0"/>
                <a:ea typeface="Consolas" pitchFamily="34" charset="-122"/>
                <a:cs typeface="Consolas" pitchFamily="34" charset="-120"/>
              </a:rPr>
              <a:t>=</a:t>
            </a:r>
            <a:r>
              <a:rPr lang="en-US" sz="1150" dirty="0">
                <a:solidFill>
                  <a:srgbClr val="EAF0FF"/>
                </a:solidFill>
                <a:latin typeface="Consolas" pitchFamily="34" charset="0"/>
                <a:ea typeface="Consolas" pitchFamily="34" charset="-122"/>
                <a:cs typeface="Consolas" pitchFamily="34" charset="-120"/>
              </a:rPr>
              <a:t xml:space="preserve"> </a:t>
            </a:r>
            <a:r>
              <a:rPr lang="en-US" sz="1150" dirty="0">
                <a:solidFill>
                  <a:srgbClr val="5B8DEF"/>
                </a:solidFill>
                <a:latin typeface="Consolas" pitchFamily="34" charset="0"/>
                <a:ea typeface="Consolas" pitchFamily="34" charset="-122"/>
                <a:cs typeface="Consolas" pitchFamily="34" charset="-120"/>
              </a:rPr>
              <a:t>BUTTON_PRESSED</a:t>
            </a:r>
            <a:r>
              <a:rPr lang="en-US" sz="1150" dirty="0">
                <a:solidFill>
                  <a:srgbClr val="EAF0FF"/>
                </a:solidFill>
                <a:latin typeface="Consolas" pitchFamily="34" charset="0"/>
                <a:ea typeface="Consolas" pitchFamily="34" charset="-122"/>
                <a:cs typeface="Consolas" pitchFamily="34" charset="-120"/>
              </a:rPr>
              <a:t xml:space="preserve"> </a:t>
            </a:r>
            <a:r>
              <a:rPr lang="en-US" sz="1150" dirty="0">
                <a:solidFill>
                  <a:srgbClr val="EAF0FF"/>
                </a:solidFill>
                <a:latin typeface="Consolas" pitchFamily="34" charset="0"/>
                <a:ea typeface="Consolas" pitchFamily="34" charset="-122"/>
                <a:cs typeface="Consolas" pitchFamily="34" charset="-120"/>
              </a:rPr>
              <a:t>&amp;</a:t>
            </a:r>
            <a:r>
              <a:rPr lang="en-US" sz="1150" dirty="0">
                <a:solidFill>
                  <a:srgbClr val="EAF0FF"/>
                </a:solidFill>
                <a:latin typeface="Consolas" pitchFamily="34" charset="0"/>
                <a:ea typeface="Consolas" pitchFamily="34" charset="-122"/>
                <a:cs typeface="Consolas" pitchFamily="34" charset="-120"/>
              </a:rPr>
              <a:t>&amp;</a:t>
            </a:r>
            <a:endParaRPr lang="en-US" sz="1150" dirty="0"/>
          </a:p>
          <a:p>
            <a:pPr indent="0" marL="0">
              <a:lnSpc>
                <a:spcPct val="130000"/>
              </a:lnSpc>
              <a:buNone/>
            </a:pPr>
            <a:r>
              <a:rPr lang="en-US" sz="1150" dirty="0">
                <a:solidFill>
                  <a:srgbClr val="EAF0FF"/>
                </a:solidFill>
                <a:latin typeface="Consolas" pitchFamily="34" charset="0"/>
                <a:ea typeface="Consolas" pitchFamily="34" charset="-122"/>
                <a:cs typeface="Consolas" pitchFamily="34" charset="-120"/>
              </a:rPr>
              <a:t xml:space="preserve">    </a:t>
            </a:r>
            <a:r>
              <a:rPr lang="en-US" sz="1150" dirty="0">
                <a:solidFill>
                  <a:srgbClr val="EAF0FF"/>
                </a:solidFill>
                <a:latin typeface="Consolas" pitchFamily="34" charset="0"/>
                <a:ea typeface="Consolas" pitchFamily="34" charset="-122"/>
                <a:cs typeface="Consolas" pitchFamily="34" charset="-120"/>
              </a:rPr>
              <a:t>prev_button_state</a:t>
            </a:r>
            <a:r>
              <a:rPr lang="en-US" sz="1150" dirty="0">
                <a:solidFill>
                  <a:srgbClr val="EAF0FF"/>
                </a:solidFill>
                <a:latin typeface="Consolas" pitchFamily="34" charset="0"/>
                <a:ea typeface="Consolas" pitchFamily="34" charset="-122"/>
                <a:cs typeface="Consolas" pitchFamily="34" charset="-120"/>
              </a:rPr>
              <a:t xml:space="preserve"> </a:t>
            </a:r>
            <a:r>
              <a:rPr lang="en-US" sz="1150" dirty="0">
                <a:solidFill>
                  <a:srgbClr val="EAF0FF"/>
                </a:solidFill>
                <a:latin typeface="Consolas" pitchFamily="34" charset="0"/>
                <a:ea typeface="Consolas" pitchFamily="34" charset="-122"/>
                <a:cs typeface="Consolas" pitchFamily="34" charset="-120"/>
              </a:rPr>
              <a:t>=</a:t>
            </a:r>
            <a:r>
              <a:rPr lang="en-US" sz="1150" dirty="0">
                <a:solidFill>
                  <a:srgbClr val="EAF0FF"/>
                </a:solidFill>
                <a:latin typeface="Consolas" pitchFamily="34" charset="0"/>
                <a:ea typeface="Consolas" pitchFamily="34" charset="-122"/>
                <a:cs typeface="Consolas" pitchFamily="34" charset="-120"/>
              </a:rPr>
              <a:t>=</a:t>
            </a:r>
            <a:r>
              <a:rPr lang="en-US" sz="1150" dirty="0">
                <a:solidFill>
                  <a:srgbClr val="EAF0FF"/>
                </a:solidFill>
                <a:latin typeface="Consolas" pitchFamily="34" charset="0"/>
                <a:ea typeface="Consolas" pitchFamily="34" charset="-122"/>
                <a:cs typeface="Consolas" pitchFamily="34" charset="-120"/>
              </a:rPr>
              <a:t xml:space="preserve"> </a:t>
            </a:r>
            <a:r>
              <a:rPr lang="en-US" sz="1150" dirty="0">
                <a:solidFill>
                  <a:srgbClr val="5B8DEF"/>
                </a:solidFill>
                <a:latin typeface="Consolas" pitchFamily="34" charset="0"/>
                <a:ea typeface="Consolas" pitchFamily="34" charset="-122"/>
                <a:cs typeface="Consolas" pitchFamily="34" charset="-120"/>
              </a:rPr>
              <a:t>DIO_LOW</a:t>
            </a:r>
            <a:r>
              <a:rPr lang="en-US" sz="1150" dirty="0">
                <a:solidFill>
                  <a:srgbClr val="EAF0FF"/>
                </a:solidFill>
                <a:latin typeface="Consolas" pitchFamily="34" charset="0"/>
                <a:ea typeface="Consolas" pitchFamily="34" charset="-122"/>
                <a:cs typeface="Consolas" pitchFamily="34" charset="-120"/>
              </a:rPr>
              <a:t xml:space="preserve"> </a:t>
            </a:r>
            <a:r>
              <a:rPr lang="en-US" sz="1150" dirty="0">
                <a:solidFill>
                  <a:srgbClr val="EAF0FF"/>
                </a:solidFill>
                <a:latin typeface="Consolas" pitchFamily="34" charset="0"/>
                <a:ea typeface="Consolas" pitchFamily="34" charset="-122"/>
                <a:cs typeface="Consolas" pitchFamily="34" charset="-120"/>
              </a:rPr>
              <a:t>&amp;</a:t>
            </a:r>
            <a:r>
              <a:rPr lang="en-US" sz="1150" dirty="0">
                <a:solidFill>
                  <a:srgbClr val="EAF0FF"/>
                </a:solidFill>
                <a:latin typeface="Consolas" pitchFamily="34" charset="0"/>
                <a:ea typeface="Consolas" pitchFamily="34" charset="-122"/>
                <a:cs typeface="Consolas" pitchFamily="34" charset="-120"/>
              </a:rPr>
              <a:t>&amp;</a:t>
            </a:r>
            <a:endParaRPr lang="en-US" sz="1150" dirty="0"/>
          </a:p>
          <a:p>
            <a:pPr indent="0" marL="0">
              <a:lnSpc>
                <a:spcPct val="130000"/>
              </a:lnSpc>
              <a:buNone/>
            </a:pPr>
            <a:r>
              <a:rPr lang="en-US" sz="1150" dirty="0">
                <a:solidFill>
                  <a:srgbClr val="EAF0FF"/>
                </a:solidFill>
                <a:latin typeface="Consolas" pitchFamily="34" charset="0"/>
                <a:ea typeface="Consolas" pitchFamily="34" charset="-122"/>
                <a:cs typeface="Consolas" pitchFamily="34" charset="-120"/>
              </a:rPr>
              <a:t xml:space="preserve">    </a:t>
            </a:r>
            <a:r>
              <a:rPr lang="en-US" sz="1150" dirty="0">
                <a:solidFill>
                  <a:srgbClr val="EAF0FF"/>
                </a:solidFill>
                <a:latin typeface="Consolas" pitchFamily="34" charset="0"/>
                <a:ea typeface="Consolas" pitchFamily="34" charset="-122"/>
                <a:cs typeface="Consolas" pitchFamily="34" charset="-120"/>
              </a:rPr>
              <a:t>jump_flag</a:t>
            </a:r>
            <a:r>
              <a:rPr lang="en-US" sz="1150" dirty="0">
                <a:solidFill>
                  <a:srgbClr val="EAF0FF"/>
                </a:solidFill>
                <a:latin typeface="Consolas" pitchFamily="34" charset="0"/>
                <a:ea typeface="Consolas" pitchFamily="34" charset="-122"/>
                <a:cs typeface="Consolas" pitchFamily="34" charset="-120"/>
              </a:rPr>
              <a:t xml:space="preserve"> </a:t>
            </a:r>
            <a:r>
              <a:rPr lang="en-US" sz="1150" dirty="0">
                <a:solidFill>
                  <a:srgbClr val="EAF0FF"/>
                </a:solidFill>
                <a:latin typeface="Consolas" pitchFamily="34" charset="0"/>
                <a:ea typeface="Consolas" pitchFamily="34" charset="-122"/>
                <a:cs typeface="Consolas" pitchFamily="34" charset="-120"/>
              </a:rPr>
              <a:t>=</a:t>
            </a:r>
            <a:r>
              <a:rPr lang="en-US" sz="1150" dirty="0">
                <a:solidFill>
                  <a:srgbClr val="EAF0FF"/>
                </a:solidFill>
                <a:latin typeface="Consolas" pitchFamily="34" charset="0"/>
                <a:ea typeface="Consolas" pitchFamily="34" charset="-122"/>
                <a:cs typeface="Consolas" pitchFamily="34" charset="-120"/>
              </a:rPr>
              <a:t>=</a:t>
            </a:r>
            <a:r>
              <a:rPr lang="en-US" sz="1150" dirty="0">
                <a:solidFill>
                  <a:srgbClr val="EAF0FF"/>
                </a:solidFill>
                <a:latin typeface="Consolas" pitchFamily="34" charset="0"/>
                <a:ea typeface="Consolas" pitchFamily="34" charset="-122"/>
                <a:cs typeface="Consolas" pitchFamily="34" charset="-120"/>
              </a:rPr>
              <a:t xml:space="preserve"> </a:t>
            </a:r>
            <a:r>
              <a:rPr lang="en-US" sz="1150" dirty="0">
                <a:solidFill>
                  <a:srgbClr val="F2A65A"/>
                </a:solidFill>
                <a:latin typeface="Consolas" pitchFamily="34" charset="0"/>
                <a:ea typeface="Consolas" pitchFamily="34" charset="-122"/>
                <a:cs typeface="Consolas" pitchFamily="34" charset="-120"/>
              </a:rPr>
              <a:t>0</a:t>
            </a:r>
            <a:r>
              <a:rPr lang="en-US" sz="1150" dirty="0">
                <a:solidFill>
                  <a:srgbClr val="EAF0FF"/>
                </a:solidFill>
                <a:latin typeface="Consolas" pitchFamily="34" charset="0"/>
                <a:ea typeface="Consolas" pitchFamily="34" charset="-122"/>
                <a:cs typeface="Consolas" pitchFamily="34" charset="-120"/>
              </a:rPr>
              <a:t>)</a:t>
            </a:r>
            <a:endParaRPr lang="en-US" sz="1150" dirty="0"/>
          </a:p>
          <a:p>
            <a:pPr indent="0" marL="0">
              <a:lnSpc>
                <a:spcPct val="130000"/>
              </a:lnSpc>
              <a:buNone/>
            </a:pPr>
            <a:r>
              <a:rPr lang="en-US" sz="1150" dirty="0">
                <a:solidFill>
                  <a:srgbClr val="EAF0FF"/>
                </a:solidFill>
                <a:latin typeface="Consolas" pitchFamily="34" charset="0"/>
                <a:ea typeface="Consolas" pitchFamily="34" charset="-122"/>
                <a:cs typeface="Consolas" pitchFamily="34" charset="-120"/>
              </a:rPr>
              <a:t>{</a:t>
            </a:r>
            <a:endParaRPr lang="en-US" sz="1150" dirty="0"/>
          </a:p>
          <a:p>
            <a:pPr indent="0" marL="0">
              <a:lnSpc>
                <a:spcPct val="130000"/>
              </a:lnSpc>
              <a:buNone/>
            </a:pPr>
            <a:r>
              <a:rPr lang="en-US" sz="1150" dirty="0">
                <a:solidFill>
                  <a:srgbClr val="EAF0FF"/>
                </a:solidFill>
                <a:latin typeface="Consolas" pitchFamily="34" charset="0"/>
                <a:ea typeface="Consolas" pitchFamily="34" charset="-122"/>
                <a:cs typeface="Consolas" pitchFamily="34" charset="-120"/>
              </a:rPr>
              <a:t xml:space="preserve">    </a:t>
            </a:r>
            <a:r>
              <a:rPr lang="en-US" sz="1150" dirty="0">
                <a:solidFill>
                  <a:srgbClr val="EAF0FF"/>
                </a:solidFill>
                <a:latin typeface="Consolas" pitchFamily="34" charset="0"/>
                <a:ea typeface="Consolas" pitchFamily="34" charset="-122"/>
                <a:cs typeface="Consolas" pitchFamily="34" charset="-120"/>
              </a:rPr>
              <a:t>jump_flag</a:t>
            </a:r>
            <a:r>
              <a:rPr lang="en-US" sz="1150" dirty="0">
                <a:solidFill>
                  <a:srgbClr val="EAF0FF"/>
                </a:solidFill>
                <a:latin typeface="Consolas" pitchFamily="34" charset="0"/>
                <a:ea typeface="Consolas" pitchFamily="34" charset="-122"/>
                <a:cs typeface="Consolas" pitchFamily="34" charset="-120"/>
              </a:rPr>
              <a:t xml:space="preserve"> </a:t>
            </a:r>
            <a:r>
              <a:rPr lang="en-US" sz="1150" dirty="0">
                <a:solidFill>
                  <a:srgbClr val="EAF0FF"/>
                </a:solidFill>
                <a:latin typeface="Consolas" pitchFamily="34" charset="0"/>
                <a:ea typeface="Consolas" pitchFamily="34" charset="-122"/>
                <a:cs typeface="Consolas" pitchFamily="34" charset="-120"/>
              </a:rPr>
              <a:t>=</a:t>
            </a:r>
            <a:r>
              <a:rPr lang="en-US" sz="1150" dirty="0">
                <a:solidFill>
                  <a:srgbClr val="EAF0FF"/>
                </a:solidFill>
                <a:latin typeface="Consolas" pitchFamily="34" charset="0"/>
                <a:ea typeface="Consolas" pitchFamily="34" charset="-122"/>
                <a:cs typeface="Consolas" pitchFamily="34" charset="-120"/>
              </a:rPr>
              <a:t xml:space="preserve"> </a:t>
            </a:r>
            <a:r>
              <a:rPr lang="en-US" sz="1150" dirty="0">
                <a:solidFill>
                  <a:srgbClr val="F2A65A"/>
                </a:solidFill>
                <a:latin typeface="Consolas" pitchFamily="34" charset="0"/>
                <a:ea typeface="Consolas" pitchFamily="34" charset="-122"/>
                <a:cs typeface="Consolas" pitchFamily="34" charset="-120"/>
              </a:rPr>
              <a:t>1</a:t>
            </a:r>
            <a:r>
              <a:rPr lang="en-US" sz="1150" dirty="0">
                <a:solidFill>
                  <a:srgbClr val="EAF0FF"/>
                </a:solidFill>
                <a:latin typeface="Consolas" pitchFamily="34" charset="0"/>
                <a:ea typeface="Consolas" pitchFamily="34" charset="-122"/>
                <a:cs typeface="Consolas" pitchFamily="34" charset="-120"/>
              </a:rPr>
              <a:t>;</a:t>
            </a:r>
            <a:endParaRPr lang="en-US" sz="1150" dirty="0"/>
          </a:p>
          <a:p>
            <a:pPr indent="0" marL="0">
              <a:lnSpc>
                <a:spcPct val="130000"/>
              </a:lnSpc>
              <a:buNone/>
            </a:pPr>
            <a:r>
              <a:rPr lang="en-US" sz="1150" dirty="0">
                <a:solidFill>
                  <a:srgbClr val="EAF0FF"/>
                </a:solidFill>
                <a:latin typeface="Consolas" pitchFamily="34" charset="0"/>
                <a:ea typeface="Consolas" pitchFamily="34" charset="-122"/>
                <a:cs typeface="Consolas" pitchFamily="34" charset="-120"/>
              </a:rPr>
              <a:t xml:space="preserve">    </a:t>
            </a:r>
            <a:r>
              <a:rPr lang="en-US" sz="1150" dirty="0">
                <a:solidFill>
                  <a:srgbClr val="EAF0FF"/>
                </a:solidFill>
                <a:latin typeface="Consolas" pitchFamily="34" charset="0"/>
                <a:ea typeface="Consolas" pitchFamily="34" charset="-122"/>
                <a:cs typeface="Consolas" pitchFamily="34" charset="-120"/>
              </a:rPr>
              <a:t>jump_start_time</a:t>
            </a:r>
            <a:r>
              <a:rPr lang="en-US" sz="1150" dirty="0">
                <a:solidFill>
                  <a:srgbClr val="EAF0FF"/>
                </a:solidFill>
                <a:latin typeface="Consolas" pitchFamily="34" charset="0"/>
                <a:ea typeface="Consolas" pitchFamily="34" charset="-122"/>
                <a:cs typeface="Consolas" pitchFamily="34" charset="-120"/>
              </a:rPr>
              <a:t xml:space="preserve"> </a:t>
            </a:r>
            <a:r>
              <a:rPr lang="en-US" sz="1150" dirty="0">
                <a:solidFill>
                  <a:srgbClr val="EAF0FF"/>
                </a:solidFill>
                <a:latin typeface="Consolas" pitchFamily="34" charset="0"/>
                <a:ea typeface="Consolas" pitchFamily="34" charset="-122"/>
                <a:cs typeface="Consolas" pitchFamily="34" charset="-120"/>
              </a:rPr>
              <a:t>=</a:t>
            </a:r>
            <a:r>
              <a:rPr lang="en-US" sz="1150" dirty="0">
                <a:solidFill>
                  <a:srgbClr val="EAF0FF"/>
                </a:solidFill>
                <a:latin typeface="Consolas" pitchFamily="34" charset="0"/>
                <a:ea typeface="Consolas" pitchFamily="34" charset="-122"/>
                <a:cs typeface="Consolas" pitchFamily="34" charset="-120"/>
              </a:rPr>
              <a:t xml:space="preserve"> </a:t>
            </a:r>
            <a:r>
              <a:rPr lang="en-US" sz="1150" dirty="0">
                <a:solidFill>
                  <a:srgbClr val="EAF0FF"/>
                </a:solidFill>
                <a:latin typeface="Consolas" pitchFamily="34" charset="0"/>
                <a:ea typeface="Consolas" pitchFamily="34" charset="-122"/>
                <a:cs typeface="Consolas" pitchFamily="34" charset="-120"/>
              </a:rPr>
              <a:t>current_millis</a:t>
            </a:r>
            <a:r>
              <a:rPr lang="en-US" sz="1150" dirty="0">
                <a:solidFill>
                  <a:srgbClr val="EAF0FF"/>
                </a:solidFill>
                <a:latin typeface="Consolas" pitchFamily="34" charset="0"/>
                <a:ea typeface="Consolas" pitchFamily="34" charset="-122"/>
                <a:cs typeface="Consolas" pitchFamily="34" charset="-120"/>
              </a:rPr>
              <a:t>;</a:t>
            </a:r>
            <a:endParaRPr lang="en-US" sz="1150" dirty="0"/>
          </a:p>
          <a:p>
            <a:pPr indent="0" marL="0">
              <a:lnSpc>
                <a:spcPct val="130000"/>
              </a:lnSpc>
              <a:buNone/>
            </a:pPr>
            <a:r>
              <a:rPr lang="en-US" sz="1150" dirty="0">
                <a:solidFill>
                  <a:srgbClr val="EAF0FF"/>
                </a:solidFill>
                <a:latin typeface="Consolas" pitchFamily="34" charset="0"/>
                <a:ea typeface="Consolas" pitchFamily="34" charset="-122"/>
                <a:cs typeface="Consolas" pitchFamily="34" charset="-120"/>
              </a:rPr>
              <a:t xml:space="preserve">    </a:t>
            </a:r>
            <a:r>
              <a:rPr lang="en-US" sz="1150" dirty="0">
                <a:solidFill>
                  <a:srgbClr val="EAF0FF"/>
                </a:solidFill>
                <a:latin typeface="Consolas" pitchFamily="34" charset="0"/>
                <a:ea typeface="Consolas" pitchFamily="34" charset="-122"/>
                <a:cs typeface="Consolas" pitchFamily="34" charset="-120"/>
              </a:rPr>
              <a:t>jump_duration</a:t>
            </a:r>
            <a:r>
              <a:rPr lang="en-US" sz="1150" dirty="0">
                <a:solidFill>
                  <a:srgbClr val="EAF0FF"/>
                </a:solidFill>
                <a:latin typeface="Consolas" pitchFamily="34" charset="0"/>
                <a:ea typeface="Consolas" pitchFamily="34" charset="-122"/>
                <a:cs typeface="Consolas" pitchFamily="34" charset="-120"/>
              </a:rPr>
              <a:t xml:space="preserve">  </a:t>
            </a:r>
            <a:r>
              <a:rPr lang="en-US" sz="1150" dirty="0">
                <a:solidFill>
                  <a:srgbClr val="EAF0FF"/>
                </a:solidFill>
                <a:latin typeface="Consolas" pitchFamily="34" charset="0"/>
                <a:ea typeface="Consolas" pitchFamily="34" charset="-122"/>
                <a:cs typeface="Consolas" pitchFamily="34" charset="-120"/>
              </a:rPr>
              <a:t>=</a:t>
            </a:r>
            <a:r>
              <a:rPr lang="en-US" sz="1150" dirty="0">
                <a:solidFill>
                  <a:srgbClr val="EAF0FF"/>
                </a:solidFill>
                <a:latin typeface="Consolas" pitchFamily="34" charset="0"/>
                <a:ea typeface="Consolas" pitchFamily="34" charset="-122"/>
                <a:cs typeface="Consolas" pitchFamily="34" charset="-120"/>
              </a:rPr>
              <a:t xml:space="preserve"> </a:t>
            </a:r>
            <a:r>
              <a:rPr lang="en-US" sz="1150" dirty="0">
                <a:solidFill>
                  <a:srgbClr val="EAF0FF"/>
                </a:solidFill>
                <a:latin typeface="Consolas" pitchFamily="34" charset="0"/>
                <a:ea typeface="Consolas" pitchFamily="34" charset="-122"/>
                <a:cs typeface="Consolas" pitchFamily="34" charset="-120"/>
              </a:rPr>
              <a:t>obstacle_period</a:t>
            </a:r>
            <a:r>
              <a:rPr lang="en-US" sz="1150" dirty="0">
                <a:solidFill>
                  <a:srgbClr val="EAF0FF"/>
                </a:solidFill>
                <a:latin typeface="Consolas" pitchFamily="34" charset="0"/>
                <a:ea typeface="Consolas" pitchFamily="34" charset="-122"/>
                <a:cs typeface="Consolas" pitchFamily="34" charset="-120"/>
              </a:rPr>
              <a:t xml:space="preserve"> </a:t>
            </a:r>
            <a:r>
              <a:rPr lang="en-US" sz="1150" dirty="0">
                <a:solidFill>
                  <a:srgbClr val="EAF0FF"/>
                </a:solidFill>
                <a:latin typeface="Consolas" pitchFamily="34" charset="0"/>
                <a:ea typeface="Consolas" pitchFamily="34" charset="-122"/>
                <a:cs typeface="Consolas" pitchFamily="34" charset="-120"/>
              </a:rPr>
              <a:t>*</a:t>
            </a:r>
            <a:r>
              <a:rPr lang="en-US" sz="1150" dirty="0">
                <a:solidFill>
                  <a:srgbClr val="EAF0FF"/>
                </a:solidFill>
                <a:latin typeface="Consolas" pitchFamily="34" charset="0"/>
                <a:ea typeface="Consolas" pitchFamily="34" charset="-122"/>
                <a:cs typeface="Consolas" pitchFamily="34" charset="-120"/>
              </a:rPr>
              <a:t xml:space="preserve"> </a:t>
            </a:r>
            <a:r>
              <a:rPr lang="en-US" sz="1150" dirty="0">
                <a:solidFill>
                  <a:srgbClr val="F2A65A"/>
                </a:solidFill>
                <a:latin typeface="Consolas" pitchFamily="34" charset="0"/>
                <a:ea typeface="Consolas" pitchFamily="34" charset="-122"/>
                <a:cs typeface="Consolas" pitchFamily="34" charset="-120"/>
              </a:rPr>
              <a:t>6</a:t>
            </a:r>
            <a:r>
              <a:rPr lang="en-US" sz="1150" dirty="0">
                <a:solidFill>
                  <a:srgbClr val="EAF0FF"/>
                </a:solidFill>
                <a:latin typeface="Consolas" pitchFamily="34" charset="0"/>
                <a:ea typeface="Consolas" pitchFamily="34" charset="-122"/>
                <a:cs typeface="Consolas" pitchFamily="34" charset="-120"/>
              </a:rPr>
              <a:t>;</a:t>
            </a:r>
            <a:r>
              <a:rPr lang="en-US" sz="1150" dirty="0">
                <a:solidFill>
                  <a:srgbClr val="EAF0FF"/>
                </a:solidFill>
                <a:latin typeface="Consolas" pitchFamily="34" charset="0"/>
                <a:ea typeface="Consolas" pitchFamily="34" charset="-122"/>
                <a:cs typeface="Consolas" pitchFamily="34" charset="-120"/>
              </a:rPr>
              <a:t xml:space="preserve">   </a:t>
            </a:r>
            <a:r>
              <a:rPr lang="en-US" sz="1150" i="1" dirty="0">
                <a:solidFill>
                  <a:srgbClr val="8A90A6"/>
                </a:solidFill>
                <a:latin typeface="Consolas" pitchFamily="34" charset="0"/>
                <a:ea typeface="Consolas" pitchFamily="34" charset="-122"/>
                <a:cs typeface="Consolas" pitchFamily="34" charset="-120"/>
              </a:rPr>
              <a:t>// scales with speed</a:t>
            </a:r>
            <a:endParaRPr lang="en-US" sz="1150" dirty="0"/>
          </a:p>
          <a:p>
            <a:pPr indent="0" marL="0">
              <a:lnSpc>
                <a:spcPct val="130000"/>
              </a:lnSpc>
              <a:buNone/>
            </a:pPr>
            <a:endParaRPr lang="en-US" sz="1150" dirty="0"/>
          </a:p>
          <a:p>
            <a:pPr indent="0" marL="0">
              <a:lnSpc>
                <a:spcPct val="130000"/>
              </a:lnSpc>
              <a:buNone/>
            </a:pPr>
            <a:r>
              <a:rPr lang="en-US" sz="1150" dirty="0">
                <a:solidFill>
                  <a:srgbClr val="EAF0FF"/>
                </a:solidFill>
                <a:latin typeface="Consolas" pitchFamily="34" charset="0"/>
                <a:ea typeface="Consolas" pitchFamily="34" charset="-122"/>
                <a:cs typeface="Consolas" pitchFamily="34" charset="-120"/>
              </a:rPr>
              <a:t xml:space="preserve">    </a:t>
            </a:r>
            <a:r>
              <a:rPr lang="en-US" sz="1150" dirty="0">
                <a:solidFill>
                  <a:srgbClr val="EAF0FF"/>
                </a:solidFill>
                <a:latin typeface="Consolas" pitchFamily="34" charset="0"/>
                <a:ea typeface="Consolas" pitchFamily="34" charset="-122"/>
                <a:cs typeface="Consolas" pitchFamily="34" charset="-120"/>
              </a:rPr>
              <a:t>is_buzzer_on</a:t>
            </a:r>
            <a:r>
              <a:rPr lang="en-US" sz="1150" dirty="0">
                <a:solidFill>
                  <a:srgbClr val="EAF0FF"/>
                </a:solidFill>
                <a:latin typeface="Consolas" pitchFamily="34" charset="0"/>
                <a:ea typeface="Consolas" pitchFamily="34" charset="-122"/>
                <a:cs typeface="Consolas" pitchFamily="34" charset="-120"/>
              </a:rPr>
              <a:t xml:space="preserve">     </a:t>
            </a:r>
            <a:r>
              <a:rPr lang="en-US" sz="1150" dirty="0">
                <a:solidFill>
                  <a:srgbClr val="EAF0FF"/>
                </a:solidFill>
                <a:latin typeface="Consolas" pitchFamily="34" charset="0"/>
                <a:ea typeface="Consolas" pitchFamily="34" charset="-122"/>
                <a:cs typeface="Consolas" pitchFamily="34" charset="-120"/>
              </a:rPr>
              <a:t>=</a:t>
            </a:r>
            <a:r>
              <a:rPr lang="en-US" sz="1150" dirty="0">
                <a:solidFill>
                  <a:srgbClr val="EAF0FF"/>
                </a:solidFill>
                <a:latin typeface="Consolas" pitchFamily="34" charset="0"/>
                <a:ea typeface="Consolas" pitchFamily="34" charset="-122"/>
                <a:cs typeface="Consolas" pitchFamily="34" charset="-120"/>
              </a:rPr>
              <a:t xml:space="preserve"> </a:t>
            </a:r>
            <a:r>
              <a:rPr lang="en-US" sz="1150" dirty="0">
                <a:solidFill>
                  <a:srgbClr val="F2A65A"/>
                </a:solidFill>
                <a:latin typeface="Consolas" pitchFamily="34" charset="0"/>
                <a:ea typeface="Consolas" pitchFamily="34" charset="-122"/>
                <a:cs typeface="Consolas" pitchFamily="34" charset="-120"/>
              </a:rPr>
              <a:t>1</a:t>
            </a:r>
            <a:r>
              <a:rPr lang="en-US" sz="1150" dirty="0">
                <a:solidFill>
                  <a:srgbClr val="EAF0FF"/>
                </a:solidFill>
                <a:latin typeface="Consolas" pitchFamily="34" charset="0"/>
                <a:ea typeface="Consolas" pitchFamily="34" charset="-122"/>
                <a:cs typeface="Consolas" pitchFamily="34" charset="-120"/>
              </a:rPr>
              <a:t>;</a:t>
            </a:r>
            <a:endParaRPr lang="en-US" sz="1150" dirty="0"/>
          </a:p>
          <a:p>
            <a:pPr indent="0" marL="0">
              <a:lnSpc>
                <a:spcPct val="130000"/>
              </a:lnSpc>
              <a:buNone/>
            </a:pPr>
            <a:r>
              <a:rPr lang="en-US" sz="1150" dirty="0">
                <a:solidFill>
                  <a:srgbClr val="EAF0FF"/>
                </a:solidFill>
                <a:latin typeface="Consolas" pitchFamily="34" charset="0"/>
                <a:ea typeface="Consolas" pitchFamily="34" charset="-122"/>
                <a:cs typeface="Consolas" pitchFamily="34" charset="-120"/>
              </a:rPr>
              <a:t xml:space="preserve">    </a:t>
            </a:r>
            <a:r>
              <a:rPr lang="en-US" sz="1150" dirty="0">
                <a:solidFill>
                  <a:srgbClr val="EAF0FF"/>
                </a:solidFill>
                <a:latin typeface="Consolas" pitchFamily="34" charset="0"/>
                <a:ea typeface="Consolas" pitchFamily="34" charset="-122"/>
                <a:cs typeface="Consolas" pitchFamily="34" charset="-120"/>
              </a:rPr>
              <a:t>buzzer_stop_time</a:t>
            </a:r>
            <a:r>
              <a:rPr lang="en-US" sz="1150" dirty="0">
                <a:solidFill>
                  <a:srgbClr val="EAF0FF"/>
                </a:solidFill>
                <a:latin typeface="Consolas" pitchFamily="34" charset="0"/>
                <a:ea typeface="Consolas" pitchFamily="34" charset="-122"/>
                <a:cs typeface="Consolas" pitchFamily="34" charset="-120"/>
              </a:rPr>
              <a:t xml:space="preserve"> </a:t>
            </a:r>
            <a:r>
              <a:rPr lang="en-US" sz="1150" dirty="0">
                <a:solidFill>
                  <a:srgbClr val="EAF0FF"/>
                </a:solidFill>
                <a:latin typeface="Consolas" pitchFamily="34" charset="0"/>
                <a:ea typeface="Consolas" pitchFamily="34" charset="-122"/>
                <a:cs typeface="Consolas" pitchFamily="34" charset="-120"/>
              </a:rPr>
              <a:t>=</a:t>
            </a:r>
            <a:r>
              <a:rPr lang="en-US" sz="1150" dirty="0">
                <a:solidFill>
                  <a:srgbClr val="EAF0FF"/>
                </a:solidFill>
                <a:latin typeface="Consolas" pitchFamily="34" charset="0"/>
                <a:ea typeface="Consolas" pitchFamily="34" charset="-122"/>
                <a:cs typeface="Consolas" pitchFamily="34" charset="-120"/>
              </a:rPr>
              <a:t xml:space="preserve"> </a:t>
            </a:r>
            <a:r>
              <a:rPr lang="en-US" sz="1150" dirty="0">
                <a:solidFill>
                  <a:srgbClr val="EAF0FF"/>
                </a:solidFill>
                <a:latin typeface="Consolas" pitchFamily="34" charset="0"/>
                <a:ea typeface="Consolas" pitchFamily="34" charset="-122"/>
                <a:cs typeface="Consolas" pitchFamily="34" charset="-120"/>
              </a:rPr>
              <a:t>current_millis</a:t>
            </a:r>
            <a:r>
              <a:rPr lang="en-US" sz="1150" dirty="0">
                <a:solidFill>
                  <a:srgbClr val="EAF0FF"/>
                </a:solidFill>
                <a:latin typeface="Consolas" pitchFamily="34" charset="0"/>
                <a:ea typeface="Consolas" pitchFamily="34" charset="-122"/>
                <a:cs typeface="Consolas" pitchFamily="34" charset="-120"/>
              </a:rPr>
              <a:t xml:space="preserve"> </a:t>
            </a:r>
            <a:r>
              <a:rPr lang="en-US" sz="1150" dirty="0">
                <a:solidFill>
                  <a:srgbClr val="EAF0FF"/>
                </a:solidFill>
                <a:latin typeface="Consolas" pitchFamily="34" charset="0"/>
                <a:ea typeface="Consolas" pitchFamily="34" charset="-122"/>
                <a:cs typeface="Consolas" pitchFamily="34" charset="-120"/>
              </a:rPr>
              <a:t>+</a:t>
            </a:r>
            <a:r>
              <a:rPr lang="en-US" sz="1150" dirty="0">
                <a:solidFill>
                  <a:srgbClr val="EAF0FF"/>
                </a:solidFill>
                <a:latin typeface="Consolas" pitchFamily="34" charset="0"/>
                <a:ea typeface="Consolas" pitchFamily="34" charset="-122"/>
                <a:cs typeface="Consolas" pitchFamily="34" charset="-120"/>
              </a:rPr>
              <a:t xml:space="preserve"> </a:t>
            </a:r>
            <a:r>
              <a:rPr lang="en-US" sz="1150" dirty="0">
                <a:solidFill>
                  <a:srgbClr val="F2A65A"/>
                </a:solidFill>
                <a:latin typeface="Consolas" pitchFamily="34" charset="0"/>
                <a:ea typeface="Consolas" pitchFamily="34" charset="-122"/>
                <a:cs typeface="Consolas" pitchFamily="34" charset="-120"/>
              </a:rPr>
              <a:t>30</a:t>
            </a:r>
            <a:r>
              <a:rPr lang="en-US" sz="1150" dirty="0">
                <a:solidFill>
                  <a:srgbClr val="EAF0FF"/>
                </a:solidFill>
                <a:latin typeface="Consolas" pitchFamily="34" charset="0"/>
                <a:ea typeface="Consolas" pitchFamily="34" charset="-122"/>
                <a:cs typeface="Consolas" pitchFamily="34" charset="-120"/>
              </a:rPr>
              <a:t>;</a:t>
            </a:r>
            <a:endParaRPr lang="en-US" sz="1150" dirty="0"/>
          </a:p>
          <a:p>
            <a:pPr indent="0" marL="0">
              <a:lnSpc>
                <a:spcPct val="130000"/>
              </a:lnSpc>
              <a:buNone/>
            </a:pPr>
            <a:r>
              <a:rPr lang="en-US" sz="1150" dirty="0">
                <a:solidFill>
                  <a:srgbClr val="EAF0FF"/>
                </a:solidFill>
                <a:latin typeface="Consolas" pitchFamily="34" charset="0"/>
                <a:ea typeface="Consolas" pitchFamily="34" charset="-122"/>
                <a:cs typeface="Consolas" pitchFamily="34" charset="-120"/>
              </a:rPr>
              <a:t>}</a:t>
            </a:r>
            <a:endParaRPr lang="en-US" sz="1150" dirty="0"/>
          </a:p>
          <a:p>
            <a:pPr indent="0" marL="0">
              <a:lnSpc>
                <a:spcPct val="130000"/>
              </a:lnSpc>
              <a:buNone/>
            </a:pPr>
            <a:endParaRPr lang="en-US" sz="1150" dirty="0"/>
          </a:p>
          <a:p>
            <a:pPr indent="0" marL="0">
              <a:lnSpc>
                <a:spcPct val="130000"/>
              </a:lnSpc>
              <a:buNone/>
            </a:pPr>
            <a:r>
              <a:rPr lang="en-US" sz="1150" dirty="0">
                <a:solidFill>
                  <a:srgbClr val="5CE79A"/>
                </a:solidFill>
                <a:latin typeface="Consolas" pitchFamily="34" charset="0"/>
                <a:ea typeface="Consolas" pitchFamily="34" charset="-122"/>
                <a:cs typeface="Consolas" pitchFamily="34" charset="-120"/>
              </a:rPr>
              <a:t>if</a:t>
            </a:r>
            <a:r>
              <a:rPr lang="en-US" sz="1150" dirty="0">
                <a:solidFill>
                  <a:srgbClr val="EAF0FF"/>
                </a:solidFill>
                <a:latin typeface="Consolas" pitchFamily="34" charset="0"/>
                <a:ea typeface="Consolas" pitchFamily="34" charset="-122"/>
                <a:cs typeface="Consolas" pitchFamily="34" charset="-120"/>
              </a:rPr>
              <a:t xml:space="preserve"> </a:t>
            </a:r>
            <a:r>
              <a:rPr lang="en-US" sz="1150" dirty="0">
                <a:solidFill>
                  <a:srgbClr val="EAF0FF"/>
                </a:solidFill>
                <a:latin typeface="Consolas" pitchFamily="34" charset="0"/>
                <a:ea typeface="Consolas" pitchFamily="34" charset="-122"/>
                <a:cs typeface="Consolas" pitchFamily="34" charset="-120"/>
              </a:rPr>
              <a:t>(</a:t>
            </a:r>
            <a:r>
              <a:rPr lang="en-US" sz="1150" dirty="0">
                <a:solidFill>
                  <a:srgbClr val="EAF0FF"/>
                </a:solidFill>
                <a:latin typeface="Consolas" pitchFamily="34" charset="0"/>
                <a:ea typeface="Consolas" pitchFamily="34" charset="-122"/>
                <a:cs typeface="Consolas" pitchFamily="34" charset="-120"/>
              </a:rPr>
              <a:t>obstacle_row</a:t>
            </a:r>
            <a:r>
              <a:rPr lang="en-US" sz="1150" dirty="0">
                <a:solidFill>
                  <a:srgbClr val="EAF0FF"/>
                </a:solidFill>
                <a:latin typeface="Consolas" pitchFamily="34" charset="0"/>
                <a:ea typeface="Consolas" pitchFamily="34" charset="-122"/>
                <a:cs typeface="Consolas" pitchFamily="34" charset="-120"/>
              </a:rPr>
              <a:t xml:space="preserve"> </a:t>
            </a:r>
            <a:r>
              <a:rPr lang="en-US" sz="1150" dirty="0">
                <a:solidFill>
                  <a:srgbClr val="EAF0FF"/>
                </a:solidFill>
                <a:latin typeface="Consolas" pitchFamily="34" charset="0"/>
                <a:ea typeface="Consolas" pitchFamily="34" charset="-122"/>
                <a:cs typeface="Consolas" pitchFamily="34" charset="-120"/>
              </a:rPr>
              <a:t>=</a:t>
            </a:r>
            <a:r>
              <a:rPr lang="en-US" sz="1150" dirty="0">
                <a:solidFill>
                  <a:srgbClr val="EAF0FF"/>
                </a:solidFill>
                <a:latin typeface="Consolas" pitchFamily="34" charset="0"/>
                <a:ea typeface="Consolas" pitchFamily="34" charset="-122"/>
                <a:cs typeface="Consolas" pitchFamily="34" charset="-120"/>
              </a:rPr>
              <a:t>=</a:t>
            </a:r>
            <a:r>
              <a:rPr lang="en-US" sz="1150" dirty="0">
                <a:solidFill>
                  <a:srgbClr val="EAF0FF"/>
                </a:solidFill>
                <a:latin typeface="Consolas" pitchFamily="34" charset="0"/>
                <a:ea typeface="Consolas" pitchFamily="34" charset="-122"/>
                <a:cs typeface="Consolas" pitchFamily="34" charset="-120"/>
              </a:rPr>
              <a:t xml:space="preserve"> </a:t>
            </a:r>
            <a:r>
              <a:rPr lang="en-US" sz="1150" dirty="0">
                <a:solidFill>
                  <a:srgbClr val="5B8DEF"/>
                </a:solidFill>
                <a:latin typeface="Consolas" pitchFamily="34" charset="0"/>
                <a:ea typeface="Consolas" pitchFamily="34" charset="-122"/>
                <a:cs typeface="Consolas" pitchFamily="34" charset="-120"/>
              </a:rPr>
              <a:t>LINE_2</a:t>
            </a:r>
            <a:r>
              <a:rPr lang="en-US" sz="1150" dirty="0">
                <a:solidFill>
                  <a:srgbClr val="EAF0FF"/>
                </a:solidFill>
                <a:latin typeface="Consolas" pitchFamily="34" charset="0"/>
                <a:ea typeface="Consolas" pitchFamily="34" charset="-122"/>
                <a:cs typeface="Consolas" pitchFamily="34" charset="-120"/>
              </a:rPr>
              <a:t xml:space="preserve"> </a:t>
            </a:r>
            <a:r>
              <a:rPr lang="en-US" sz="1150" dirty="0">
                <a:solidFill>
                  <a:srgbClr val="EAF0FF"/>
                </a:solidFill>
                <a:latin typeface="Consolas" pitchFamily="34" charset="0"/>
                <a:ea typeface="Consolas" pitchFamily="34" charset="-122"/>
                <a:cs typeface="Consolas" pitchFamily="34" charset="-120"/>
              </a:rPr>
              <a:t>&amp;</a:t>
            </a:r>
            <a:r>
              <a:rPr lang="en-US" sz="1150" dirty="0">
                <a:solidFill>
                  <a:srgbClr val="EAF0FF"/>
                </a:solidFill>
                <a:latin typeface="Consolas" pitchFamily="34" charset="0"/>
                <a:ea typeface="Consolas" pitchFamily="34" charset="-122"/>
                <a:cs typeface="Consolas" pitchFamily="34" charset="-120"/>
              </a:rPr>
              <a:t>&amp;</a:t>
            </a:r>
            <a:endParaRPr lang="en-US" sz="1150" dirty="0"/>
          </a:p>
          <a:p>
            <a:pPr indent="0" marL="0">
              <a:lnSpc>
                <a:spcPct val="130000"/>
              </a:lnSpc>
              <a:buNone/>
            </a:pPr>
            <a:r>
              <a:rPr lang="en-US" sz="1150" dirty="0">
                <a:solidFill>
                  <a:srgbClr val="EAF0FF"/>
                </a:solidFill>
                <a:latin typeface="Consolas" pitchFamily="34" charset="0"/>
                <a:ea typeface="Consolas" pitchFamily="34" charset="-122"/>
                <a:cs typeface="Consolas" pitchFamily="34" charset="-120"/>
              </a:rPr>
              <a:t xml:space="preserve">   </a:t>
            </a:r>
            <a:r>
              <a:rPr lang="en-US" sz="1150" dirty="0">
                <a:solidFill>
                  <a:srgbClr val="EAF0FF"/>
                </a:solidFill>
                <a:latin typeface="Consolas" pitchFamily="34" charset="0"/>
                <a:ea typeface="Consolas" pitchFamily="34" charset="-122"/>
                <a:cs typeface="Consolas" pitchFamily="34" charset="-120"/>
              </a:rPr>
              <a:t>(</a:t>
            </a:r>
            <a:r>
              <a:rPr lang="en-US" sz="1150" dirty="0">
                <a:solidFill>
                  <a:srgbClr val="EAF0FF"/>
                </a:solidFill>
                <a:latin typeface="Consolas" pitchFamily="34" charset="0"/>
                <a:ea typeface="Consolas" pitchFamily="34" charset="-122"/>
                <a:cs typeface="Consolas" pitchFamily="34" charset="-120"/>
              </a:rPr>
              <a:t>obstacle_col</a:t>
            </a:r>
            <a:r>
              <a:rPr lang="en-US" sz="1150" dirty="0">
                <a:solidFill>
                  <a:srgbClr val="EAF0FF"/>
                </a:solidFill>
                <a:latin typeface="Consolas" pitchFamily="34" charset="0"/>
                <a:ea typeface="Consolas" pitchFamily="34" charset="-122"/>
                <a:cs typeface="Consolas" pitchFamily="34" charset="-120"/>
              </a:rPr>
              <a:t xml:space="preserve"> </a:t>
            </a:r>
            <a:r>
              <a:rPr lang="en-US" sz="1150" dirty="0">
                <a:solidFill>
                  <a:srgbClr val="EAF0FF"/>
                </a:solidFill>
                <a:latin typeface="Consolas" pitchFamily="34" charset="0"/>
                <a:ea typeface="Consolas" pitchFamily="34" charset="-122"/>
                <a:cs typeface="Consolas" pitchFamily="34" charset="-120"/>
              </a:rPr>
              <a:t>=</a:t>
            </a:r>
            <a:r>
              <a:rPr lang="en-US" sz="1150" dirty="0">
                <a:solidFill>
                  <a:srgbClr val="EAF0FF"/>
                </a:solidFill>
                <a:latin typeface="Consolas" pitchFamily="34" charset="0"/>
                <a:ea typeface="Consolas" pitchFamily="34" charset="-122"/>
                <a:cs typeface="Consolas" pitchFamily="34" charset="-120"/>
              </a:rPr>
              <a:t>=</a:t>
            </a:r>
            <a:r>
              <a:rPr lang="en-US" sz="1150" dirty="0">
                <a:solidFill>
                  <a:srgbClr val="EAF0FF"/>
                </a:solidFill>
                <a:latin typeface="Consolas" pitchFamily="34" charset="0"/>
                <a:ea typeface="Consolas" pitchFamily="34" charset="-122"/>
                <a:cs typeface="Consolas" pitchFamily="34" charset="-120"/>
              </a:rPr>
              <a:t xml:space="preserve"> </a:t>
            </a:r>
            <a:r>
              <a:rPr lang="en-US" sz="1150" dirty="0">
                <a:solidFill>
                  <a:srgbClr val="EAF0FF"/>
                </a:solidFill>
                <a:latin typeface="Consolas" pitchFamily="34" charset="0"/>
                <a:ea typeface="Consolas" pitchFamily="34" charset="-122"/>
                <a:cs typeface="Consolas" pitchFamily="34" charset="-120"/>
              </a:rPr>
              <a:t>hitbox_col1</a:t>
            </a:r>
            <a:r>
              <a:rPr lang="en-US" sz="1150" dirty="0">
                <a:solidFill>
                  <a:srgbClr val="EAF0FF"/>
                </a:solidFill>
                <a:latin typeface="Consolas" pitchFamily="34" charset="0"/>
                <a:ea typeface="Consolas" pitchFamily="34" charset="-122"/>
                <a:cs typeface="Consolas" pitchFamily="34" charset="-120"/>
              </a:rPr>
              <a:t xml:space="preserve"> </a:t>
            </a:r>
            <a:r>
              <a:rPr lang="en-US" sz="1150" dirty="0">
                <a:solidFill>
                  <a:srgbClr val="EAF0FF"/>
                </a:solidFill>
                <a:latin typeface="Consolas" pitchFamily="34" charset="0"/>
                <a:ea typeface="Consolas" pitchFamily="34" charset="-122"/>
                <a:cs typeface="Consolas" pitchFamily="34" charset="-120"/>
              </a:rPr>
              <a:t>|</a:t>
            </a:r>
            <a:r>
              <a:rPr lang="en-US" sz="1150" dirty="0">
                <a:solidFill>
                  <a:srgbClr val="EAF0FF"/>
                </a:solidFill>
                <a:latin typeface="Consolas" pitchFamily="34" charset="0"/>
                <a:ea typeface="Consolas" pitchFamily="34" charset="-122"/>
                <a:cs typeface="Consolas" pitchFamily="34" charset="-120"/>
              </a:rPr>
              <a:t>|</a:t>
            </a:r>
            <a:endParaRPr lang="en-US" sz="1150" dirty="0"/>
          </a:p>
          <a:p>
            <a:pPr indent="0" marL="0">
              <a:lnSpc>
                <a:spcPct val="130000"/>
              </a:lnSpc>
              <a:buNone/>
            </a:pPr>
            <a:r>
              <a:rPr lang="en-US" sz="1150" dirty="0">
                <a:solidFill>
                  <a:srgbClr val="EAF0FF"/>
                </a:solidFill>
                <a:latin typeface="Consolas" pitchFamily="34" charset="0"/>
                <a:ea typeface="Consolas" pitchFamily="34" charset="-122"/>
                <a:cs typeface="Consolas" pitchFamily="34" charset="-120"/>
              </a:rPr>
              <a:t xml:space="preserve">    </a:t>
            </a:r>
            <a:r>
              <a:rPr lang="en-US" sz="1150" dirty="0">
                <a:solidFill>
                  <a:srgbClr val="EAF0FF"/>
                </a:solidFill>
                <a:latin typeface="Consolas" pitchFamily="34" charset="0"/>
                <a:ea typeface="Consolas" pitchFamily="34" charset="-122"/>
                <a:cs typeface="Consolas" pitchFamily="34" charset="-120"/>
              </a:rPr>
              <a:t>obstacle_col</a:t>
            </a:r>
            <a:r>
              <a:rPr lang="en-US" sz="1150" dirty="0">
                <a:solidFill>
                  <a:srgbClr val="EAF0FF"/>
                </a:solidFill>
                <a:latin typeface="Consolas" pitchFamily="34" charset="0"/>
                <a:ea typeface="Consolas" pitchFamily="34" charset="-122"/>
                <a:cs typeface="Consolas" pitchFamily="34" charset="-120"/>
              </a:rPr>
              <a:t xml:space="preserve"> </a:t>
            </a:r>
            <a:r>
              <a:rPr lang="en-US" sz="1150" dirty="0">
                <a:solidFill>
                  <a:srgbClr val="EAF0FF"/>
                </a:solidFill>
                <a:latin typeface="Consolas" pitchFamily="34" charset="0"/>
                <a:ea typeface="Consolas" pitchFamily="34" charset="-122"/>
                <a:cs typeface="Consolas" pitchFamily="34" charset="-120"/>
              </a:rPr>
              <a:t>=</a:t>
            </a:r>
            <a:r>
              <a:rPr lang="en-US" sz="1150" dirty="0">
                <a:solidFill>
                  <a:srgbClr val="EAF0FF"/>
                </a:solidFill>
                <a:latin typeface="Consolas" pitchFamily="34" charset="0"/>
                <a:ea typeface="Consolas" pitchFamily="34" charset="-122"/>
                <a:cs typeface="Consolas" pitchFamily="34" charset="-120"/>
              </a:rPr>
              <a:t>=</a:t>
            </a:r>
            <a:r>
              <a:rPr lang="en-US" sz="1150" dirty="0">
                <a:solidFill>
                  <a:srgbClr val="EAF0FF"/>
                </a:solidFill>
                <a:latin typeface="Consolas" pitchFamily="34" charset="0"/>
                <a:ea typeface="Consolas" pitchFamily="34" charset="-122"/>
                <a:cs typeface="Consolas" pitchFamily="34" charset="-120"/>
              </a:rPr>
              <a:t xml:space="preserve"> </a:t>
            </a:r>
            <a:r>
              <a:rPr lang="en-US" sz="1150" dirty="0">
                <a:solidFill>
                  <a:srgbClr val="EAF0FF"/>
                </a:solidFill>
                <a:latin typeface="Consolas" pitchFamily="34" charset="0"/>
                <a:ea typeface="Consolas" pitchFamily="34" charset="-122"/>
                <a:cs typeface="Consolas" pitchFamily="34" charset="-120"/>
              </a:rPr>
              <a:t>hitbox_col2</a:t>
            </a:r>
            <a:r>
              <a:rPr lang="en-US" sz="1150" dirty="0">
                <a:solidFill>
                  <a:srgbClr val="EAF0FF"/>
                </a:solidFill>
                <a:latin typeface="Consolas" pitchFamily="34" charset="0"/>
                <a:ea typeface="Consolas" pitchFamily="34" charset="-122"/>
                <a:cs typeface="Consolas" pitchFamily="34" charset="-120"/>
              </a:rPr>
              <a:t>)</a:t>
            </a:r>
            <a:r>
              <a:rPr lang="en-US" sz="1150" dirty="0">
                <a:solidFill>
                  <a:srgbClr val="EAF0FF"/>
                </a:solidFill>
                <a:latin typeface="Consolas" pitchFamily="34" charset="0"/>
                <a:ea typeface="Consolas" pitchFamily="34" charset="-122"/>
                <a:cs typeface="Consolas" pitchFamily="34" charset="-120"/>
              </a:rPr>
              <a:t>)</a:t>
            </a:r>
            <a:endParaRPr lang="en-US" sz="1150" dirty="0"/>
          </a:p>
          <a:p>
            <a:pPr indent="0" marL="0">
              <a:lnSpc>
                <a:spcPct val="130000"/>
              </a:lnSpc>
              <a:buNone/>
            </a:pPr>
            <a:r>
              <a:rPr lang="en-US" sz="1150" dirty="0">
                <a:solidFill>
                  <a:srgbClr val="EAF0FF"/>
                </a:solidFill>
                <a:latin typeface="Consolas" pitchFamily="34" charset="0"/>
                <a:ea typeface="Consolas" pitchFamily="34" charset="-122"/>
                <a:cs typeface="Consolas" pitchFamily="34" charset="-120"/>
              </a:rPr>
              <a:t>{</a:t>
            </a:r>
            <a:endParaRPr lang="en-US" sz="1150" dirty="0"/>
          </a:p>
          <a:p>
            <a:pPr indent="0" marL="0">
              <a:lnSpc>
                <a:spcPct val="130000"/>
              </a:lnSpc>
              <a:buNone/>
            </a:pPr>
            <a:r>
              <a:rPr lang="en-US" sz="1150" dirty="0">
                <a:solidFill>
                  <a:srgbClr val="EAF0FF"/>
                </a:solidFill>
                <a:latin typeface="Consolas" pitchFamily="34" charset="0"/>
                <a:ea typeface="Consolas" pitchFamily="34" charset="-122"/>
                <a:cs typeface="Consolas" pitchFamily="34" charset="-120"/>
              </a:rPr>
              <a:t xml:space="preserve">    </a:t>
            </a:r>
            <a:r>
              <a:rPr lang="en-US" sz="1150" dirty="0">
                <a:solidFill>
                  <a:srgbClr val="EAF0FF"/>
                </a:solidFill>
                <a:latin typeface="Consolas" pitchFamily="34" charset="0"/>
                <a:ea typeface="Consolas" pitchFamily="34" charset="-122"/>
                <a:cs typeface="Consolas" pitchFamily="34" charset="-120"/>
              </a:rPr>
              <a:t>is_collision</a:t>
            </a:r>
            <a:r>
              <a:rPr lang="en-US" sz="1150" dirty="0">
                <a:solidFill>
                  <a:srgbClr val="EAF0FF"/>
                </a:solidFill>
                <a:latin typeface="Consolas" pitchFamily="34" charset="0"/>
                <a:ea typeface="Consolas" pitchFamily="34" charset="-122"/>
                <a:cs typeface="Consolas" pitchFamily="34" charset="-120"/>
              </a:rPr>
              <a:t xml:space="preserve"> </a:t>
            </a:r>
            <a:r>
              <a:rPr lang="en-US" sz="1150" dirty="0">
                <a:solidFill>
                  <a:srgbClr val="EAF0FF"/>
                </a:solidFill>
                <a:latin typeface="Consolas" pitchFamily="34" charset="0"/>
                <a:ea typeface="Consolas" pitchFamily="34" charset="-122"/>
                <a:cs typeface="Consolas" pitchFamily="34" charset="-120"/>
              </a:rPr>
              <a:t>=</a:t>
            </a:r>
            <a:r>
              <a:rPr lang="en-US" sz="1150" dirty="0">
                <a:solidFill>
                  <a:srgbClr val="EAF0FF"/>
                </a:solidFill>
                <a:latin typeface="Consolas" pitchFamily="34" charset="0"/>
                <a:ea typeface="Consolas" pitchFamily="34" charset="-122"/>
                <a:cs typeface="Consolas" pitchFamily="34" charset="-120"/>
              </a:rPr>
              <a:t xml:space="preserve"> </a:t>
            </a:r>
            <a:r>
              <a:rPr lang="en-US" sz="1150" dirty="0">
                <a:solidFill>
                  <a:srgbClr val="F2A65A"/>
                </a:solidFill>
                <a:latin typeface="Consolas" pitchFamily="34" charset="0"/>
                <a:ea typeface="Consolas" pitchFamily="34" charset="-122"/>
                <a:cs typeface="Consolas" pitchFamily="34" charset="-120"/>
              </a:rPr>
              <a:t>1</a:t>
            </a:r>
            <a:r>
              <a:rPr lang="en-US" sz="1150" dirty="0">
                <a:solidFill>
                  <a:srgbClr val="EAF0FF"/>
                </a:solidFill>
                <a:latin typeface="Consolas" pitchFamily="34" charset="0"/>
                <a:ea typeface="Consolas" pitchFamily="34" charset="-122"/>
                <a:cs typeface="Consolas" pitchFamily="34" charset="-120"/>
              </a:rPr>
              <a:t>;</a:t>
            </a:r>
            <a:r>
              <a:rPr lang="en-US" sz="1150" dirty="0">
                <a:solidFill>
                  <a:srgbClr val="EAF0FF"/>
                </a:solidFill>
                <a:latin typeface="Consolas" pitchFamily="34" charset="0"/>
                <a:ea typeface="Consolas" pitchFamily="34" charset="-122"/>
                <a:cs typeface="Consolas" pitchFamily="34" charset="-120"/>
              </a:rPr>
              <a:t xml:space="preserve">   </a:t>
            </a:r>
            <a:r>
              <a:rPr lang="en-US" sz="1150" i="1" dirty="0">
                <a:solidFill>
                  <a:srgbClr val="8A90A6"/>
                </a:solidFill>
                <a:latin typeface="Consolas" pitchFamily="34" charset="0"/>
                <a:ea typeface="Consolas" pitchFamily="34" charset="-122"/>
                <a:cs typeface="Consolas" pitchFamily="34" charset="-120"/>
              </a:rPr>
              <a:t>// cactus hit on the ground row</a:t>
            </a:r>
            <a:endParaRPr lang="en-US" sz="1150" dirty="0"/>
          </a:p>
          <a:p>
            <a:pPr indent="0" marL="0">
              <a:lnSpc>
                <a:spcPct val="130000"/>
              </a:lnSpc>
              <a:buNone/>
            </a:pPr>
            <a:r>
              <a:rPr lang="en-US" sz="1150" dirty="0">
                <a:solidFill>
                  <a:srgbClr val="EAF0FF"/>
                </a:solidFill>
                <a:latin typeface="Consolas" pitchFamily="34" charset="0"/>
                <a:ea typeface="Consolas" pitchFamily="34" charset="-122"/>
                <a:cs typeface="Consolas" pitchFamily="34" charset="-120"/>
              </a:rPr>
              <a:t>}</a:t>
            </a:r>
            <a:endParaRPr lang="en-US" sz="1150" dirty="0"/>
          </a:p>
        </p:txBody>
      </p:sp>
      <p:sp>
        <p:nvSpPr>
          <p:cNvPr id="20" name="Footer"/>
          <p:cNvSpPr/>
          <p:nvPr/>
        </p:nvSpPr>
        <p:spPr>
          <a:xfrm>
            <a:off x="457200" y="6537960"/>
            <a:ext cx="7315200" cy="274320"/>
          </a:xfrm>
          <a:prstGeom prst="rect">
            <a:avLst/>
          </a:prstGeom>
          <a:noFill/>
          <a:ln/>
        </p:spPr>
        <p:txBody>
          <a:bodyPr wrap="square" lIns="0" tIns="0" rIns="0" bIns="0" rtlCol="0" anchor="ctr"/>
          <a:lstStyle/>
          <a:p>
            <a:pPr algn="l" indent="0" marL="0">
              <a:buNone/>
            </a:pPr>
            <a:r>
              <a:rPr lang="en-US" sz="900" dirty="0">
                <a:solidFill>
                  <a:srgbClr val="A9AEC4"/>
                </a:solidFill>
                <a:latin typeface="Calibri" pitchFamily="34" charset="0"/>
                <a:ea typeface="Calibri" pitchFamily="34" charset="-122"/>
                <a:cs typeface="Calibri" pitchFamily="34" charset="-120"/>
              </a:rPr>
              <a:t>Chrome Dinosaur Game on ATmega32  |  Team 1</a:t>
            </a:r>
            <a:endParaRPr lang="en-US" sz="900" dirty="0"/>
          </a:p>
        </p:txBody>
      </p:sp>
      <p:sp>
        <p:nvSpPr>
          <p:cNvPr id="21" name="PageNum"/>
          <p:cNvSpPr/>
          <p:nvPr/>
        </p:nvSpPr>
        <p:spPr>
          <a:xfrm>
            <a:off x="11430000" y="6537960"/>
            <a:ext cx="365760" cy="274320"/>
          </a:xfrm>
          <a:prstGeom prst="rect">
            <a:avLst/>
          </a:prstGeom>
          <a:noFill/>
          <a:ln/>
        </p:spPr>
        <p:txBody>
          <a:bodyPr wrap="square" lIns="0" tIns="0" rIns="0" bIns="0" rtlCol="0" anchor="ctr"/>
          <a:lstStyle/>
          <a:p>
            <a:pPr algn="r" indent="0" marL="0">
              <a:buNone/>
            </a:pPr>
            <a:r>
              <a:rPr lang="en-US" sz="900" dirty="0">
                <a:solidFill>
                  <a:srgbClr val="A9AEC4"/>
                </a:solidFill>
                <a:latin typeface="Calibri" pitchFamily="34" charset="0"/>
                <a:ea typeface="Calibri" pitchFamily="34" charset="-122"/>
                <a:cs typeface="Calibri" pitchFamily="34" charset="-120"/>
              </a:rPr>
              <a:t>8</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7F8FC"/>
        </a:solidFill>
      </p:bgPr>
    </p:bg>
    <p:spTree>
      <p:nvGrpSpPr>
        <p:cNvPr id="1" name=""/>
        <p:cNvGrpSpPr/>
        <p:nvPr/>
      </p:nvGrpSpPr>
      <p:grpSpPr>
        <a:xfrm>
          <a:off x="0" y="0"/>
          <a:ext cx="0" cy="0"/>
          <a:chOff x="0" y="0"/>
          <a:chExt cx="0" cy="0"/>
        </a:xfrm>
      </p:grpSpPr>
      <p:sp>
        <p:nvSpPr>
          <p:cNvPr id="2" name="Title"/>
          <p:cNvSpPr/>
          <p:nvPr/>
        </p:nvSpPr>
        <p:spPr>
          <a:xfrm>
            <a:off x="640080" y="502920"/>
            <a:ext cx="9144000" cy="548640"/>
          </a:xfrm>
          <a:prstGeom prst="rect">
            <a:avLst/>
          </a:prstGeom>
          <a:noFill/>
          <a:ln/>
        </p:spPr>
        <p:txBody>
          <a:bodyPr wrap="square" lIns="0" tIns="0" rIns="0" bIns="0" rtlCol="0" anchor="ctr"/>
          <a:lstStyle/>
          <a:p>
            <a:pPr indent="0" marL="0">
              <a:buNone/>
            </a:pPr>
            <a:r>
              <a:rPr lang="en-US" sz="3200" b="1" dirty="0">
                <a:solidFill>
                  <a:srgbClr val="141935"/>
                </a:solidFill>
                <a:latin typeface="Cambria" pitchFamily="34" charset="0"/>
                <a:ea typeface="Cambria" pitchFamily="34" charset="-122"/>
                <a:cs typeface="Cambria" pitchFamily="34" charset="-120"/>
              </a:rPr>
              <a:t>Source Code — LCD Driver</a:t>
            </a:r>
            <a:endParaRPr lang="en-US" sz="3200" dirty="0"/>
          </a:p>
        </p:txBody>
      </p:sp>
      <p:sp>
        <p:nvSpPr>
          <p:cNvPr id="3" name="Subtitle"/>
          <p:cNvSpPr/>
          <p:nvPr/>
        </p:nvSpPr>
        <p:spPr>
          <a:xfrm>
            <a:off x="640080" y="1051560"/>
            <a:ext cx="10911840" cy="365760"/>
          </a:xfrm>
          <a:prstGeom prst="rect">
            <a:avLst/>
          </a:prstGeom>
          <a:noFill/>
          <a:ln/>
        </p:spPr>
        <p:txBody>
          <a:bodyPr wrap="square" lIns="0" tIns="0" rIns="0" bIns="0" rtlCol="0" anchor="ctr"/>
          <a:lstStyle/>
          <a:p>
            <a:pPr indent="0" marL="0">
              <a:buNone/>
            </a:pPr>
            <a:r>
              <a:rPr lang="en-US" sz="1400" i="1" dirty="0">
                <a:solidFill>
                  <a:srgbClr val="3A3F5C"/>
                </a:solidFill>
                <a:latin typeface="Calibri" pitchFamily="34" charset="0"/>
                <a:ea typeface="Calibri" pitchFamily="34" charset="-122"/>
                <a:cs typeface="Calibri" pitchFamily="34" charset="-120"/>
              </a:rPr>
              <a:t>LCD_PROGRAM.c — sending commands to the display over a 4-bit bus</a:t>
            </a:r>
            <a:endParaRPr lang="en-US" sz="1400" dirty="0"/>
          </a:p>
        </p:txBody>
      </p:sp>
      <p:sp>
        <p:nvSpPr>
          <p:cNvPr id="4" name="CodePanel"/>
          <p:cNvSpPr/>
          <p:nvPr/>
        </p:nvSpPr>
        <p:spPr>
          <a:xfrm>
            <a:off x="640080" y="1650000"/>
            <a:ext cx="10911840" cy="4700000"/>
          </a:xfrm>
          <a:prstGeom prst="roundRect">
            <a:avLst>
              <a:gd name="adj" fmla="val 1600"/>
            </a:avLst>
          </a:prstGeom>
          <a:solidFill>
            <a:srgbClr val="1B1F3B"/>
          </a:solidFill>
          <a:ln>
            <a:noFill/>
          </a:ln>
        </p:spPr>
      </p:sp>
      <p:sp>
        <p:nvSpPr>
          <p:cNvPr id="5" name="Dots"/>
          <p:cNvSpPr/>
          <p:nvPr/>
        </p:nvSpPr>
        <p:spPr>
          <a:xfrm>
            <a:off x="960120" y="1924320"/>
            <a:ext cx="146304" cy="146304"/>
          </a:xfrm>
          <a:prstGeom prst="ellipse">
            <a:avLst/>
          </a:prstGeom>
          <a:solidFill>
            <a:srgbClr val="F2A65A"/>
          </a:solidFill>
          <a:ln/>
        </p:spPr>
      </p:sp>
      <p:sp>
        <p:nvSpPr>
          <p:cNvPr id="6" name="Dots2"/>
          <p:cNvSpPr/>
          <p:nvPr/>
        </p:nvSpPr>
        <p:spPr>
          <a:xfrm>
            <a:off x="1188720" y="1924320"/>
            <a:ext cx="146304" cy="146304"/>
          </a:xfrm>
          <a:prstGeom prst="ellipse">
            <a:avLst/>
          </a:prstGeom>
          <a:solidFill>
            <a:srgbClr val="5CE79A"/>
          </a:solidFill>
          <a:ln/>
        </p:spPr>
      </p:sp>
      <p:sp>
        <p:nvSpPr>
          <p:cNvPr id="7" name="Dots3"/>
          <p:cNvSpPr/>
          <p:nvPr/>
        </p:nvSpPr>
        <p:spPr>
          <a:xfrm>
            <a:off x="1417320" y="1924320"/>
            <a:ext cx="146304" cy="146304"/>
          </a:xfrm>
          <a:prstGeom prst="ellipse">
            <a:avLst/>
          </a:prstGeom>
          <a:solidFill>
            <a:srgbClr val="5B8DEF"/>
          </a:solidFill>
          <a:ln/>
        </p:spPr>
      </p:sp>
      <p:sp>
        <p:nvSpPr>
          <p:cNvPr id="8" name="Code"/>
          <p:cNvSpPr/>
          <p:nvPr/>
        </p:nvSpPr>
        <p:spPr>
          <a:xfrm>
            <a:off x="960120" y="2244360"/>
            <a:ext cx="10271760" cy="3831320"/>
          </a:xfrm>
          <a:prstGeom prst="rect">
            <a:avLst/>
          </a:prstGeom>
          <a:noFill/>
          <a:ln/>
        </p:spPr>
        <p:txBody>
          <a:bodyPr wrap="square" lIns="0" tIns="0" rIns="0" bIns="0" rtlCol="0" anchor="t"/>
          <a:lstStyle/>
          <a:p>
            <a:pPr indent="0" marL="0">
              <a:lnSpc>
                <a:spcPct val="130000"/>
              </a:lnSpc>
              <a:buNone/>
            </a:pPr>
            <a:r>
              <a:rPr lang="en-US" sz="1150" dirty="0">
                <a:solidFill>
                  <a:srgbClr val="5CE79A"/>
                </a:solidFill>
                <a:latin typeface="Consolas" pitchFamily="34" charset="0"/>
                <a:ea typeface="Consolas" pitchFamily="34" charset="-122"/>
                <a:cs typeface="Consolas" pitchFamily="34" charset="-120"/>
              </a:rPr>
              <a:t>static</a:t>
            </a:r>
            <a:r>
              <a:rPr lang="en-US" sz="1150" dirty="0">
                <a:solidFill>
                  <a:srgbClr val="EAF0FF"/>
                </a:solidFill>
                <a:latin typeface="Consolas" pitchFamily="34" charset="0"/>
                <a:ea typeface="Consolas" pitchFamily="34" charset="-122"/>
                <a:cs typeface="Consolas" pitchFamily="34" charset="-120"/>
              </a:rPr>
              <a:t xml:space="preserve"> </a:t>
            </a:r>
            <a:r>
              <a:rPr lang="en-US" sz="1150" dirty="0">
                <a:solidFill>
                  <a:srgbClr val="5CE79A"/>
                </a:solidFill>
                <a:latin typeface="Consolas" pitchFamily="34" charset="0"/>
                <a:ea typeface="Consolas" pitchFamily="34" charset="-122"/>
                <a:cs typeface="Consolas" pitchFamily="34" charset="-120"/>
              </a:rPr>
              <a:t>void</a:t>
            </a:r>
            <a:r>
              <a:rPr lang="en-US" sz="1150" dirty="0">
                <a:solidFill>
                  <a:srgbClr val="EAF0FF"/>
                </a:solidFill>
                <a:latin typeface="Consolas" pitchFamily="34" charset="0"/>
                <a:ea typeface="Consolas" pitchFamily="34" charset="-122"/>
                <a:cs typeface="Consolas" pitchFamily="34" charset="-120"/>
              </a:rPr>
              <a:t xml:space="preserve"> </a:t>
            </a:r>
            <a:r>
              <a:rPr lang="en-US" sz="1150" b="1" dirty="0">
                <a:solidFill>
                  <a:srgbClr val="FFFFFF"/>
                </a:solidFill>
                <a:latin typeface="Consolas" pitchFamily="34" charset="0"/>
                <a:ea typeface="Consolas" pitchFamily="34" charset="-122"/>
                <a:cs typeface="Consolas" pitchFamily="34" charset="-120"/>
              </a:rPr>
              <a:t>LCD_voidSendEnablePulse</a:t>
            </a:r>
            <a:r>
              <a:rPr lang="en-US" sz="1150" dirty="0">
                <a:solidFill>
                  <a:srgbClr val="EAF0FF"/>
                </a:solidFill>
                <a:latin typeface="Consolas" pitchFamily="34" charset="0"/>
                <a:ea typeface="Consolas" pitchFamily="34" charset="-122"/>
                <a:cs typeface="Consolas" pitchFamily="34" charset="-120"/>
              </a:rPr>
              <a:t>(</a:t>
            </a:r>
            <a:r>
              <a:rPr lang="en-US" sz="1150" dirty="0">
                <a:solidFill>
                  <a:srgbClr val="5CE79A"/>
                </a:solidFill>
                <a:latin typeface="Consolas" pitchFamily="34" charset="0"/>
                <a:ea typeface="Consolas" pitchFamily="34" charset="-122"/>
                <a:cs typeface="Consolas" pitchFamily="34" charset="-120"/>
              </a:rPr>
              <a:t>void</a:t>
            </a:r>
            <a:r>
              <a:rPr lang="en-US" sz="1150" dirty="0">
                <a:solidFill>
                  <a:srgbClr val="EAF0FF"/>
                </a:solidFill>
                <a:latin typeface="Consolas" pitchFamily="34" charset="0"/>
                <a:ea typeface="Consolas" pitchFamily="34" charset="-122"/>
                <a:cs typeface="Consolas" pitchFamily="34" charset="-120"/>
              </a:rPr>
              <a:t>)</a:t>
            </a:r>
            <a:endParaRPr lang="en-US" sz="1150" dirty="0"/>
          </a:p>
          <a:p>
            <a:pPr indent="0" marL="0">
              <a:lnSpc>
                <a:spcPct val="130000"/>
              </a:lnSpc>
              <a:buNone/>
            </a:pPr>
            <a:r>
              <a:rPr lang="en-US" sz="1150" dirty="0">
                <a:solidFill>
                  <a:srgbClr val="EAF0FF"/>
                </a:solidFill>
                <a:latin typeface="Consolas" pitchFamily="34" charset="0"/>
                <a:ea typeface="Consolas" pitchFamily="34" charset="-122"/>
                <a:cs typeface="Consolas" pitchFamily="34" charset="-120"/>
              </a:rPr>
              <a:t>{</a:t>
            </a:r>
            <a:endParaRPr lang="en-US" sz="1150" dirty="0"/>
          </a:p>
          <a:p>
            <a:pPr indent="0" marL="0">
              <a:lnSpc>
                <a:spcPct val="130000"/>
              </a:lnSpc>
              <a:buNone/>
            </a:pPr>
            <a:r>
              <a:rPr lang="en-US" sz="1150" dirty="0">
                <a:solidFill>
                  <a:srgbClr val="EAF0FF"/>
                </a:solidFill>
                <a:latin typeface="Consolas" pitchFamily="34" charset="0"/>
                <a:ea typeface="Consolas" pitchFamily="34" charset="-122"/>
                <a:cs typeface="Consolas" pitchFamily="34" charset="-120"/>
              </a:rPr>
              <a:t xml:space="preserve">    </a:t>
            </a:r>
            <a:r>
              <a:rPr lang="en-US" sz="1150" b="1" dirty="0">
                <a:solidFill>
                  <a:srgbClr val="FFFFFF"/>
                </a:solidFill>
                <a:latin typeface="Consolas" pitchFamily="34" charset="0"/>
                <a:ea typeface="Consolas" pitchFamily="34" charset="-122"/>
                <a:cs typeface="Consolas" pitchFamily="34" charset="-120"/>
              </a:rPr>
              <a:t>MDIO_voidSetPinValue</a:t>
            </a:r>
            <a:r>
              <a:rPr lang="en-US" sz="1150" dirty="0">
                <a:solidFill>
                  <a:srgbClr val="EAF0FF"/>
                </a:solidFill>
                <a:latin typeface="Consolas" pitchFamily="34" charset="0"/>
                <a:ea typeface="Consolas" pitchFamily="34" charset="-122"/>
                <a:cs typeface="Consolas" pitchFamily="34" charset="-120"/>
              </a:rPr>
              <a:t>(</a:t>
            </a:r>
            <a:r>
              <a:rPr lang="en-US" sz="1150" dirty="0">
                <a:solidFill>
                  <a:srgbClr val="5B8DEF"/>
                </a:solidFill>
                <a:latin typeface="Consolas" pitchFamily="34" charset="0"/>
                <a:ea typeface="Consolas" pitchFamily="34" charset="-122"/>
                <a:cs typeface="Consolas" pitchFamily="34" charset="-120"/>
              </a:rPr>
              <a:t>LCD_CONTROL_PORT</a:t>
            </a:r>
            <a:r>
              <a:rPr lang="en-US" sz="1150" dirty="0">
                <a:solidFill>
                  <a:srgbClr val="EAF0FF"/>
                </a:solidFill>
                <a:latin typeface="Consolas" pitchFamily="34" charset="0"/>
                <a:ea typeface="Consolas" pitchFamily="34" charset="-122"/>
                <a:cs typeface="Consolas" pitchFamily="34" charset="-120"/>
              </a:rPr>
              <a:t>,</a:t>
            </a:r>
            <a:r>
              <a:rPr lang="en-US" sz="1150" dirty="0">
                <a:solidFill>
                  <a:srgbClr val="EAF0FF"/>
                </a:solidFill>
                <a:latin typeface="Consolas" pitchFamily="34" charset="0"/>
                <a:ea typeface="Consolas" pitchFamily="34" charset="-122"/>
                <a:cs typeface="Consolas" pitchFamily="34" charset="-120"/>
              </a:rPr>
              <a:t xml:space="preserve"> </a:t>
            </a:r>
            <a:r>
              <a:rPr lang="en-US" sz="1150" dirty="0">
                <a:solidFill>
                  <a:srgbClr val="5B8DEF"/>
                </a:solidFill>
                <a:latin typeface="Consolas" pitchFamily="34" charset="0"/>
                <a:ea typeface="Consolas" pitchFamily="34" charset="-122"/>
                <a:cs typeface="Consolas" pitchFamily="34" charset="-120"/>
              </a:rPr>
              <a:t>LCD_E_PIN</a:t>
            </a:r>
            <a:r>
              <a:rPr lang="en-US" sz="1150" dirty="0">
                <a:solidFill>
                  <a:srgbClr val="EAF0FF"/>
                </a:solidFill>
                <a:latin typeface="Consolas" pitchFamily="34" charset="0"/>
                <a:ea typeface="Consolas" pitchFamily="34" charset="-122"/>
                <a:cs typeface="Consolas" pitchFamily="34" charset="-120"/>
              </a:rPr>
              <a:t>,</a:t>
            </a:r>
            <a:r>
              <a:rPr lang="en-US" sz="1150" dirty="0">
                <a:solidFill>
                  <a:srgbClr val="EAF0FF"/>
                </a:solidFill>
                <a:latin typeface="Consolas" pitchFamily="34" charset="0"/>
                <a:ea typeface="Consolas" pitchFamily="34" charset="-122"/>
                <a:cs typeface="Consolas" pitchFamily="34" charset="-120"/>
              </a:rPr>
              <a:t xml:space="preserve"> </a:t>
            </a:r>
            <a:r>
              <a:rPr lang="en-US" sz="1150" dirty="0">
                <a:solidFill>
                  <a:srgbClr val="5B8DEF"/>
                </a:solidFill>
                <a:latin typeface="Consolas" pitchFamily="34" charset="0"/>
                <a:ea typeface="Consolas" pitchFamily="34" charset="-122"/>
                <a:cs typeface="Consolas" pitchFamily="34" charset="-120"/>
              </a:rPr>
              <a:t>DIO_HIGH</a:t>
            </a:r>
            <a:r>
              <a:rPr lang="en-US" sz="1150" dirty="0">
                <a:solidFill>
                  <a:srgbClr val="EAF0FF"/>
                </a:solidFill>
                <a:latin typeface="Consolas" pitchFamily="34" charset="0"/>
                <a:ea typeface="Consolas" pitchFamily="34" charset="-122"/>
                <a:cs typeface="Consolas" pitchFamily="34" charset="-120"/>
              </a:rPr>
              <a:t>)</a:t>
            </a:r>
            <a:r>
              <a:rPr lang="en-US" sz="1150" dirty="0">
                <a:solidFill>
                  <a:srgbClr val="EAF0FF"/>
                </a:solidFill>
                <a:latin typeface="Consolas" pitchFamily="34" charset="0"/>
                <a:ea typeface="Consolas" pitchFamily="34" charset="-122"/>
                <a:cs typeface="Consolas" pitchFamily="34" charset="-120"/>
              </a:rPr>
              <a:t>;</a:t>
            </a:r>
            <a:endParaRPr lang="en-US" sz="1150" dirty="0"/>
          </a:p>
          <a:p>
            <a:pPr indent="0" marL="0">
              <a:lnSpc>
                <a:spcPct val="130000"/>
              </a:lnSpc>
              <a:buNone/>
            </a:pPr>
            <a:r>
              <a:rPr lang="en-US" sz="1150" dirty="0">
                <a:solidFill>
                  <a:srgbClr val="EAF0FF"/>
                </a:solidFill>
                <a:latin typeface="Consolas" pitchFamily="34" charset="0"/>
                <a:ea typeface="Consolas" pitchFamily="34" charset="-122"/>
                <a:cs typeface="Consolas" pitchFamily="34" charset="-120"/>
              </a:rPr>
              <a:t xml:space="preserve">    </a:t>
            </a:r>
            <a:r>
              <a:rPr lang="en-US" sz="1150" b="1" dirty="0">
                <a:solidFill>
                  <a:srgbClr val="FFFFFF"/>
                </a:solidFill>
                <a:latin typeface="Consolas" pitchFamily="34" charset="0"/>
                <a:ea typeface="Consolas" pitchFamily="34" charset="-122"/>
                <a:cs typeface="Consolas" pitchFamily="34" charset="-120"/>
              </a:rPr>
              <a:t>_delay_ms</a:t>
            </a:r>
            <a:r>
              <a:rPr lang="en-US" sz="1150" dirty="0">
                <a:solidFill>
                  <a:srgbClr val="EAF0FF"/>
                </a:solidFill>
                <a:latin typeface="Consolas" pitchFamily="34" charset="0"/>
                <a:ea typeface="Consolas" pitchFamily="34" charset="-122"/>
                <a:cs typeface="Consolas" pitchFamily="34" charset="-120"/>
              </a:rPr>
              <a:t>(</a:t>
            </a:r>
            <a:r>
              <a:rPr lang="en-US" sz="1150" dirty="0">
                <a:solidFill>
                  <a:srgbClr val="F2A65A"/>
                </a:solidFill>
                <a:latin typeface="Consolas" pitchFamily="34" charset="0"/>
                <a:ea typeface="Consolas" pitchFamily="34" charset="-122"/>
                <a:cs typeface="Consolas" pitchFamily="34" charset="-120"/>
              </a:rPr>
              <a:t>2</a:t>
            </a:r>
            <a:r>
              <a:rPr lang="en-US" sz="1150" dirty="0">
                <a:solidFill>
                  <a:srgbClr val="EAF0FF"/>
                </a:solidFill>
                <a:latin typeface="Consolas" pitchFamily="34" charset="0"/>
                <a:ea typeface="Consolas" pitchFamily="34" charset="-122"/>
                <a:cs typeface="Consolas" pitchFamily="34" charset="-120"/>
              </a:rPr>
              <a:t>)</a:t>
            </a:r>
            <a:r>
              <a:rPr lang="en-US" sz="1150" dirty="0">
                <a:solidFill>
                  <a:srgbClr val="EAF0FF"/>
                </a:solidFill>
                <a:latin typeface="Consolas" pitchFamily="34" charset="0"/>
                <a:ea typeface="Consolas" pitchFamily="34" charset="-122"/>
                <a:cs typeface="Consolas" pitchFamily="34" charset="-120"/>
              </a:rPr>
              <a:t>;</a:t>
            </a:r>
            <a:endParaRPr lang="en-US" sz="1150" dirty="0"/>
          </a:p>
          <a:p>
            <a:pPr indent="0" marL="0">
              <a:lnSpc>
                <a:spcPct val="130000"/>
              </a:lnSpc>
              <a:buNone/>
            </a:pPr>
            <a:r>
              <a:rPr lang="en-US" sz="1150" dirty="0">
                <a:solidFill>
                  <a:srgbClr val="EAF0FF"/>
                </a:solidFill>
                <a:latin typeface="Consolas" pitchFamily="34" charset="0"/>
                <a:ea typeface="Consolas" pitchFamily="34" charset="-122"/>
                <a:cs typeface="Consolas" pitchFamily="34" charset="-120"/>
              </a:rPr>
              <a:t xml:space="preserve">    </a:t>
            </a:r>
            <a:r>
              <a:rPr lang="en-US" sz="1150" b="1" dirty="0">
                <a:solidFill>
                  <a:srgbClr val="FFFFFF"/>
                </a:solidFill>
                <a:latin typeface="Consolas" pitchFamily="34" charset="0"/>
                <a:ea typeface="Consolas" pitchFamily="34" charset="-122"/>
                <a:cs typeface="Consolas" pitchFamily="34" charset="-120"/>
              </a:rPr>
              <a:t>MDIO_voidSetPinValue</a:t>
            </a:r>
            <a:r>
              <a:rPr lang="en-US" sz="1150" dirty="0">
                <a:solidFill>
                  <a:srgbClr val="EAF0FF"/>
                </a:solidFill>
                <a:latin typeface="Consolas" pitchFamily="34" charset="0"/>
                <a:ea typeface="Consolas" pitchFamily="34" charset="-122"/>
                <a:cs typeface="Consolas" pitchFamily="34" charset="-120"/>
              </a:rPr>
              <a:t>(</a:t>
            </a:r>
            <a:r>
              <a:rPr lang="en-US" sz="1150" dirty="0">
                <a:solidFill>
                  <a:srgbClr val="5B8DEF"/>
                </a:solidFill>
                <a:latin typeface="Consolas" pitchFamily="34" charset="0"/>
                <a:ea typeface="Consolas" pitchFamily="34" charset="-122"/>
                <a:cs typeface="Consolas" pitchFamily="34" charset="-120"/>
              </a:rPr>
              <a:t>LCD_CONTROL_PORT</a:t>
            </a:r>
            <a:r>
              <a:rPr lang="en-US" sz="1150" dirty="0">
                <a:solidFill>
                  <a:srgbClr val="EAF0FF"/>
                </a:solidFill>
                <a:latin typeface="Consolas" pitchFamily="34" charset="0"/>
                <a:ea typeface="Consolas" pitchFamily="34" charset="-122"/>
                <a:cs typeface="Consolas" pitchFamily="34" charset="-120"/>
              </a:rPr>
              <a:t>,</a:t>
            </a:r>
            <a:r>
              <a:rPr lang="en-US" sz="1150" dirty="0">
                <a:solidFill>
                  <a:srgbClr val="EAF0FF"/>
                </a:solidFill>
                <a:latin typeface="Consolas" pitchFamily="34" charset="0"/>
                <a:ea typeface="Consolas" pitchFamily="34" charset="-122"/>
                <a:cs typeface="Consolas" pitchFamily="34" charset="-120"/>
              </a:rPr>
              <a:t xml:space="preserve"> </a:t>
            </a:r>
            <a:r>
              <a:rPr lang="en-US" sz="1150" dirty="0">
                <a:solidFill>
                  <a:srgbClr val="5B8DEF"/>
                </a:solidFill>
                <a:latin typeface="Consolas" pitchFamily="34" charset="0"/>
                <a:ea typeface="Consolas" pitchFamily="34" charset="-122"/>
                <a:cs typeface="Consolas" pitchFamily="34" charset="-120"/>
              </a:rPr>
              <a:t>LCD_E_PIN</a:t>
            </a:r>
            <a:r>
              <a:rPr lang="en-US" sz="1150" dirty="0">
                <a:solidFill>
                  <a:srgbClr val="EAF0FF"/>
                </a:solidFill>
                <a:latin typeface="Consolas" pitchFamily="34" charset="0"/>
                <a:ea typeface="Consolas" pitchFamily="34" charset="-122"/>
                <a:cs typeface="Consolas" pitchFamily="34" charset="-120"/>
              </a:rPr>
              <a:t>,</a:t>
            </a:r>
            <a:r>
              <a:rPr lang="en-US" sz="1150" dirty="0">
                <a:solidFill>
                  <a:srgbClr val="EAF0FF"/>
                </a:solidFill>
                <a:latin typeface="Consolas" pitchFamily="34" charset="0"/>
                <a:ea typeface="Consolas" pitchFamily="34" charset="-122"/>
                <a:cs typeface="Consolas" pitchFamily="34" charset="-120"/>
              </a:rPr>
              <a:t xml:space="preserve"> </a:t>
            </a:r>
            <a:r>
              <a:rPr lang="en-US" sz="1150" dirty="0">
                <a:solidFill>
                  <a:srgbClr val="5B8DEF"/>
                </a:solidFill>
                <a:latin typeface="Consolas" pitchFamily="34" charset="0"/>
                <a:ea typeface="Consolas" pitchFamily="34" charset="-122"/>
                <a:cs typeface="Consolas" pitchFamily="34" charset="-120"/>
              </a:rPr>
              <a:t>DIO_LOW</a:t>
            </a:r>
            <a:r>
              <a:rPr lang="en-US" sz="1150" dirty="0">
                <a:solidFill>
                  <a:srgbClr val="EAF0FF"/>
                </a:solidFill>
                <a:latin typeface="Consolas" pitchFamily="34" charset="0"/>
                <a:ea typeface="Consolas" pitchFamily="34" charset="-122"/>
                <a:cs typeface="Consolas" pitchFamily="34" charset="-120"/>
              </a:rPr>
              <a:t>)</a:t>
            </a:r>
            <a:r>
              <a:rPr lang="en-US" sz="1150" dirty="0">
                <a:solidFill>
                  <a:srgbClr val="EAF0FF"/>
                </a:solidFill>
                <a:latin typeface="Consolas" pitchFamily="34" charset="0"/>
                <a:ea typeface="Consolas" pitchFamily="34" charset="-122"/>
                <a:cs typeface="Consolas" pitchFamily="34" charset="-120"/>
              </a:rPr>
              <a:t>;</a:t>
            </a:r>
            <a:endParaRPr lang="en-US" sz="1150" dirty="0"/>
          </a:p>
          <a:p>
            <a:pPr indent="0" marL="0">
              <a:lnSpc>
                <a:spcPct val="130000"/>
              </a:lnSpc>
              <a:buNone/>
            </a:pPr>
            <a:r>
              <a:rPr lang="en-US" sz="1150" dirty="0">
                <a:solidFill>
                  <a:srgbClr val="EAF0FF"/>
                </a:solidFill>
                <a:latin typeface="Consolas" pitchFamily="34" charset="0"/>
                <a:ea typeface="Consolas" pitchFamily="34" charset="-122"/>
                <a:cs typeface="Consolas" pitchFamily="34" charset="-120"/>
              </a:rPr>
              <a:t>}</a:t>
            </a:r>
            <a:endParaRPr lang="en-US" sz="1150" dirty="0"/>
          </a:p>
          <a:p>
            <a:pPr indent="0" marL="0">
              <a:lnSpc>
                <a:spcPct val="130000"/>
              </a:lnSpc>
              <a:buNone/>
            </a:pPr>
            <a:endParaRPr lang="en-US" sz="1150" dirty="0"/>
          </a:p>
          <a:p>
            <a:pPr indent="0" marL="0">
              <a:lnSpc>
                <a:spcPct val="130000"/>
              </a:lnSpc>
              <a:buNone/>
            </a:pPr>
            <a:r>
              <a:rPr lang="en-US" sz="1150" dirty="0">
                <a:solidFill>
                  <a:srgbClr val="5CE79A"/>
                </a:solidFill>
                <a:latin typeface="Consolas" pitchFamily="34" charset="0"/>
                <a:ea typeface="Consolas" pitchFamily="34" charset="-122"/>
                <a:cs typeface="Consolas" pitchFamily="34" charset="-120"/>
              </a:rPr>
              <a:t>void</a:t>
            </a:r>
            <a:r>
              <a:rPr lang="en-US" sz="1150" dirty="0">
                <a:solidFill>
                  <a:srgbClr val="EAF0FF"/>
                </a:solidFill>
                <a:latin typeface="Consolas" pitchFamily="34" charset="0"/>
                <a:ea typeface="Consolas" pitchFamily="34" charset="-122"/>
                <a:cs typeface="Consolas" pitchFamily="34" charset="-120"/>
              </a:rPr>
              <a:t xml:space="preserve"> </a:t>
            </a:r>
            <a:r>
              <a:rPr lang="en-US" sz="1150" b="1" dirty="0">
                <a:solidFill>
                  <a:srgbClr val="FFFFFF"/>
                </a:solidFill>
                <a:latin typeface="Consolas" pitchFamily="34" charset="0"/>
                <a:ea typeface="Consolas" pitchFamily="34" charset="-122"/>
                <a:cs typeface="Consolas" pitchFamily="34" charset="-120"/>
              </a:rPr>
              <a:t>LCD_voidWriteCommand</a:t>
            </a:r>
            <a:r>
              <a:rPr lang="en-US" sz="1150" dirty="0">
                <a:solidFill>
                  <a:srgbClr val="EAF0FF"/>
                </a:solidFill>
                <a:latin typeface="Consolas" pitchFamily="34" charset="0"/>
                <a:ea typeface="Consolas" pitchFamily="34" charset="-122"/>
                <a:cs typeface="Consolas" pitchFamily="34" charset="-120"/>
              </a:rPr>
              <a:t>(</a:t>
            </a:r>
            <a:r>
              <a:rPr lang="en-US" sz="1150" dirty="0">
                <a:solidFill>
                  <a:srgbClr val="5CE79A"/>
                </a:solidFill>
                <a:latin typeface="Consolas" pitchFamily="34" charset="0"/>
                <a:ea typeface="Consolas" pitchFamily="34" charset="-122"/>
                <a:cs typeface="Consolas" pitchFamily="34" charset="-120"/>
              </a:rPr>
              <a:t>u8</a:t>
            </a:r>
            <a:r>
              <a:rPr lang="en-US" sz="1150" dirty="0">
                <a:solidFill>
                  <a:srgbClr val="EAF0FF"/>
                </a:solidFill>
                <a:latin typeface="Consolas" pitchFamily="34" charset="0"/>
                <a:ea typeface="Consolas" pitchFamily="34" charset="-122"/>
                <a:cs typeface="Consolas" pitchFamily="34" charset="-120"/>
              </a:rPr>
              <a:t xml:space="preserve"> </a:t>
            </a:r>
            <a:r>
              <a:rPr lang="en-US" sz="1150" dirty="0">
                <a:solidFill>
                  <a:srgbClr val="EAF0FF"/>
                </a:solidFill>
                <a:latin typeface="Consolas" pitchFamily="34" charset="0"/>
                <a:ea typeface="Consolas" pitchFamily="34" charset="-122"/>
                <a:cs typeface="Consolas" pitchFamily="34" charset="-120"/>
              </a:rPr>
              <a:t>Copy_u8Command</a:t>
            </a:r>
            <a:r>
              <a:rPr lang="en-US" sz="1150" dirty="0">
                <a:solidFill>
                  <a:srgbClr val="EAF0FF"/>
                </a:solidFill>
                <a:latin typeface="Consolas" pitchFamily="34" charset="0"/>
                <a:ea typeface="Consolas" pitchFamily="34" charset="-122"/>
                <a:cs typeface="Consolas" pitchFamily="34" charset="-120"/>
              </a:rPr>
              <a:t>)</a:t>
            </a:r>
            <a:endParaRPr lang="en-US" sz="1150" dirty="0"/>
          </a:p>
          <a:p>
            <a:pPr indent="0" marL="0">
              <a:lnSpc>
                <a:spcPct val="130000"/>
              </a:lnSpc>
              <a:buNone/>
            </a:pPr>
            <a:r>
              <a:rPr lang="en-US" sz="1150" dirty="0">
                <a:solidFill>
                  <a:srgbClr val="EAF0FF"/>
                </a:solidFill>
                <a:latin typeface="Consolas" pitchFamily="34" charset="0"/>
                <a:ea typeface="Consolas" pitchFamily="34" charset="-122"/>
                <a:cs typeface="Consolas" pitchFamily="34" charset="-120"/>
              </a:rPr>
              <a:t>{</a:t>
            </a:r>
            <a:endParaRPr lang="en-US" sz="1150" dirty="0"/>
          </a:p>
          <a:p>
            <a:pPr indent="0" marL="0">
              <a:lnSpc>
                <a:spcPct val="130000"/>
              </a:lnSpc>
              <a:buNone/>
            </a:pPr>
            <a:r>
              <a:rPr lang="en-US" sz="1150" dirty="0">
                <a:solidFill>
                  <a:srgbClr val="EAF0FF"/>
                </a:solidFill>
                <a:latin typeface="Consolas" pitchFamily="34" charset="0"/>
                <a:ea typeface="Consolas" pitchFamily="34" charset="-122"/>
                <a:cs typeface="Consolas" pitchFamily="34" charset="-120"/>
              </a:rPr>
              <a:t xml:space="preserve">    </a:t>
            </a:r>
            <a:r>
              <a:rPr lang="en-US" sz="1150" b="1" dirty="0">
                <a:solidFill>
                  <a:srgbClr val="FFFFFF"/>
                </a:solidFill>
                <a:latin typeface="Consolas" pitchFamily="34" charset="0"/>
                <a:ea typeface="Consolas" pitchFamily="34" charset="-122"/>
                <a:cs typeface="Consolas" pitchFamily="34" charset="-120"/>
              </a:rPr>
              <a:t>MDIO_voidSetPinValue</a:t>
            </a:r>
            <a:r>
              <a:rPr lang="en-US" sz="1150" dirty="0">
                <a:solidFill>
                  <a:srgbClr val="EAF0FF"/>
                </a:solidFill>
                <a:latin typeface="Consolas" pitchFamily="34" charset="0"/>
                <a:ea typeface="Consolas" pitchFamily="34" charset="-122"/>
                <a:cs typeface="Consolas" pitchFamily="34" charset="-120"/>
              </a:rPr>
              <a:t>(</a:t>
            </a:r>
            <a:r>
              <a:rPr lang="en-US" sz="1150" dirty="0">
                <a:solidFill>
                  <a:srgbClr val="5B8DEF"/>
                </a:solidFill>
                <a:latin typeface="Consolas" pitchFamily="34" charset="0"/>
                <a:ea typeface="Consolas" pitchFamily="34" charset="-122"/>
                <a:cs typeface="Consolas" pitchFamily="34" charset="-120"/>
              </a:rPr>
              <a:t>LCD_CONTROL_PORT</a:t>
            </a:r>
            <a:r>
              <a:rPr lang="en-US" sz="1150" dirty="0">
                <a:solidFill>
                  <a:srgbClr val="EAF0FF"/>
                </a:solidFill>
                <a:latin typeface="Consolas" pitchFamily="34" charset="0"/>
                <a:ea typeface="Consolas" pitchFamily="34" charset="-122"/>
                <a:cs typeface="Consolas" pitchFamily="34" charset="-120"/>
              </a:rPr>
              <a:t>,</a:t>
            </a:r>
            <a:r>
              <a:rPr lang="en-US" sz="1150" dirty="0">
                <a:solidFill>
                  <a:srgbClr val="EAF0FF"/>
                </a:solidFill>
                <a:latin typeface="Consolas" pitchFamily="34" charset="0"/>
                <a:ea typeface="Consolas" pitchFamily="34" charset="-122"/>
                <a:cs typeface="Consolas" pitchFamily="34" charset="-120"/>
              </a:rPr>
              <a:t xml:space="preserve"> </a:t>
            </a:r>
            <a:r>
              <a:rPr lang="en-US" sz="1150" dirty="0">
                <a:solidFill>
                  <a:srgbClr val="5B8DEF"/>
                </a:solidFill>
                <a:latin typeface="Consolas" pitchFamily="34" charset="0"/>
                <a:ea typeface="Consolas" pitchFamily="34" charset="-122"/>
                <a:cs typeface="Consolas" pitchFamily="34" charset="-120"/>
              </a:rPr>
              <a:t>LCD_RS_PIN</a:t>
            </a:r>
            <a:r>
              <a:rPr lang="en-US" sz="1150" dirty="0">
                <a:solidFill>
                  <a:srgbClr val="EAF0FF"/>
                </a:solidFill>
                <a:latin typeface="Consolas" pitchFamily="34" charset="0"/>
                <a:ea typeface="Consolas" pitchFamily="34" charset="-122"/>
                <a:cs typeface="Consolas" pitchFamily="34" charset="-120"/>
              </a:rPr>
              <a:t>,</a:t>
            </a:r>
            <a:r>
              <a:rPr lang="en-US" sz="1150" dirty="0">
                <a:solidFill>
                  <a:srgbClr val="EAF0FF"/>
                </a:solidFill>
                <a:latin typeface="Consolas" pitchFamily="34" charset="0"/>
                <a:ea typeface="Consolas" pitchFamily="34" charset="-122"/>
                <a:cs typeface="Consolas" pitchFamily="34" charset="-120"/>
              </a:rPr>
              <a:t xml:space="preserve"> </a:t>
            </a:r>
            <a:r>
              <a:rPr lang="en-US" sz="1150" dirty="0">
                <a:solidFill>
                  <a:srgbClr val="5B8DEF"/>
                </a:solidFill>
                <a:latin typeface="Consolas" pitchFamily="34" charset="0"/>
                <a:ea typeface="Consolas" pitchFamily="34" charset="-122"/>
                <a:cs typeface="Consolas" pitchFamily="34" charset="-120"/>
              </a:rPr>
              <a:t>DIO_LOW</a:t>
            </a:r>
            <a:r>
              <a:rPr lang="en-US" sz="1150" dirty="0">
                <a:solidFill>
                  <a:srgbClr val="EAF0FF"/>
                </a:solidFill>
                <a:latin typeface="Consolas" pitchFamily="34" charset="0"/>
                <a:ea typeface="Consolas" pitchFamily="34" charset="-122"/>
                <a:cs typeface="Consolas" pitchFamily="34" charset="-120"/>
              </a:rPr>
              <a:t>)</a:t>
            </a:r>
            <a:r>
              <a:rPr lang="en-US" sz="1150" dirty="0">
                <a:solidFill>
                  <a:srgbClr val="EAF0FF"/>
                </a:solidFill>
                <a:latin typeface="Consolas" pitchFamily="34" charset="0"/>
                <a:ea typeface="Consolas" pitchFamily="34" charset="-122"/>
                <a:cs typeface="Consolas" pitchFamily="34" charset="-120"/>
              </a:rPr>
              <a:t>;</a:t>
            </a:r>
            <a:endParaRPr lang="en-US" sz="1150" dirty="0"/>
          </a:p>
          <a:p>
            <a:pPr indent="0" marL="0">
              <a:lnSpc>
                <a:spcPct val="130000"/>
              </a:lnSpc>
              <a:buNone/>
            </a:pPr>
            <a:r>
              <a:rPr lang="en-US" sz="1150" dirty="0">
                <a:solidFill>
                  <a:srgbClr val="EAF0FF"/>
                </a:solidFill>
                <a:latin typeface="Consolas" pitchFamily="34" charset="0"/>
                <a:ea typeface="Consolas" pitchFamily="34" charset="-122"/>
                <a:cs typeface="Consolas" pitchFamily="34" charset="-120"/>
              </a:rPr>
              <a:t xml:space="preserve">    </a:t>
            </a:r>
            <a:r>
              <a:rPr lang="en-US" sz="1150" b="1" dirty="0">
                <a:solidFill>
                  <a:srgbClr val="FFFFFF"/>
                </a:solidFill>
                <a:latin typeface="Consolas" pitchFamily="34" charset="0"/>
                <a:ea typeface="Consolas" pitchFamily="34" charset="-122"/>
                <a:cs typeface="Consolas" pitchFamily="34" charset="-120"/>
              </a:rPr>
              <a:t>MDIO_voidSetPinValue</a:t>
            </a:r>
            <a:r>
              <a:rPr lang="en-US" sz="1150" dirty="0">
                <a:solidFill>
                  <a:srgbClr val="EAF0FF"/>
                </a:solidFill>
                <a:latin typeface="Consolas" pitchFamily="34" charset="0"/>
                <a:ea typeface="Consolas" pitchFamily="34" charset="-122"/>
                <a:cs typeface="Consolas" pitchFamily="34" charset="-120"/>
              </a:rPr>
              <a:t>(</a:t>
            </a:r>
            <a:r>
              <a:rPr lang="en-US" sz="1150" dirty="0">
                <a:solidFill>
                  <a:srgbClr val="5B8DEF"/>
                </a:solidFill>
                <a:latin typeface="Consolas" pitchFamily="34" charset="0"/>
                <a:ea typeface="Consolas" pitchFamily="34" charset="-122"/>
                <a:cs typeface="Consolas" pitchFamily="34" charset="-120"/>
              </a:rPr>
              <a:t>LCD_CONTROL_PORT</a:t>
            </a:r>
            <a:r>
              <a:rPr lang="en-US" sz="1150" dirty="0">
                <a:solidFill>
                  <a:srgbClr val="EAF0FF"/>
                </a:solidFill>
                <a:latin typeface="Consolas" pitchFamily="34" charset="0"/>
                <a:ea typeface="Consolas" pitchFamily="34" charset="-122"/>
                <a:cs typeface="Consolas" pitchFamily="34" charset="-120"/>
              </a:rPr>
              <a:t>,</a:t>
            </a:r>
            <a:r>
              <a:rPr lang="en-US" sz="1150" dirty="0">
                <a:solidFill>
                  <a:srgbClr val="EAF0FF"/>
                </a:solidFill>
                <a:latin typeface="Consolas" pitchFamily="34" charset="0"/>
                <a:ea typeface="Consolas" pitchFamily="34" charset="-122"/>
                <a:cs typeface="Consolas" pitchFamily="34" charset="-120"/>
              </a:rPr>
              <a:t xml:space="preserve"> </a:t>
            </a:r>
            <a:r>
              <a:rPr lang="en-US" sz="1150" dirty="0">
                <a:solidFill>
                  <a:srgbClr val="5B8DEF"/>
                </a:solidFill>
                <a:latin typeface="Consolas" pitchFamily="34" charset="0"/>
                <a:ea typeface="Consolas" pitchFamily="34" charset="-122"/>
                <a:cs typeface="Consolas" pitchFamily="34" charset="-120"/>
              </a:rPr>
              <a:t>LCD_RW_PIN</a:t>
            </a:r>
            <a:r>
              <a:rPr lang="en-US" sz="1150" dirty="0">
                <a:solidFill>
                  <a:srgbClr val="EAF0FF"/>
                </a:solidFill>
                <a:latin typeface="Consolas" pitchFamily="34" charset="0"/>
                <a:ea typeface="Consolas" pitchFamily="34" charset="-122"/>
                <a:cs typeface="Consolas" pitchFamily="34" charset="-120"/>
              </a:rPr>
              <a:t>,</a:t>
            </a:r>
            <a:r>
              <a:rPr lang="en-US" sz="1150" dirty="0">
                <a:solidFill>
                  <a:srgbClr val="EAF0FF"/>
                </a:solidFill>
                <a:latin typeface="Consolas" pitchFamily="34" charset="0"/>
                <a:ea typeface="Consolas" pitchFamily="34" charset="-122"/>
                <a:cs typeface="Consolas" pitchFamily="34" charset="-120"/>
              </a:rPr>
              <a:t xml:space="preserve"> </a:t>
            </a:r>
            <a:r>
              <a:rPr lang="en-US" sz="1150" dirty="0">
                <a:solidFill>
                  <a:srgbClr val="5B8DEF"/>
                </a:solidFill>
                <a:latin typeface="Consolas" pitchFamily="34" charset="0"/>
                <a:ea typeface="Consolas" pitchFamily="34" charset="-122"/>
                <a:cs typeface="Consolas" pitchFamily="34" charset="-120"/>
              </a:rPr>
              <a:t>DIO_LOW</a:t>
            </a:r>
            <a:r>
              <a:rPr lang="en-US" sz="1150" dirty="0">
                <a:solidFill>
                  <a:srgbClr val="EAF0FF"/>
                </a:solidFill>
                <a:latin typeface="Consolas" pitchFamily="34" charset="0"/>
                <a:ea typeface="Consolas" pitchFamily="34" charset="-122"/>
                <a:cs typeface="Consolas" pitchFamily="34" charset="-120"/>
              </a:rPr>
              <a:t>)</a:t>
            </a:r>
            <a:r>
              <a:rPr lang="en-US" sz="1150" dirty="0">
                <a:solidFill>
                  <a:srgbClr val="EAF0FF"/>
                </a:solidFill>
                <a:latin typeface="Consolas" pitchFamily="34" charset="0"/>
                <a:ea typeface="Consolas" pitchFamily="34" charset="-122"/>
                <a:cs typeface="Consolas" pitchFamily="34" charset="-120"/>
              </a:rPr>
              <a:t>;</a:t>
            </a:r>
            <a:endParaRPr lang="en-US" sz="1150" dirty="0"/>
          </a:p>
          <a:p>
            <a:pPr indent="0" marL="0">
              <a:lnSpc>
                <a:spcPct val="130000"/>
              </a:lnSpc>
              <a:buNone/>
            </a:pPr>
            <a:endParaRPr lang="en-US" sz="1150" dirty="0"/>
          </a:p>
          <a:p>
            <a:pPr indent="0" marL="0">
              <a:lnSpc>
                <a:spcPct val="130000"/>
              </a:lnSpc>
              <a:buNone/>
            </a:pPr>
            <a:r>
              <a:rPr lang="en-US" sz="1150" dirty="0">
                <a:solidFill>
                  <a:srgbClr val="EAF0FF"/>
                </a:solidFill>
                <a:latin typeface="Consolas" pitchFamily="34" charset="0"/>
                <a:ea typeface="Consolas" pitchFamily="34" charset="-122"/>
                <a:cs typeface="Consolas" pitchFamily="34" charset="-120"/>
              </a:rPr>
              <a:t xml:space="preserve">    </a:t>
            </a:r>
            <a:r>
              <a:rPr lang="en-US" sz="1150" b="1" dirty="0">
                <a:solidFill>
                  <a:srgbClr val="FFFFFF"/>
                </a:solidFill>
                <a:latin typeface="Consolas" pitchFamily="34" charset="0"/>
                <a:ea typeface="Consolas" pitchFamily="34" charset="-122"/>
                <a:cs typeface="Consolas" pitchFamily="34" charset="-120"/>
              </a:rPr>
              <a:t>LCD_voidWriteHalfPort</a:t>
            </a:r>
            <a:r>
              <a:rPr lang="en-US" sz="1150" dirty="0">
                <a:solidFill>
                  <a:srgbClr val="EAF0FF"/>
                </a:solidFill>
                <a:latin typeface="Consolas" pitchFamily="34" charset="0"/>
                <a:ea typeface="Consolas" pitchFamily="34" charset="-122"/>
                <a:cs typeface="Consolas" pitchFamily="34" charset="-120"/>
              </a:rPr>
              <a:t>(</a:t>
            </a:r>
            <a:r>
              <a:rPr lang="en-US" sz="1150" dirty="0">
                <a:solidFill>
                  <a:srgbClr val="EAF0FF"/>
                </a:solidFill>
                <a:latin typeface="Consolas" pitchFamily="34" charset="0"/>
                <a:ea typeface="Consolas" pitchFamily="34" charset="-122"/>
                <a:cs typeface="Consolas" pitchFamily="34" charset="-120"/>
              </a:rPr>
              <a:t>Copy_u8Command</a:t>
            </a:r>
            <a:r>
              <a:rPr lang="en-US" sz="1150" dirty="0">
                <a:solidFill>
                  <a:srgbClr val="EAF0FF"/>
                </a:solidFill>
                <a:latin typeface="Consolas" pitchFamily="34" charset="0"/>
                <a:ea typeface="Consolas" pitchFamily="34" charset="-122"/>
                <a:cs typeface="Consolas" pitchFamily="34" charset="-120"/>
              </a:rPr>
              <a:t xml:space="preserve"> </a:t>
            </a:r>
            <a:r>
              <a:rPr lang="en-US" sz="1150" dirty="0">
                <a:solidFill>
                  <a:srgbClr val="EAF0FF"/>
                </a:solidFill>
                <a:latin typeface="Consolas" pitchFamily="34" charset="0"/>
                <a:ea typeface="Consolas" pitchFamily="34" charset="-122"/>
                <a:cs typeface="Consolas" pitchFamily="34" charset="-120"/>
              </a:rPr>
              <a:t>&gt;</a:t>
            </a:r>
            <a:r>
              <a:rPr lang="en-US" sz="1150" dirty="0">
                <a:solidFill>
                  <a:srgbClr val="EAF0FF"/>
                </a:solidFill>
                <a:latin typeface="Consolas" pitchFamily="34" charset="0"/>
                <a:ea typeface="Consolas" pitchFamily="34" charset="-122"/>
                <a:cs typeface="Consolas" pitchFamily="34" charset="-120"/>
              </a:rPr>
              <a:t>&gt;</a:t>
            </a:r>
            <a:r>
              <a:rPr lang="en-US" sz="1150" dirty="0">
                <a:solidFill>
                  <a:srgbClr val="EAF0FF"/>
                </a:solidFill>
                <a:latin typeface="Consolas" pitchFamily="34" charset="0"/>
                <a:ea typeface="Consolas" pitchFamily="34" charset="-122"/>
                <a:cs typeface="Consolas" pitchFamily="34" charset="-120"/>
              </a:rPr>
              <a:t xml:space="preserve"> </a:t>
            </a:r>
            <a:r>
              <a:rPr lang="en-US" sz="1150" dirty="0">
                <a:solidFill>
                  <a:srgbClr val="F2A65A"/>
                </a:solidFill>
                <a:latin typeface="Consolas" pitchFamily="34" charset="0"/>
                <a:ea typeface="Consolas" pitchFamily="34" charset="-122"/>
                <a:cs typeface="Consolas" pitchFamily="34" charset="-120"/>
              </a:rPr>
              <a:t>4</a:t>
            </a:r>
            <a:r>
              <a:rPr lang="en-US" sz="1150" dirty="0">
                <a:solidFill>
                  <a:srgbClr val="EAF0FF"/>
                </a:solidFill>
                <a:latin typeface="Consolas" pitchFamily="34" charset="0"/>
                <a:ea typeface="Consolas" pitchFamily="34" charset="-122"/>
                <a:cs typeface="Consolas" pitchFamily="34" charset="-120"/>
              </a:rPr>
              <a:t>)</a:t>
            </a:r>
            <a:r>
              <a:rPr lang="en-US" sz="1150" dirty="0">
                <a:solidFill>
                  <a:srgbClr val="EAF0FF"/>
                </a:solidFill>
                <a:latin typeface="Consolas" pitchFamily="34" charset="0"/>
                <a:ea typeface="Consolas" pitchFamily="34" charset="-122"/>
                <a:cs typeface="Consolas" pitchFamily="34" charset="-120"/>
              </a:rPr>
              <a:t>;</a:t>
            </a:r>
            <a:r>
              <a:rPr lang="en-US" sz="1150" dirty="0">
                <a:solidFill>
                  <a:srgbClr val="EAF0FF"/>
                </a:solidFill>
                <a:latin typeface="Consolas" pitchFamily="34" charset="0"/>
                <a:ea typeface="Consolas" pitchFamily="34" charset="-122"/>
                <a:cs typeface="Consolas" pitchFamily="34" charset="-120"/>
              </a:rPr>
              <a:t xml:space="preserve">   </a:t>
            </a:r>
            <a:r>
              <a:rPr lang="en-US" sz="1150" i="1" dirty="0">
                <a:solidFill>
                  <a:srgbClr val="8A90A6"/>
                </a:solidFill>
                <a:latin typeface="Consolas" pitchFamily="34" charset="0"/>
                <a:ea typeface="Consolas" pitchFamily="34" charset="-122"/>
                <a:cs typeface="Consolas" pitchFamily="34" charset="-120"/>
              </a:rPr>
              <a:t>// High nibble</a:t>
            </a:r>
            <a:endParaRPr lang="en-US" sz="1150" dirty="0"/>
          </a:p>
          <a:p>
            <a:pPr indent="0" marL="0">
              <a:lnSpc>
                <a:spcPct val="130000"/>
              </a:lnSpc>
              <a:buNone/>
            </a:pPr>
            <a:r>
              <a:rPr lang="en-US" sz="1150" dirty="0">
                <a:solidFill>
                  <a:srgbClr val="EAF0FF"/>
                </a:solidFill>
                <a:latin typeface="Consolas" pitchFamily="34" charset="0"/>
                <a:ea typeface="Consolas" pitchFamily="34" charset="-122"/>
                <a:cs typeface="Consolas" pitchFamily="34" charset="-120"/>
              </a:rPr>
              <a:t xml:space="preserve">    </a:t>
            </a:r>
            <a:r>
              <a:rPr lang="en-US" sz="1150" b="1" dirty="0">
                <a:solidFill>
                  <a:srgbClr val="FFFFFF"/>
                </a:solidFill>
                <a:latin typeface="Consolas" pitchFamily="34" charset="0"/>
                <a:ea typeface="Consolas" pitchFamily="34" charset="-122"/>
                <a:cs typeface="Consolas" pitchFamily="34" charset="-120"/>
              </a:rPr>
              <a:t>LCD_voidSendEnablePulse</a:t>
            </a:r>
            <a:r>
              <a:rPr lang="en-US" sz="1150" dirty="0">
                <a:solidFill>
                  <a:srgbClr val="EAF0FF"/>
                </a:solidFill>
                <a:latin typeface="Consolas" pitchFamily="34" charset="0"/>
                <a:ea typeface="Consolas" pitchFamily="34" charset="-122"/>
                <a:cs typeface="Consolas" pitchFamily="34" charset="-120"/>
              </a:rPr>
              <a:t>(</a:t>
            </a:r>
            <a:r>
              <a:rPr lang="en-US" sz="1150" dirty="0">
                <a:solidFill>
                  <a:srgbClr val="EAF0FF"/>
                </a:solidFill>
                <a:latin typeface="Consolas" pitchFamily="34" charset="0"/>
                <a:ea typeface="Consolas" pitchFamily="34" charset="-122"/>
                <a:cs typeface="Consolas" pitchFamily="34" charset="-120"/>
              </a:rPr>
              <a:t>)</a:t>
            </a:r>
            <a:r>
              <a:rPr lang="en-US" sz="1150" dirty="0">
                <a:solidFill>
                  <a:srgbClr val="EAF0FF"/>
                </a:solidFill>
                <a:latin typeface="Consolas" pitchFamily="34" charset="0"/>
                <a:ea typeface="Consolas" pitchFamily="34" charset="-122"/>
                <a:cs typeface="Consolas" pitchFamily="34" charset="-120"/>
              </a:rPr>
              <a:t>;</a:t>
            </a:r>
            <a:endParaRPr lang="en-US" sz="1150" dirty="0"/>
          </a:p>
          <a:p>
            <a:pPr indent="0" marL="0">
              <a:lnSpc>
                <a:spcPct val="130000"/>
              </a:lnSpc>
              <a:buNone/>
            </a:pPr>
            <a:endParaRPr lang="en-US" sz="1150" dirty="0"/>
          </a:p>
          <a:p>
            <a:pPr indent="0" marL="0">
              <a:lnSpc>
                <a:spcPct val="130000"/>
              </a:lnSpc>
              <a:buNone/>
            </a:pPr>
            <a:r>
              <a:rPr lang="en-US" sz="1150" dirty="0">
                <a:solidFill>
                  <a:srgbClr val="EAF0FF"/>
                </a:solidFill>
                <a:latin typeface="Consolas" pitchFamily="34" charset="0"/>
                <a:ea typeface="Consolas" pitchFamily="34" charset="-122"/>
                <a:cs typeface="Consolas" pitchFamily="34" charset="-120"/>
              </a:rPr>
              <a:t xml:space="preserve">    </a:t>
            </a:r>
            <a:r>
              <a:rPr lang="en-US" sz="1150" b="1" dirty="0">
                <a:solidFill>
                  <a:srgbClr val="FFFFFF"/>
                </a:solidFill>
                <a:latin typeface="Consolas" pitchFamily="34" charset="0"/>
                <a:ea typeface="Consolas" pitchFamily="34" charset="-122"/>
                <a:cs typeface="Consolas" pitchFamily="34" charset="-120"/>
              </a:rPr>
              <a:t>LCD_voidWriteHalfPort</a:t>
            </a:r>
            <a:r>
              <a:rPr lang="en-US" sz="1150" dirty="0">
                <a:solidFill>
                  <a:srgbClr val="EAF0FF"/>
                </a:solidFill>
                <a:latin typeface="Consolas" pitchFamily="34" charset="0"/>
                <a:ea typeface="Consolas" pitchFamily="34" charset="-122"/>
                <a:cs typeface="Consolas" pitchFamily="34" charset="-120"/>
              </a:rPr>
              <a:t>(</a:t>
            </a:r>
            <a:r>
              <a:rPr lang="en-US" sz="1150" dirty="0">
                <a:solidFill>
                  <a:srgbClr val="EAF0FF"/>
                </a:solidFill>
                <a:latin typeface="Consolas" pitchFamily="34" charset="0"/>
                <a:ea typeface="Consolas" pitchFamily="34" charset="-122"/>
                <a:cs typeface="Consolas" pitchFamily="34" charset="-120"/>
              </a:rPr>
              <a:t>Copy_u8Command</a:t>
            </a:r>
            <a:r>
              <a:rPr lang="en-US" sz="1150" dirty="0">
                <a:solidFill>
                  <a:srgbClr val="EAF0FF"/>
                </a:solidFill>
                <a:latin typeface="Consolas" pitchFamily="34" charset="0"/>
                <a:ea typeface="Consolas" pitchFamily="34" charset="-122"/>
                <a:cs typeface="Consolas" pitchFamily="34" charset="-120"/>
              </a:rPr>
              <a:t>)</a:t>
            </a:r>
            <a:r>
              <a:rPr lang="en-US" sz="1150" dirty="0">
                <a:solidFill>
                  <a:srgbClr val="EAF0FF"/>
                </a:solidFill>
                <a:latin typeface="Consolas" pitchFamily="34" charset="0"/>
                <a:ea typeface="Consolas" pitchFamily="34" charset="-122"/>
                <a:cs typeface="Consolas" pitchFamily="34" charset="-120"/>
              </a:rPr>
              <a:t>;</a:t>
            </a:r>
            <a:r>
              <a:rPr lang="en-US" sz="1150" dirty="0">
                <a:solidFill>
                  <a:srgbClr val="EAF0FF"/>
                </a:solidFill>
                <a:latin typeface="Consolas" pitchFamily="34" charset="0"/>
                <a:ea typeface="Consolas" pitchFamily="34" charset="-122"/>
                <a:cs typeface="Consolas" pitchFamily="34" charset="-120"/>
              </a:rPr>
              <a:t xml:space="preserve">        </a:t>
            </a:r>
            <a:r>
              <a:rPr lang="en-US" sz="1150" i="1" dirty="0">
                <a:solidFill>
                  <a:srgbClr val="8A90A6"/>
                </a:solidFill>
                <a:latin typeface="Consolas" pitchFamily="34" charset="0"/>
                <a:ea typeface="Consolas" pitchFamily="34" charset="-122"/>
                <a:cs typeface="Consolas" pitchFamily="34" charset="-120"/>
              </a:rPr>
              <a:t>// Low nibble</a:t>
            </a:r>
            <a:endParaRPr lang="en-US" sz="1150" dirty="0"/>
          </a:p>
          <a:p>
            <a:pPr indent="0" marL="0">
              <a:lnSpc>
                <a:spcPct val="130000"/>
              </a:lnSpc>
              <a:buNone/>
            </a:pPr>
            <a:r>
              <a:rPr lang="en-US" sz="1150" dirty="0">
                <a:solidFill>
                  <a:srgbClr val="EAF0FF"/>
                </a:solidFill>
                <a:latin typeface="Consolas" pitchFamily="34" charset="0"/>
                <a:ea typeface="Consolas" pitchFamily="34" charset="-122"/>
                <a:cs typeface="Consolas" pitchFamily="34" charset="-120"/>
              </a:rPr>
              <a:t xml:space="preserve">    </a:t>
            </a:r>
            <a:r>
              <a:rPr lang="en-US" sz="1150" b="1" dirty="0">
                <a:solidFill>
                  <a:srgbClr val="FFFFFF"/>
                </a:solidFill>
                <a:latin typeface="Consolas" pitchFamily="34" charset="0"/>
                <a:ea typeface="Consolas" pitchFamily="34" charset="-122"/>
                <a:cs typeface="Consolas" pitchFamily="34" charset="-120"/>
              </a:rPr>
              <a:t>LCD_voidSendEnablePulse</a:t>
            </a:r>
            <a:r>
              <a:rPr lang="en-US" sz="1150" dirty="0">
                <a:solidFill>
                  <a:srgbClr val="EAF0FF"/>
                </a:solidFill>
                <a:latin typeface="Consolas" pitchFamily="34" charset="0"/>
                <a:ea typeface="Consolas" pitchFamily="34" charset="-122"/>
                <a:cs typeface="Consolas" pitchFamily="34" charset="-120"/>
              </a:rPr>
              <a:t>(</a:t>
            </a:r>
            <a:r>
              <a:rPr lang="en-US" sz="1150" dirty="0">
                <a:solidFill>
                  <a:srgbClr val="EAF0FF"/>
                </a:solidFill>
                <a:latin typeface="Consolas" pitchFamily="34" charset="0"/>
                <a:ea typeface="Consolas" pitchFamily="34" charset="-122"/>
                <a:cs typeface="Consolas" pitchFamily="34" charset="-120"/>
              </a:rPr>
              <a:t>)</a:t>
            </a:r>
            <a:r>
              <a:rPr lang="en-US" sz="1150" dirty="0">
                <a:solidFill>
                  <a:srgbClr val="EAF0FF"/>
                </a:solidFill>
                <a:latin typeface="Consolas" pitchFamily="34" charset="0"/>
                <a:ea typeface="Consolas" pitchFamily="34" charset="-122"/>
                <a:cs typeface="Consolas" pitchFamily="34" charset="-120"/>
              </a:rPr>
              <a:t>;</a:t>
            </a:r>
            <a:endParaRPr lang="en-US" sz="1150" dirty="0"/>
          </a:p>
          <a:p>
            <a:pPr indent="0" marL="0">
              <a:lnSpc>
                <a:spcPct val="130000"/>
              </a:lnSpc>
              <a:buNone/>
            </a:pPr>
            <a:r>
              <a:rPr lang="en-US" sz="1150" dirty="0">
                <a:solidFill>
                  <a:srgbClr val="EAF0FF"/>
                </a:solidFill>
                <a:latin typeface="Consolas" pitchFamily="34" charset="0"/>
                <a:ea typeface="Consolas" pitchFamily="34" charset="-122"/>
                <a:cs typeface="Consolas" pitchFamily="34" charset="-120"/>
              </a:rPr>
              <a:t>}</a:t>
            </a:r>
            <a:endParaRPr lang="en-US" sz="1150" dirty="0"/>
          </a:p>
        </p:txBody>
      </p:sp>
      <p:sp>
        <p:nvSpPr>
          <p:cNvPr id="20" name="Footer"/>
          <p:cNvSpPr/>
          <p:nvPr/>
        </p:nvSpPr>
        <p:spPr>
          <a:xfrm>
            <a:off x="457200" y="6537960"/>
            <a:ext cx="7315200" cy="274320"/>
          </a:xfrm>
          <a:prstGeom prst="rect">
            <a:avLst/>
          </a:prstGeom>
          <a:noFill/>
          <a:ln/>
        </p:spPr>
        <p:txBody>
          <a:bodyPr wrap="square" lIns="0" tIns="0" rIns="0" bIns="0" rtlCol="0" anchor="ctr"/>
          <a:lstStyle/>
          <a:p>
            <a:pPr algn="l" indent="0" marL="0">
              <a:buNone/>
            </a:pPr>
            <a:r>
              <a:rPr lang="en-US" sz="900" dirty="0">
                <a:solidFill>
                  <a:srgbClr val="A9AEC4"/>
                </a:solidFill>
                <a:latin typeface="Calibri" pitchFamily="34" charset="0"/>
                <a:ea typeface="Calibri" pitchFamily="34" charset="-122"/>
                <a:cs typeface="Calibri" pitchFamily="34" charset="-120"/>
              </a:rPr>
              <a:t>Chrome Dinosaur Game on ATmega32  |  Team 1</a:t>
            </a:r>
            <a:endParaRPr lang="en-US" sz="900" dirty="0"/>
          </a:p>
        </p:txBody>
      </p:sp>
      <p:sp>
        <p:nvSpPr>
          <p:cNvPr id="21" name="PageNum"/>
          <p:cNvSpPr/>
          <p:nvPr/>
        </p:nvSpPr>
        <p:spPr>
          <a:xfrm>
            <a:off x="11430000" y="6537960"/>
            <a:ext cx="365760" cy="274320"/>
          </a:xfrm>
          <a:prstGeom prst="rect">
            <a:avLst/>
          </a:prstGeom>
          <a:noFill/>
          <a:ln/>
        </p:spPr>
        <p:txBody>
          <a:bodyPr wrap="square" lIns="0" tIns="0" rIns="0" bIns="0" rtlCol="0" anchor="ctr"/>
          <a:lstStyle/>
          <a:p>
            <a:pPr algn="r" indent="0" marL="0">
              <a:buNone/>
            </a:pPr>
            <a:r>
              <a:rPr lang="en-US" sz="900" dirty="0">
                <a:solidFill>
                  <a:srgbClr val="A9AEC4"/>
                </a:solidFill>
                <a:latin typeface="Calibri" pitchFamily="34" charset="0"/>
                <a:ea typeface="Calibri" pitchFamily="34" charset="-122"/>
                <a:cs typeface="Calibri" pitchFamily="34" charset="-120"/>
              </a:rPr>
              <a:t>7</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9</Slides>
  <Notes>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9</vt:i4>
      </vt:variant>
    </vt:vector>
  </HeadingPairs>
  <TitlesOfParts>
    <vt:vector size="1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2026-08-26T11:59:14Z</dcterms:created>
  <dcterms:modified xsi:type="dcterms:W3CDTF">2026-08-26T11:59:14Z</dcterms:modified>
</cp:coreProperties>
</file>